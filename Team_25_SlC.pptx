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82" r:id="rId9"/>
    <p:sldId id="286" r:id="rId10"/>
    <p:sldId id="283" r:id="rId11"/>
    <p:sldId id="287" r:id="rId12"/>
    <p:sldId id="288" r:id="rId13"/>
    <p:sldId id="289" r:id="rId14"/>
    <p:sldId id="290" r:id="rId15"/>
    <p:sldId id="284" r:id="rId16"/>
    <p:sldId id="291" r:id="rId17"/>
    <p:sldId id="292" r:id="rId18"/>
    <p:sldId id="293" r:id="rId19"/>
    <p:sldId id="294" r:id="rId20"/>
    <p:sldId id="295" r:id="rId21"/>
    <p:sldId id="296" r:id="rId22"/>
    <p:sldId id="297" r:id="rId23"/>
    <p:sldId id="285" r:id="rId24"/>
    <p:sldId id="298" r:id="rId25"/>
    <p:sldId id="299" r:id="rId26"/>
    <p:sldId id="300" r:id="rId27"/>
    <p:sldId id="301" r:id="rId28"/>
    <p:sldId id="302" r:id="rId42"/>
    <p:sldId id="307" r:id="rId47"/>
    <p:sldId id="327" r:id="rId67"/>
    <p:sldId id="328" r:id="rId68"/>
    <p:sldId id="329" r:id="rId69"/>
    <p:sldId id="308" r:id="rId48"/>
    <p:sldId id="309" r:id="rId49"/>
    <p:sldId id="303" r:id="rId43"/>
    <p:sldId id="310" r:id="rId50"/>
    <p:sldId id="311" r:id="rId51"/>
    <p:sldId id="312" r:id="rId52"/>
    <p:sldId id="304" r:id="rId44"/>
    <p:sldId id="313" r:id="rId53"/>
    <p:sldId id="314" r:id="rId54"/>
    <p:sldId id="305" r:id="rId45"/>
    <p:sldId id="315" r:id="rId55"/>
    <p:sldId id="316" r:id="rId56"/>
    <p:sldId id="317" r:id="rId57"/>
    <p:sldId id="318" r:id="rId58"/>
    <p:sldId id="319" r:id="rId59"/>
    <p:sldId id="306" r:id="rId46"/>
    <p:sldId id="320" r:id="rId60"/>
    <p:sldId id="321" r:id="rId61"/>
    <p:sldId id="275" r:id="rId29"/>
    <p:sldId id="322" r:id="rId62"/>
    <p:sldId id="323" r:id="rId63"/>
    <p:sldId id="325" r:id="rId65"/>
    <p:sldId id="324" r:id="rId64"/>
    <p:sldId id="279" r:id="rId30"/>
    <p:sldId id="326" r:id="rId66"/>
    <p:sldId id="280" r:id="rId31"/>
    <p:sldId id="281" r:id="rId32"/>
  </p:sldIdLst>
  <p:sldSz cx="9893300" cy="6858000"/>
  <p:notesSz cx="6858000" cy="9144000"/>
  <p:embeddedFontLst>
    <p:embeddedFont>
      <p:font typeface="Arial MT Pro" panose="020B0604020202020204" charset="0"/>
      <p:regular r:id="rId34"/>
    </p:embeddedFont>
    <p:embeddedFont>
      <p:font typeface="Arial MT Pro Bold" panose="020B0604020202020204" charset="0"/>
      <p:regular r:id="rId35"/>
    </p:embeddedFont>
    <p:embeddedFont>
      <p:font typeface="Arimo" panose="020B0604020202020204" charset="0"/>
      <p:regular r:id="rId36"/>
    </p:embeddedFont>
    <p:embeddedFont>
      <p:font typeface="Arimo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8" d="100"/>
          <a:sy n="78" d="100"/>
        </p:scale>
        <p:origin x="1411"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48.xml"/><Relationship Id="rId30" Type="http://schemas.openxmlformats.org/officeDocument/2006/relationships/slide" Target="slides/slide49.xml"/><Relationship Id="rId31" Type="http://schemas.openxmlformats.org/officeDocument/2006/relationships/slide" Target="slides/slide50.xml"/><Relationship Id="rId32" Type="http://schemas.openxmlformats.org/officeDocument/2006/relationships/slide" Target="slides/slide5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28.xml"/><Relationship Id="rId43" Type="http://schemas.openxmlformats.org/officeDocument/2006/relationships/slide" Target="slides/slide32.xml"/><Relationship Id="rId44" Type="http://schemas.openxmlformats.org/officeDocument/2006/relationships/slide" Target="slides/slide36.xml"/><Relationship Id="rId45" Type="http://schemas.openxmlformats.org/officeDocument/2006/relationships/slide" Target="slides/slide39.xml"/><Relationship Id="rId46" Type="http://schemas.openxmlformats.org/officeDocument/2006/relationships/slide" Target="slides/slide45.xml"/><Relationship Id="rId47" Type="http://schemas.openxmlformats.org/officeDocument/2006/relationships/slide" Target="slides/slide29.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6.xml"/><Relationship Id="rId61" Type="http://schemas.openxmlformats.org/officeDocument/2006/relationships/slide" Target="slides/slide47.xml"/>  <Relationship Id="rId62" Type="http://schemas.openxmlformats.org/officeDocument/2006/relationships/slide" Target="slides/slide52.xml"/>
  <Relationship Id="rId63" Type="http://schemas.openxmlformats.org/officeDocument/2006/relationships/slide" Target="slides/slide53.xml"/>
  <Relationship Id="rId64" Type="http://schemas.openxmlformats.org/officeDocument/2006/relationships/slide" Target="slides/slide54.xml"/>
  <Relationship Id="rId65" Type="http://schemas.openxmlformats.org/officeDocument/2006/relationships/slide" Target="slides/slide55.xml"/>
  <Relationship Id="rId66" Type="http://schemas.openxmlformats.org/officeDocument/2006/relationships/slide" Target="slides/slide56.xml"/>
  <Relationship Id="rId67" Type="http://schemas.openxmlformats.org/officeDocument/2006/relationships/slide" Target="slides/slide57.xml"/>
  <Relationship Id="rId68" Type="http://schemas.openxmlformats.org/officeDocument/2006/relationships/slide" Target="slides/slide58.xml"/>
  <Relationship Id="rId69" Type="http://schemas.openxmlformats.org/officeDocument/2006/relationships/slide" Target="slides/slide59.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F2937"/>
                </a:solidFill>
              </a:rPr>
              <a:t>Images per patient study</a:t>
            </a:r>
          </a:p>
        </c:rich>
      </c:tx>
      <c:overlay val="0"/>
    </c:title>
    <c:autoTitleDeleted val="0"/>
    <c:plotArea>
      <c:layout/>
      <c:barChart>
        <c:barDir val="col"/>
        <c:grouping val="clustered"/>
        <c:varyColors val="1"/>
        <c:ser>
          <c:idx val="0"/>
          <c:order val="0"/>
          <c:tx>
            <c:strRef>
              <c:f>Sheet1!$B$1</c:f>
              <c:strCache>
                <c:ptCount val="1"/>
                <c:pt idx="0">
                  <c:v>Studies</c:v>
                </c:pt>
              </c:strCache>
            </c:strRef>
          </c:tx>
          <c:spPr>
            <a:solidFill>
              <a:srgbClr val="193EB0"/>
            </a:solidFill>
          </c:spPr>
          <c:invertIfNegative val="1"/>
          <c:dLbls>
            <c:numFmt formatCode="#,##0" sourceLinked="0"/>
            <c:spPr>
              <a:noFill/>
              <a:ln>
                <a:noFill/>
              </a:ln>
              <a:effectLst/>
            </c:spPr>
            <c:txPr>
              <a:bodyPr/>
              <a:lstStyle/>
              <a:p>
                <a:pPr>
                  <a:defRPr sz="12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image</c:v>
                </c:pt>
                <c:pt idx="1">
                  <c:v>2 images</c:v>
                </c:pt>
                <c:pt idx="2">
                  <c:v>3 images</c:v>
                </c:pt>
                <c:pt idx="3">
                  <c:v>4 images</c:v>
                </c:pt>
                <c:pt idx="4">
                  <c:v>5 images</c:v>
                </c:pt>
              </c:strCache>
            </c:strRef>
          </c:cat>
          <c:val>
            <c:numRef>
              <c:f>Sheet1!$B$2:$B$6</c:f>
              <c:numCache>
                <c:formatCode>General</c:formatCode>
                <c:ptCount val="5"/>
                <c:pt idx="0">
                  <c:v>446</c:v>
                </c:pt>
                <c:pt idx="1">
                  <c:v>3210</c:v>
                </c:pt>
                <c:pt idx="2">
                  <c:v>181</c:v>
                </c:pt>
                <c:pt idx="3">
                  <c:v>13</c:v>
                </c:pt>
                <c:pt idx="4">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2F5-49C1-BC06-8B89B4A202C4}"/>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9D5F2"/>
            </a:solidFill>
          </a:ln>
        </c:spPr>
        <c:crossAx val="-2113994440"/>
        <c:crosses val="autoZero"/>
        <c:auto val="1"/>
        <c:lblAlgn val="ctr"/>
        <c:lblOffset val="100"/>
        <c:noMultiLvlLbl val="0"/>
      </c:catAx>
      <c:valAx>
        <c:axId val="-2113994440"/>
        <c:scaling>
          <c:orientation val="minMax"/>
          <c:max val="380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F2937"/>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F2937"/>
                </a:solidFill>
              </a:rPr>
              <a:t>Missing values per report field (%)</a:t>
            </a:r>
          </a:p>
        </c:rich>
      </c:tx>
      <c:overlay val="0"/>
    </c:title>
    <c:autoTitleDeleted val="0"/>
    <c:plotArea>
      <c:layout/>
      <c:barChart>
        <c:barDir val="bar"/>
        <c:grouping val="clustered"/>
        <c:varyColors val="1"/>
        <c:ser>
          <c:idx val="0"/>
          <c:order val="0"/>
          <c:tx>
            <c:strRef>
              <c:f>Sheet1!$B$1</c:f>
              <c:strCache>
                <c:ptCount val="1"/>
                <c:pt idx="0">
                  <c:v>Missing %</c:v>
                </c:pt>
              </c:strCache>
            </c:strRef>
          </c:tx>
          <c:spPr>
            <a:solidFill>
              <a:srgbClr val="193EB0"/>
            </a:solidFill>
          </c:spPr>
          <c:invertIfNegative val="1"/>
          <c:dLbls>
            <c:numFmt formatCode="0.0#&quot;%&quot;" sourceLinked="0"/>
            <c:spPr>
              <a:noFill/>
              <a:ln>
                <a:noFill/>
              </a:ln>
              <a:effectLst/>
            </c:spPr>
            <c:txPr>
              <a:bodyPr/>
              <a:lstStyle/>
              <a:p>
                <a:pPr>
                  <a:defRPr sz="12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image</c:v>
                </c:pt>
                <c:pt idx="1">
                  <c:v>impression</c:v>
                </c:pt>
                <c:pt idx="2">
                  <c:v>indication</c:v>
                </c:pt>
                <c:pt idx="3">
                  <c:v>findings</c:v>
                </c:pt>
                <c:pt idx="4">
                  <c:v>comparison</c:v>
                </c:pt>
              </c:strCache>
            </c:strRef>
          </c:cat>
          <c:val>
            <c:numRef>
              <c:f>Sheet1!$B$2:$B$6</c:f>
              <c:numCache>
                <c:formatCode>General</c:formatCode>
                <c:ptCount val="5"/>
                <c:pt idx="0">
                  <c:v>0.03</c:v>
                </c:pt>
                <c:pt idx="1">
                  <c:v>0.8</c:v>
                </c:pt>
                <c:pt idx="2">
                  <c:v>6.8</c:v>
                </c:pt>
                <c:pt idx="3">
                  <c:v>13.35</c:v>
                </c:pt>
                <c:pt idx="4">
                  <c:v>74.27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E3E-4BEA-87EC-78E6A8D8F9A7}"/>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C9D5F2"/>
            </a:solidFill>
          </a:ln>
        </c:spPr>
        <c:crossAx val="-2113994440"/>
        <c:crosses val="autoZero"/>
        <c:auto val="1"/>
        <c:lblAlgn val="ctr"/>
        <c:lblOffset val="100"/>
        <c:noMultiLvlLbl val="0"/>
      </c:catAx>
      <c:valAx>
        <c:axId val="-2113994440"/>
        <c:scaling>
          <c:orientation val="minMax"/>
          <c:max val="95"/>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F2937"/>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lang="en-US" sz="1400" b="1">
                <a:solidFill>
                  <a:srgbClr val="1F2937"/>
                </a:solidFill>
              </a:rPr>
              <a:t>Patient studies per split (3,851)</a:t>
            </a:r>
          </a:p>
        </c:rich>
      </c:tx>
      <c:overlay val="0"/>
    </c:title>
    <c:autoTitleDeleted val="0"/>
    <c:plotArea>
      <c:layout/>
      <c:doughnutChart>
        <c:varyColors val="1"/>
        <c:ser>
          <c:idx val="0"/>
          <c:order val="0"/>
          <c:tx>
            <c:strRef>
              <c:f>Sheet1!$B$1</c:f>
              <c:strCache>
                <c:ptCount val="1"/>
                <c:pt idx="0">
                  <c:v>Studies</c:v>
                </c:pt>
              </c:strCache>
            </c:strRef>
          </c:tx>
          <c:dPt>
            <c:idx val="0"/>
            <c:bubble3D val="0"/>
            <c:spPr>
              <a:solidFill>
                <a:srgbClr val="193EB0"/>
              </a:solidFill>
            </c:spPr>
            <c:extLst>
              <c:ext xmlns:c16="http://schemas.microsoft.com/office/drawing/2014/chart" uri="{C3380CC4-5D6E-409C-BE32-E72D297353CC}">
                <c16:uniqueId val="{00000001-4B2A-4078-A6F1-2ACBF2BDE510}"/>
              </c:ext>
            </c:extLst>
          </c:dPt>
          <c:dPt>
            <c:idx val="1"/>
            <c:bubble3D val="0"/>
            <c:spPr>
              <a:solidFill>
                <a:srgbClr val="009BD6"/>
              </a:solidFill>
            </c:spPr>
            <c:extLst>
              <c:ext xmlns:c16="http://schemas.microsoft.com/office/drawing/2014/chart" uri="{C3380CC4-5D6E-409C-BE32-E72D297353CC}">
                <c16:uniqueId val="{00000003-4B2A-4078-A6F1-2ACBF2BDE510}"/>
              </c:ext>
            </c:extLst>
          </c:dPt>
          <c:dPt>
            <c:idx val="2"/>
            <c:bubble3D val="0"/>
            <c:spPr>
              <a:solidFill>
                <a:srgbClr val="6B7FBF"/>
              </a:solidFill>
            </c:spPr>
            <c:extLst>
              <c:ext xmlns:c16="http://schemas.microsoft.com/office/drawing/2014/chart" uri="{C3380CC4-5D6E-409C-BE32-E72D297353CC}">
                <c16:uniqueId val="{00000005-4B2A-4078-A6F1-2ACBF2BDE510}"/>
              </c:ext>
            </c:extLst>
          </c:dPt>
          <c:dLbls>
            <c:numFmt formatCode="#,##0" sourceLinked="0"/>
            <c:spPr>
              <a:noFill/>
              <a:ln>
                <a:noFill/>
              </a:ln>
              <a:effectLst/>
            </c:spPr>
            <c:txPr>
              <a:bodyPr/>
              <a:lstStyle/>
              <a:p>
                <a:pPr>
                  <a:defRPr sz="1200" b="1">
                    <a:solidFill>
                      <a:srgbClr val="FFFFFF"/>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Train</c:v>
                </c:pt>
                <c:pt idx="1">
                  <c:v>Validation</c:v>
                </c:pt>
                <c:pt idx="2">
                  <c:v>Test</c:v>
                </c:pt>
              </c:strCache>
            </c:strRef>
          </c:cat>
          <c:val>
            <c:numRef>
              <c:f>Sheet1!$B$2:$B$4</c:f>
              <c:numCache>
                <c:formatCode>General</c:formatCode>
                <c:ptCount val="3"/>
                <c:pt idx="0">
                  <c:v>2464</c:v>
                </c:pt>
                <c:pt idx="1">
                  <c:v>616</c:v>
                </c:pt>
                <c:pt idx="2">
                  <c:v>771</c:v>
                </c:pt>
              </c:numCache>
            </c:numRef>
          </c:val>
          <c:extLst>
            <c:ext xmlns:c16="http://schemas.microsoft.com/office/drawing/2014/chart" uri="{C3380CC4-5D6E-409C-BE32-E72D297353CC}">
              <c16:uniqueId val="{00000006-4B2A-4078-A6F1-2ACBF2BDE510}"/>
            </c:ext>
          </c:extLst>
        </c:ser>
        <c:dLbls>
          <c:showLegendKey val="0"/>
          <c:showVal val="1"/>
          <c:showCatName val="0"/>
          <c:showSerName val="0"/>
          <c:showPercent val="0"/>
          <c:showBubbleSize val="0"/>
          <c:showLeaderLines val="1"/>
        </c:dLbls>
        <c:firstSliceAng val="0"/>
        <c:holeSize val="50"/>
      </c:doughnutChart>
    </c:plotArea>
    <c:legend>
      <c:legendPos val="b"/>
      <c:overlay val="0"/>
      <c:txPr>
        <a:bodyPr/>
        <a:lstStyle/>
        <a:p>
          <a:pPr>
            <a:defRPr sz="1200"/>
          </a:pPr>
          <a:endParaRPr lang="en-US"/>
        </a:p>
      </c:txPr>
    </c:legend>
    <c:plotVisOnly val="1"/>
    <c:dispBlanksAs val="gap"/>
    <c:showDLblsOverMax val="0"/>
  </c:chart>
  <c:txPr>
    <a:bodyPr/>
    <a:lstStyle/>
    <a:p>
      <a:pPr>
        <a:defRPr sz="1200">
          <a:solidFill>
            <a:srgbClr val="1F2937"/>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937"/>
                </a:solidFill>
              </a:rPr>
              <a:t>Validation macro PR-AUC</a:t>
            </a:r>
          </a:p>
        </c:rich>
      </c:tx>
      <c:layout/>
      <c:overlay val="0"/>
    </c:title>
    <c:autoTitleDeleted val="0"/>
    <c:plotArea>
      <c:barChart>
        <c:barDir val="bar"/>
        <c:grouping val="clustered"/>
        <c:ser>
          <c:idx val="0"/>
          <c:order val="0"/>
          <c:tx>
            <c:strRef>
              <c:f>Sheet1!$B$1</c:f>
              <c:strCache>
                <c:ptCount val="1"/>
                <c:pt idx="0">
                  <c:v>Macro PR-AUC</c:v>
                </c:pt>
              </c:strCache>
            </c:strRef>
          </c:tx>
          <c:spPr>
            <a:solidFill>
              <a:srgbClr val="193EB0"/>
            </a:solidFill>
          </c:spPr>
          <c:dPt>
            <c:idx val="0"/>
            <c:spPr>
              <a:solidFill>
                <a:srgbClr val="193EB0"/>
              </a:solidFill>
            </c:spPr>
          </c:dPt>
          <c:dPt>
            <c:idx val="1"/>
            <c:spPr>
              <a:solidFill>
                <a:srgbClr val="9AACD9"/>
              </a:solidFill>
            </c:spPr>
          </c:dPt>
          <c:dPt>
            <c:idx val="2"/>
            <c:spPr>
              <a:solidFill>
                <a:srgbClr val="9AACD9"/>
              </a:solidFill>
            </c:spPr>
          </c:dPt>
          <c:dPt>
            <c:idx val="3"/>
            <c:spPr>
              <a:solidFill>
                <a:srgbClr val="9AACD9"/>
              </a:solidFill>
            </c:spPr>
          </c:dPt>
          <c:dPt>
            <c:idx val="4"/>
            <c:spPr>
              <a:solidFill>
                <a:srgbClr val="9AACD9"/>
              </a:solidFill>
            </c:spPr>
          </c:dPt>
          <c:dPt>
            <c:idx val="5"/>
            <c:spPr>
              <a:solidFill>
                <a:srgbClr val="9AACD9"/>
              </a:solidFill>
            </c:spPr>
          </c:dPt>
          <c:cat>
            <c:strRef>
              <c:f>Sheet1!$A$2:$A$7</c:f>
              <c:strCache>
                <c:ptCount val="6"/>
                <c:pt idx="0">
                  <c:v>Linear fusion</c:v>
                </c:pt>
                <c:pt idx="1">
                  <c:v>Forest fusion</c:v>
                </c:pt>
                <c:pt idx="2">
                  <c:v>MLP fusion</c:v>
                </c:pt>
                <c:pt idx="3">
                  <c:v>Late fusion</c:v>
                </c:pt>
                <c:pt idx="4">
                  <c:v>Image only</c:v>
                </c:pt>
                <c:pt idx="5">
                  <c:v>Text only</c:v>
                </c:pt>
              </c:strCache>
            </c:strRef>
          </c:cat>
          <c:val>
            <c:numRef>
              <c:f>Sheet1!$B$2:$B$7</c:f>
              <c:numCache>
                <c:formatCode>General</c:formatCode>
                <c:ptCount val="6"/>
                <c:pt idx="0">
                  <c:v>0.066</c:v>
                </c:pt>
                <c:pt idx="1">
                  <c:v>0.053</c:v>
                </c:pt>
                <c:pt idx="2">
                  <c:v>0.051</c:v>
                </c:pt>
                <c:pt idx="3">
                  <c:v>0.041</c:v>
                </c:pt>
                <c:pt idx="4">
                  <c:v>0.04</c:v>
                </c:pt>
                <c:pt idx="5">
                  <c:v>0.028</c:v>
                </c:pt>
              </c:numCache>
            </c:numRef>
          </c:val>
        </c:ser>
        <c:dLbls>
          <c:numFmt formatCode="0.000" sourceLinked="0"/>
          <c:txPr>
            <a:bodyPr/>
            <a:lstStyle/>
            <a:p>
              <a:pPr>
                <a:defRPr sz="12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9D5F2"/>
            </a:solidFill>
          </a:ln>
        </c:spPr>
        <c:crossAx val="-2113994440"/>
        <c:crosses val="autoZero"/>
        <c:auto val="1"/>
        <c:lblAlgn val="ctr"/>
        <c:lblOffset val="100"/>
        <c:noMultiLvlLbl val="0"/>
      </c:catAx>
      <c:valAx>
        <c:axId val="-2113994440"/>
        <c:scaling>
          <c:max val="0.085"/>
          <c:min val="0.0"/>
        </c:scaling>
        <c:delete/>
        <c:axPos val="b"/>
        <c:majorTickMark val="out"/>
        <c:minorTickMark val="none"/>
        <c:tickLblPos val="nextTo"/>
        <c:crossAx val="-2068027336"/>
        <c:crosses val="autoZero"/>
      </c:valAx>
    </c:plotArea>
    <c:dispBlanksAs val="gap"/>
  </c:chart>
  <c:txPr>
    <a:bodyPr/>
    <a:lstStyle/>
    <a:p>
      <a:pPr>
        <a:defRPr sz="1200">
          <a:solidFill>
            <a:srgbClr val="1F2937"/>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F2937"/>
                </a:solidFill>
              </a:rPr>
              <a:t>Test macro PR-AUC (87 supported labels)</a:t>
            </a:r>
          </a:p>
        </c:rich>
      </c:tx>
      <c:layout/>
      <c:overlay val="0"/>
    </c:title>
    <c:autoTitleDeleted val="0"/>
    <c:plotArea>
      <c:barChart>
        <c:barDir val="bar"/>
        <c:grouping val="clustered"/>
        <c:ser>
          <c:idx val="0"/>
          <c:order val="0"/>
          <c:tx>
            <c:strRef>
              <c:f>Sheet1!$B$1</c:f>
              <c:strCache>
                <c:ptCount val="1"/>
                <c:pt idx="0">
                  <c:v>Macro PR-AUC</c:v>
                </c:pt>
              </c:strCache>
            </c:strRef>
          </c:tx>
          <c:spPr>
            <a:solidFill>
              <a:srgbClr val="193EB0"/>
            </a:solidFill>
          </c:spPr>
          <c:dPt>
            <c:idx val="0"/>
            <c:spPr>
              <a:solidFill>
                <a:srgbClr val="193EB0"/>
              </a:solidFill>
            </c:spPr>
          </c:dPt>
          <c:dPt>
            <c:idx val="1"/>
            <c:spPr>
              <a:solidFill>
                <a:srgbClr val="193EB0"/>
              </a:solidFill>
            </c:spPr>
          </c:dPt>
          <c:dPt>
            <c:idx val="2"/>
            <c:spPr>
              <a:solidFill>
                <a:srgbClr val="193EB0"/>
              </a:solidFill>
            </c:spPr>
          </c:dPt>
          <c:dPt>
            <c:idx val="3"/>
            <c:spPr>
              <a:solidFill>
                <a:srgbClr val="9AACD9"/>
              </a:solidFill>
            </c:spPr>
          </c:dPt>
          <c:dPt>
            <c:idx val="4"/>
            <c:spPr>
              <a:solidFill>
                <a:srgbClr val="9AACD9"/>
              </a:solidFill>
            </c:spPr>
          </c:dPt>
          <c:dPt>
            <c:idx val="5"/>
            <c:spPr>
              <a:solidFill>
                <a:srgbClr val="9AACD9"/>
              </a:solidFill>
            </c:spPr>
          </c:dPt>
          <c:cat>
            <c:strRef>
              <c:f>Sheet1!$A$2:$A$7</c:f>
              <c:strCache>
                <c:ptCount val="6"/>
                <c:pt idx="0">
                  <c:v>MLP fusion</c:v>
                </c:pt>
                <c:pt idx="1">
                  <c:v>Linear fusion</c:v>
                </c:pt>
                <c:pt idx="2">
                  <c:v>Forest fusion</c:v>
                </c:pt>
                <c:pt idx="3">
                  <c:v>Late fusion</c:v>
                </c:pt>
                <c:pt idx="4">
                  <c:v>Image only</c:v>
                </c:pt>
                <c:pt idx="5">
                  <c:v>Text only</c:v>
                </c:pt>
              </c:strCache>
            </c:strRef>
          </c:cat>
          <c:val>
            <c:numRef>
              <c:f>Sheet1!$B$2:$B$7</c:f>
              <c:numCache>
                <c:formatCode>General</c:formatCode>
                <c:ptCount val="6"/>
                <c:pt idx="0">
                  <c:v>0.056</c:v>
                </c:pt>
                <c:pt idx="1">
                  <c:v>0.053</c:v>
                </c:pt>
                <c:pt idx="2">
                  <c:v>0.049</c:v>
                </c:pt>
                <c:pt idx="3">
                  <c:v>0.035</c:v>
                </c:pt>
                <c:pt idx="4">
                  <c:v>0.035</c:v>
                </c:pt>
                <c:pt idx="5">
                  <c:v>0.027</c:v>
                </c:pt>
              </c:numCache>
            </c:numRef>
          </c:val>
        </c:ser>
        <c:dLbls>
          <c:numFmt formatCode="0.000" sourceLinked="0"/>
          <c:txPr>
            <a:bodyPr/>
            <a:lstStyle/>
            <a:p>
              <a:pPr>
                <a:defRPr sz="12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9D5F2"/>
            </a:solidFill>
          </a:ln>
        </c:spPr>
        <c:crossAx val="-2113994440"/>
        <c:crosses val="autoZero"/>
        <c:auto val="1"/>
        <c:lblAlgn val="ctr"/>
        <c:lblOffset val="100"/>
        <c:noMultiLvlLbl val="0"/>
      </c:catAx>
      <c:valAx>
        <c:axId val="-2113994440"/>
        <c:scaling>
          <c:max val="0.07"/>
          <c:min val="0.0"/>
        </c:scaling>
        <c:delete/>
        <c:axPos val="b"/>
        <c:majorTickMark val="out"/>
        <c:minorTickMark val="none"/>
        <c:tickLblPos val="nextTo"/>
        <c:crossAx val="-2068027336"/>
        <c:crosses val="autoZero"/>
      </c:valAx>
    </c:plotArea>
    <c:dispBlanksAs val="gap"/>
  </c:chart>
  <c:txPr>
    <a:bodyPr/>
    <a:lstStyle/>
    <a:p>
      <a:pPr>
        <a:defRPr sz="1200">
          <a:solidFill>
            <a:srgbClr val="1F2937"/>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720975" y="512763"/>
            <a:ext cx="37020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groups benefit. Nurses and ER doctors get a ranked queue, radiologists get a second pair of eyes, patients wait less when it is serious, and small hospitals gain speed without extra specialists. Stress that a human always makes the final decision.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whole system in one picture. The X-ray goes to a vision model, the note to a text model, and a fusion model combines them. The output is normal or abnormal, a review priority, and the evidence: a heatmap on the X-ray and highlighted words in the note.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steps. We audit the raw tables, clean them, merge reports with images, explore the data, split by patient, encode labels, text and images, and finally batch everything for training. The right-hand column shows the key number from each step.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720975" y="512763"/>
            <a:ext cx="3702050" cy="2566987"/>
          </a:xfrm>
        </p:spPr>
      </p:sp>
      <p:sp>
        <p:nvSpPr>
          <p:cNvPr id="3" name="Notes Placeholder 2"/>
          <p:cNvSpPr>
            <a:spLocks noGrp="1"/>
          </p:cNvSpPr>
          <p:nvPr>
            <p:ph type="body" sz="quarter" idx="3"/>
          </p:nvPr>
        </p:nvSpPr>
        <p:spPr/>
        <p:txBody>
          <a:bodyPr/>
          <a:lstStyle/>
          <a:p>
            <a:r>
              <a:t>Source: Indiana University chest X-ray collection (OpenI). Most studies have two views, but 446 have a single image and 195 have three or more. Every report has at least one image, so no case is lost in the merge.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720975" y="512763"/>
            <a:ext cx="3702050" cy="2566987"/>
          </a:xfrm>
        </p:spPr>
      </p:sp>
      <p:sp>
        <p:nvSpPr>
          <p:cNvPr id="3" name="Notes Placeholder 2"/>
          <p:cNvSpPr>
            <a:spLocks noGrp="1"/>
          </p:cNvSpPr>
          <p:nvPr>
            <p:ph type="body" sz="quarter" idx="3"/>
          </p:nvPr>
        </p:nvSpPr>
        <p:spPr/>
        <p:txBody>
          <a:bodyPr/>
          <a:lstStyle/>
          <a:p>
            <a:r>
              <a:t>Percentages are computed after treating placeholder strings such as none, n/a and xxxx as missing. Comparison is empty in about three quarters of reports, so we do not feed it to the model. For the other text fields we keep the row and add an explicit 'not provided' token.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XXXX is how the public dataset hides patient information. Entries that contain nothing but a hidden token and filler words carry no information, so we flag them as 'not provided'. Hashing the raw bytes of every image found 3 exact duplicates, which we dropped.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64 percent of image records have at least one problem listed. That means a simple normal or abnormal flag would put most patients in the same bucket, which is why PulmoTriage adds a review priority.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bar chart counts every label in the Problems field. Because many labels are far less common than the top ten, we cannot trust accuracy alone: a model could ignore rare findings and still look good. This is why we weight the loss and report recall and PR-AUC.</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Indication is what the doctor writes before the scan, so it is short. Findings are the long description written after reading the image. That difference matters for the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diagonal is how many cases have each finding; the off-diagonal cells show how many have both. Because findings overlap, each case gets several labels at once, not just one.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important design decision in the data stage. If findings or impression were fed to the model, the answer would be hidden in the input and the results would be meaningless. At triage time only the patient history exists, so only that is used.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 row normal, bottom row abnormal, with frontal and lateral views mixed in. Image sizes vary a lot, so every image is resized with padding to one standard size later.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 histograms almost overlap, and the mean intensity of normal and abnormal images is within about 5 grey levels. So there is no easy brightness trick: a vision model has to learn the actual patterns. All pixel values are 0 to 255, so we divide by 255.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720975" y="512763"/>
            <a:ext cx="3702050" cy="2566987"/>
          </a:xfrm>
        </p:spPr>
      </p:sp>
      <p:sp>
        <p:nvSpPr>
          <p:cNvPr id="3" name="Notes Placeholder 2"/>
          <p:cNvSpPr>
            <a:spLocks noGrp="1"/>
          </p:cNvSpPr>
          <p:nvPr>
            <p:ph type="body" sz="quarter" idx="3"/>
          </p:nvPr>
        </p:nvSpPr>
        <p:spPr/>
        <p:txBody>
          <a:bodyPr/>
          <a:lstStyle/>
          <a:p>
            <a:r>
              <a:t>We split before fitting anything. The split is on patient (study) IDs, stratified by normal versus abnormal. That gives 2,464 training studies, 616 validation and 771 test. The label encoder is fitted on training data only.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branches are deterministic. For images: grayscale, resize with padding to 224 by 224, divide by 255, and pad to five images. For text: only the patient history, tokenised with Bio_ClinicalBERT to 100 tokens plus an attention mask.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tf.data generator builds one record per patient and batches 8 of them. The target is a 110-length multi-hot vector. We also export the split assignment, label list and NLP table so teammates working on the text and vision models use exactly the same data.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slide: each row links something we found in the data to a decision we made and the practical benefit for a hospital team. This is the 'so what' of the exploration and preprocessing phase.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the story follows the project lifecycle: problem, data, models, results, problems we solved, deployment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make triage hard today: the two sources are read separately, specialists are scarce, and long notes overload busy staff. PulmoTriage answers each one: it reads both sources together, ranks every case within seconds, and shows its evidence so a human can confirm it quickly.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text model reads only the indication, the patient history written before the scan. Three families are blended: five fine-tuned transformer fold models whose probabilities are averaged, a TF-IDF one-vs-rest classifier, and a logistic regression on frozen-encoder embeddings. The output is one probability per finding plus the probability of normal, and every finding has its own decision threshold.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cleaning function is the same one used in the preprocessing notebook: lower-case, remove punctuation, treat none/n/a/xxxx as missing, replace XXXX with 'hidden', and drop notes that contain nothing but age and sex. 423 of the 3,851 patients end up with no usable note, so the system must work without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 explanations use Integrated Gradients from Captum on the first fold model. The baseline is a note made only of padding tokens, so a word's score says how much it moves the probability of the chosen finding. The app colours words red when they push the finding up and blue when they push it down.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is a biomedical NER transformer. Stage 2 is a medspaCy TargetMatcher with a small clinical lexicon that expands abbreviations such as SOB, CP and HTN and gives synonyms one name. Stage 3 is ConText, the standard clinical algorithm for negation, history, possibility and family context; we added rules for short run-on referral notes.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examples are real outputs of the summary code. Notice that 'SOB' becomes shortness of breath, 'no fever' goes under denied, and 'rule out pneumonia' is only a possible reason for the exam, not a present symptom.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is built from rules, not from a free-text generator, so it cannot make things up. A separate check function also proves it: each term must be in the note, each finding must come from a model output, and nothing may be both present and denied.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patient becomes one vector: 1,024 image features plus 768 text features multiplied by the has_note flag, plus the flag itself, 1,793 numbers in total. Scalers are fitted on the training patients only. Three fusion heads are trained and compared with late fusion and with image-only and text-only baselines.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trained all models on the training patients and compared them on validation. The linear fusion won, so it is the reference model; on the test set the MLP was slightly ahead, but the validation set is small and rare-label scores are noisy. Optuna tuned the linear regularisation and all runs are logged to MLflow.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macro PR-AUC over the 87 labels that appear in the test set. Early-fusion models beat both single-modality baselines: the MLP is 62 percent above image-only and 2.1 times text-only. The absolute level is low because the task has 110 mostly rare labels and the dataset is small.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metrics are on the untouched test set of 771 patients. Early-fusion models beat the image-only and text-only models on PR-AUC and ROC-AUC, both macro and micro. F1 at the default 0.5 threshold is low for every model, which tells us the threshold, not only the model, has to be set for triage.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the 'normal' matrix the other way round gives the abnormal-detection view: 347 abnormal patients correctly flagged, 148 abnormal patients called normal, and 153 normal patients flagged. That is 70 percent recall and 69 percent precision for abnormal. For rare findings the model finds very few cases at the 0.5 cut-off.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Per-finding F1 for the linear fusion model on the 12 most frequent labels of the test set. Values come from the confusion counts: for example normal 123 true positives, 148 false positives and 153 false negatives give an F1 of 0.45.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Integrated Gradients was run on the MLP fusion head for 30 evenly spaced test patients. The mean absolute attribution of the image features is 13.7 and of the text features 9.6, so the image contributes about 59 percent and the note about 41 percent.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data problems are the ones that could silently make results look better than they are. Each has a rule in the code: indication-only input, a hard check on test IDs across sources, one missing-value marker plus a has_note flag, and de-duplication with patient-level splitting.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modelling side the biggest issue is the long tail of rare labels, so we report macro PR-AUC on supported labels and look at per-finding results instead of accuracy. The NLP side needed clinical negation handling and a checker so the summary can never state something that is not in the note.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enhancement comes from something we measured: rare labels score low, the default threshold misses 30 percent of abnormal cases, fusion is trained on frozen features, and the data come from one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inkedin.com/in/radwa-badran-666595272/" TargetMode="External"/><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_basmala.jpeg"/><Relationship Id="rId7"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app_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app_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app_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app_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Freeform 2"/>
          <p:cNvSpPr/>
          <p:nvPr/>
        </p:nvSpPr>
        <p:spPr>
          <a:xfrm>
            <a:off x="7929154" y="247008"/>
            <a:ext cx="1599011" cy="524091"/>
          </a:xfrm>
          <a:custGeom>
            <a:avLst/>
            <a:gdLst/>
            <a:ahLst/>
            <a:cxnLst/>
            <a:rect l="l" t="t" r="r" b="b"/>
            <a:pathLst>
              <a:path w="1599011" h="524091">
                <a:moveTo>
                  <a:pt x="0" y="0"/>
                </a:moveTo>
                <a:lnTo>
                  <a:pt x="1599011" y="0"/>
                </a:lnTo>
                <a:lnTo>
                  <a:pt x="1599011" y="524091"/>
                </a:lnTo>
                <a:lnTo>
                  <a:pt x="0" y="524091"/>
                </a:lnTo>
                <a:lnTo>
                  <a:pt x="0" y="0"/>
                </a:lnTo>
                <a:close/>
              </a:path>
            </a:pathLst>
          </a:custGeom>
          <a:blipFill>
            <a:blip r:embed="rId3"/>
            <a:stretch>
              <a:fillRect/>
            </a:stretch>
          </a:blipFill>
        </p:spPr>
        <p:txBody>
          <a:bodyPr/>
          <a:lstStyle/>
          <a:p>
            <a:endParaRPr lang="en-US"/>
          </a:p>
        </p:txBody>
      </p:sp>
      <p:sp>
        <p:nvSpPr>
          <p:cNvPr id="3" name="Freeform 3"/>
          <p:cNvSpPr/>
          <p:nvPr/>
        </p:nvSpPr>
        <p:spPr>
          <a:xfrm>
            <a:off x="495902" y="403958"/>
            <a:ext cx="1360963" cy="210192"/>
          </a:xfrm>
          <a:custGeom>
            <a:avLst/>
            <a:gdLst/>
            <a:ahLst/>
            <a:cxnLst/>
            <a:rect l="l" t="t" r="r" b="b"/>
            <a:pathLst>
              <a:path w="1360963" h="210192">
                <a:moveTo>
                  <a:pt x="0" y="0"/>
                </a:moveTo>
                <a:lnTo>
                  <a:pt x="1360963" y="0"/>
                </a:lnTo>
                <a:lnTo>
                  <a:pt x="1360963" y="210192"/>
                </a:lnTo>
                <a:lnTo>
                  <a:pt x="0" y="2101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886228" y="2362200"/>
            <a:ext cx="8671800" cy="1248547"/>
          </a:xfrm>
          <a:prstGeom prst="rect">
            <a:avLst/>
          </a:prstGeom>
        </p:spPr>
        <p:txBody>
          <a:bodyPr wrap="square" lIns="0" tIns="0" rIns="0" bIns="0" rtlCol="0" anchor="t">
            <a:spAutoFit/>
          </a:bodyPr>
          <a:lstStyle/>
          <a:p>
            <a:pPr>
              <a:lnSpc>
                <a:spcPts val="5280"/>
              </a:lnSpc>
            </a:pPr>
            <a:r>
              <a:rPr lang="en-US" sz="7200" dirty="0" err="1">
                <a:solidFill>
                  <a:schemeClr val="bg1"/>
                </a:solidFill>
              </a:rPr>
              <a:t>PulmoTriage</a:t>
            </a:r>
            <a:r>
              <a:rPr lang="en-US" sz="4400" dirty="0">
                <a:solidFill>
                  <a:schemeClr val="bg1"/>
                </a:solidFill>
              </a:rPr>
              <a:t> </a:t>
            </a:r>
          </a:p>
          <a:p>
            <a:pPr>
              <a:lnSpc>
                <a:spcPts val="5280"/>
              </a:lnSpc>
            </a:pPr>
            <a:r>
              <a:rPr lang="en-US" sz="2000" dirty="0">
                <a:solidFill>
                  <a:schemeClr val="bg1"/>
                </a:solidFill>
              </a:rPr>
              <a:t>Multimodal Clinical Decision Support for Pulmonary Pathology</a:t>
            </a:r>
            <a:endParaRPr lang="en-US" sz="2000" dirty="0">
              <a:solidFill>
                <a:schemeClr val="bg1"/>
              </a:solidFill>
              <a:latin typeface="Arimo"/>
              <a:ea typeface="Arimo"/>
              <a:cs typeface="Arimo"/>
              <a:sym typeface="Arimo"/>
            </a:endParaRPr>
          </a:p>
        </p:txBody>
      </p:sp>
      <p:sp>
        <p:nvSpPr>
          <p:cNvPr id="5" name="TextBox 5"/>
          <p:cNvSpPr txBox="1"/>
          <p:nvPr/>
        </p:nvSpPr>
        <p:spPr>
          <a:xfrm>
            <a:off x="865901" y="4097737"/>
            <a:ext cx="6045000" cy="363241"/>
          </a:xfrm>
          <a:prstGeom prst="rect">
            <a:avLst/>
          </a:prstGeom>
        </p:spPr>
        <p:txBody>
          <a:bodyPr lIns="0" tIns="0" rIns="0" bIns="0" rtlCol="0" anchor="t">
            <a:spAutoFit/>
          </a:bodyPr>
          <a:lstStyle/>
          <a:p>
            <a:pPr algn="l">
              <a:lnSpc>
                <a:spcPts val="2879"/>
              </a:lnSpc>
            </a:pPr>
            <a:r>
              <a:rPr lang="en-US" sz="2400" dirty="0">
                <a:solidFill>
                  <a:srgbClr val="00B3E3"/>
                </a:solidFill>
                <a:latin typeface="Arial MT Pro"/>
                <a:ea typeface="Arial MT Pro"/>
                <a:cs typeface="Arial MT Pro"/>
                <a:sym typeface="Arial MT Pro"/>
              </a:rPr>
              <a:t>SIC 8 –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US"/>
          </a:p>
        </p:txBody>
      </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4414311"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Agenda</a:t>
            </a:r>
          </a:p>
        </p:txBody>
      </p:sp>
      <p:sp>
        <p:nvSpPr>
          <p:cNvPr id="7" name="TextBox 7"/>
          <p:cNvSpPr txBox="1"/>
          <p:nvPr/>
        </p:nvSpPr>
        <p:spPr>
          <a:xfrm>
            <a:off x="411480" y="1691640"/>
            <a:ext cx="4480560" cy="3566160"/>
          </a:xfrm>
          <a:prstGeom prst="rect">
            <a:avLst/>
          </a:prstGeom>
        </p:spPr>
        <p:txBody>
          <a:bodyPr lIns="0" tIns="0" rIns="0" bIns="0" rtlCol="0" anchor="t">
            <a:spAutoFit/>
          </a:bodyPr>
          <a:lstStyle/>
          <a:p>
            <a:pPr marL="365760" lvl="1" indent="-274320" algn="l">
              <a:lnSpc>
                <a:spcPts val="3800"/>
              </a:lnSpc>
              <a:buFont typeface="Arial"/>
              <a:buChar char="•"/>
            </a:pPr>
            <a:r>
              <a:rPr lang="en-US" sz="2600" dirty="0">
                <a:solidFill>
                  <a:srgbClr val="7F7F7F"/>
                </a:solidFill>
                <a:latin typeface="Arimo"/>
                <a:ea typeface="Arimo"/>
                <a:cs typeface="Arimo"/>
                <a:sym typeface="Arimo"/>
              </a:rPr>
              <a:t>Team Members</a:t>
            </a:r>
          </a:p>
          <a:p>
            <a:pPr marL="365760" lvl="1" indent="-274320" algn="l">
              <a:lnSpc>
                <a:spcPts val="3800"/>
              </a:lnSpc>
              <a:buFont typeface="Arial"/>
              <a:buChar char="•"/>
            </a:pPr>
            <a:r>
              <a:rPr lang="en-US" sz="2600" dirty="0">
                <a:solidFill>
                  <a:srgbClr val="7F7F7F"/>
                </a:solidFill>
                <a:latin typeface="Arimo"/>
                <a:ea typeface="Arimo"/>
                <a:cs typeface="Arimo"/>
                <a:sym typeface="Arimo"/>
              </a:rPr>
              <a:t>Motivation &amp; Problem</a:t>
            </a:r>
          </a:p>
          <a:p>
            <a:pPr marL="365760" lvl="1" indent="-274320" algn="l">
              <a:lnSpc>
                <a:spcPts val="3800"/>
              </a:lnSpc>
              <a:buFont typeface="Arial"/>
              <a:buChar char="•"/>
            </a:pPr>
            <a:r>
              <a:rPr lang="en-US" sz="2600" dirty="0">
                <a:solidFill>
                  <a:srgbClr val="7F7F7F"/>
                </a:solidFill>
                <a:latin typeface="Arimo"/>
                <a:ea typeface="Arimo"/>
                <a:cs typeface="Arimo"/>
                <a:sym typeface="Arimo"/>
              </a:rPr>
              <a:t>Targeted audience</a:t>
            </a:r>
          </a:p>
          <a:p>
            <a:pPr marL="365760" lvl="1" indent="-274320" algn="l">
              <a:lnSpc>
                <a:spcPts val="3800"/>
              </a:lnSpc>
              <a:buFont typeface="Arial"/>
              <a:buChar char="•"/>
            </a:pPr>
            <a:r>
              <a:rPr lang="en-US" sz="2600" dirty="0">
                <a:solidFill>
                  <a:srgbClr val="7F7F7F"/>
                </a:solidFill>
                <a:latin typeface="Arimo"/>
                <a:ea typeface="Arimo"/>
                <a:cs typeface="Arimo"/>
                <a:sym typeface="Arimo"/>
              </a:rPr>
              <a:t>Project Overview</a:t>
            </a:r>
          </a:p>
          <a:p>
            <a:pPr marL="365760" lvl="1" indent="-274320" algn="l">
              <a:lnSpc>
                <a:spcPts val="3800"/>
              </a:lnSpc>
              <a:buFont typeface="Arial"/>
              <a:buChar char="•"/>
            </a:pPr>
            <a:r>
              <a:rPr lang="en-US" sz="2600" dirty="0">
                <a:solidFill>
                  <a:srgbClr val="7F7F7F"/>
                </a:solidFill>
                <a:latin typeface="Arimo"/>
                <a:ea typeface="Arimo"/>
                <a:cs typeface="Arimo"/>
                <a:sym typeface="Arimo"/>
              </a:rPr>
              <a:t>Data Pipeline</a:t>
            </a:r>
          </a:p>
          <a:p>
            <a:pPr marL="365760" lvl="1" indent="-274320" algn="l">
              <a:lnSpc>
                <a:spcPts val="3800"/>
              </a:lnSpc>
              <a:buFont typeface="Arial"/>
              <a:buChar char="•"/>
            </a:pPr>
            <a:r>
              <a:rPr lang="en-US" sz="2600" dirty="0">
                <a:solidFill>
                  <a:srgbClr val="7F7F7F"/>
                </a:solidFill>
                <a:latin typeface="Arimo"/>
                <a:ea typeface="Arimo"/>
                <a:cs typeface="Arimo"/>
                <a:sym typeface="Arimo"/>
              </a:rPr>
              <a:t>Exploratory Data Analysis</a:t>
            </a:r>
          </a:p>
          <a:p>
            <a:pPr marL="365760" lvl="1" indent="-274320" algn="l">
              <a:lnSpc>
                <a:spcPts val="3800"/>
              </a:lnSpc>
              <a:buFont typeface="Arial"/>
              <a:buChar char="•"/>
            </a:pPr>
            <a:r>
              <a:rPr lang="en-US" sz="2600" dirty="0">
                <a:solidFill>
                  <a:srgbClr val="7F7F7F"/>
                </a:solidFill>
                <a:latin typeface="Arimo"/>
                <a:ea typeface="Arimo"/>
                <a:cs typeface="Arimo"/>
                <a:sym typeface="Arimo"/>
              </a:rPr>
              <a:t>Data Preprocessing</a:t>
            </a:r>
          </a:p>
        </p:txBody>
      </p:sp>
      <p:sp>
        <p:nvSpPr>
          <p:cNvPr id="99" name="Agenda column 2"/>
          <p:cNvSpPr txBox="1"/>
          <p:nvPr/>
        </p:nvSpPr>
        <p:spPr>
          <a:xfrm>
            <a:off x="4937760" y="1691640"/>
            <a:ext cx="4480560" cy="3566160"/>
          </a:xfrm>
          <a:prstGeom prst="rect">
            <a:avLst/>
          </a:prstGeom>
        </p:spPr>
        <p:txBody>
          <a:bodyPr lIns="0" tIns="0" rIns="0" bIns="0" rtlCol="0" anchor="t">
            <a:spAutoFit/>
          </a:bodyPr>
          <a:lstStyle/>
          <a:p>
            <a:pPr marL="365760" lvl="1" indent="-274320" algn="l">
              <a:lnSpc>
                <a:spcPts val="3800"/>
              </a:lnSpc>
              <a:buFont typeface="Arial"/>
              <a:buChar char="•"/>
            </a:pPr>
            <a:r>
              <a:rPr lang="en-US" sz="2600" dirty="0">
                <a:solidFill>
                  <a:srgbClr val="7F7F7F"/>
                </a:solidFill>
                <a:latin typeface="Arimo"/>
                <a:ea typeface="Arimo"/>
                <a:cs typeface="Arimo"/>
                <a:sym typeface="Arimo"/>
              </a:rPr>
              <a:t>Text Model (NLP)</a:t>
            </a:r>
          </a:p>
          <a:p>
            <a:pPr marL="365760" lvl="1" indent="-274320" algn="l">
              <a:lnSpc>
                <a:spcPts val="3800"/>
              </a:lnSpc>
              <a:buFont typeface="Arial"/>
              <a:buChar char="•"/>
            </a:pPr>
            <a:r>
              <a:rPr lang="en-US" sz="2600" dirty="0">
                <a:solidFill>
                  <a:srgbClr val="7F7F7F"/>
                </a:solidFill>
                <a:latin typeface="Arimo"/>
                <a:ea typeface="Arimo"/>
                <a:cs typeface="Arimo"/>
                <a:sym typeface="Arimo"/>
              </a:rPr>
              <a:t>Clinical Summary</a:t>
            </a:r>
          </a:p>
          <a:p>
            <a:pPr marL="365760" lvl="1" indent="-274320" algn="l">
              <a:lnSpc>
                <a:spcPts val="3800"/>
              </a:lnSpc>
              <a:buFont typeface="Arial"/>
              <a:buChar char="•"/>
            </a:pPr>
            <a:r>
              <a:rPr lang="en-US" sz="2600" dirty="0">
                <a:solidFill>
                  <a:srgbClr val="7F7F7F"/>
                </a:solidFill>
                <a:latin typeface="Arimo"/>
                <a:ea typeface="Arimo"/>
                <a:cs typeface="Arimo"/>
                <a:sym typeface="Arimo"/>
              </a:rPr>
              <a:t>Multimodal Fusion</a:t>
            </a:r>
          </a:p>
          <a:p>
            <a:pPr marL="365760" lvl="1" indent="-274320" algn="l">
              <a:lnSpc>
                <a:spcPts val="3800"/>
              </a:lnSpc>
              <a:buFont typeface="Arial"/>
              <a:buChar char="•"/>
            </a:pPr>
            <a:r>
              <a:rPr lang="en-US" sz="2600" dirty="0">
                <a:solidFill>
                  <a:srgbClr val="7F7F7F"/>
                </a:solidFill>
                <a:latin typeface="Arimo"/>
                <a:ea typeface="Arimo"/>
                <a:cs typeface="Arimo"/>
                <a:sym typeface="Arimo"/>
              </a:rPr>
              <a:t>Results &amp; Evaluation</a:t>
            </a:r>
          </a:p>
          <a:p>
            <a:pPr marL="365760" lvl="1" indent="-274320" algn="l">
              <a:lnSpc>
                <a:spcPts val="3800"/>
              </a:lnSpc>
              <a:buFont typeface="Arial"/>
              <a:buChar char="•"/>
            </a:pPr>
            <a:r>
              <a:rPr lang="en-US" sz="2600" dirty="0">
                <a:solidFill>
                  <a:srgbClr val="7F7F7F"/>
                </a:solidFill>
                <a:latin typeface="Arimo"/>
                <a:ea typeface="Arimo"/>
                <a:cs typeface="Arimo"/>
                <a:sym typeface="Arimo"/>
              </a:rPr>
              <a:t>Challenges &amp; Solutions</a:t>
            </a:r>
          </a:p>
          <a:p>
            <a:pPr marL="365760" lvl="1" indent="-274320" algn="l">
              <a:lnSpc>
                <a:spcPts val="3800"/>
              </a:lnSpc>
              <a:buFont typeface="Arial"/>
              <a:buChar char="•"/>
            </a:pPr>
            <a:r>
              <a:rPr lang="en-US" sz="2600" dirty="0">
                <a:solidFill>
                  <a:srgbClr val="7F7F7F"/>
                </a:solidFill>
                <a:latin typeface="Arimo"/>
                <a:ea typeface="Arimo"/>
                <a:cs typeface="Arimo"/>
                <a:sym typeface="Arimo"/>
              </a:rPr>
              <a:t>Deployment: API &amp; App</a:t>
            </a:r>
          </a:p>
          <a:p>
            <a:pPr marL="365760" lvl="1" indent="-274320" algn="l">
              <a:lnSpc>
                <a:spcPts val="3800"/>
              </a:lnSpc>
              <a:buFont typeface="Arial"/>
              <a:buChar char="•"/>
            </a:pPr>
            <a:r>
              <a:rPr lang="en-US" sz="2600" dirty="0">
                <a:solidFill>
                  <a:srgbClr val="7F7F7F"/>
                </a:solidFill>
                <a:latin typeface="Arimo"/>
                <a:ea typeface="Arimo"/>
                <a:cs typeface="Arimo"/>
                <a:sym typeface="Arimo"/>
              </a:rPr>
              <a:t>Limitations &amp; Future Work</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US"/>
          </a:p>
        </p:txBody>
      </p:sp>
      <p:sp>
        <p:nvSpPr>
          <p:cNvPr id="9" name="TextBox 9"/>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10" name="TextBox 10"/>
          <p:cNvSpPr txBox="1"/>
          <p:nvPr/>
        </p:nvSpPr>
        <p:spPr>
          <a:xfrm>
            <a:off x="2942991" y="193852"/>
            <a:ext cx="4414311" cy="723900"/>
          </a:xfrm>
          <a:prstGeom prst="rect">
            <a:avLst/>
          </a:prstGeom>
        </p:spPr>
        <p:txBody>
          <a:bodyPr lIns="0" tIns="0" rIns="0" bIns="0" rtlCol="0" anchor="t">
            <a:spAutoFit/>
          </a:bodyPr>
          <a:lstStyle/>
          <a:p>
            <a:pPr algn="l">
              <a:lnSpc>
                <a:spcPts val="5039"/>
              </a:lnSpc>
            </a:pPr>
            <a:r>
              <a:rPr lang="en-US" sz="4199" dirty="0">
                <a:solidFill>
                  <a:srgbClr val="FFFFFF"/>
                </a:solidFill>
                <a:latin typeface="Arial MT Pro"/>
                <a:ea typeface="Arial MT Pro"/>
                <a:cs typeface="Arial MT Pro"/>
                <a:sym typeface="Arial MT Pro"/>
              </a:rPr>
              <a:t>Team Members</a:t>
            </a:r>
          </a:p>
        </p:txBody>
      </p:sp>
      <p:sp>
        <p:nvSpPr>
          <p:cNvPr id="11" name="TextBox 11"/>
          <p:cNvSpPr txBox="1"/>
          <p:nvPr/>
        </p:nvSpPr>
        <p:spPr>
          <a:xfrm>
            <a:off x="6394450" y="5576184"/>
            <a:ext cx="2673219" cy="348942"/>
          </a:xfrm>
          <a:prstGeom prst="rect">
            <a:avLst/>
          </a:prstGeom>
        </p:spPr>
        <p:txBody>
          <a:bodyPr lIns="0" tIns="0" rIns="0" bIns="0" rtlCol="0" anchor="t">
            <a:spAutoFit/>
          </a:bodyPr>
          <a:lstStyle/>
          <a:p>
            <a:pPr algn="l">
              <a:lnSpc>
                <a:spcPts val="2879"/>
              </a:lnSpc>
              <a:spcBef>
                <a:spcPct val="0"/>
              </a:spcBef>
            </a:pPr>
            <a:endParaRPr lang="en-US" sz="2399" b="1" u="sng" dirty="0">
              <a:solidFill>
                <a:srgbClr val="000000"/>
              </a:solidFill>
              <a:latin typeface="Arimo Bold"/>
              <a:ea typeface="Arimo Bold"/>
              <a:cs typeface="Arimo Bold"/>
              <a:sym typeface="Arimo Bold"/>
              <a:hlinkClick r:id="rId2" tooltip="https://www.linkedin.com/in/radwa-badran-666595272/"/>
            </a:endParaRPr>
          </a:p>
        </p:txBody>
      </p:sp>
      <p:pic>
        <p:nvPicPr>
          <p:cNvPr id="17" name="Picture 16">
            <a:extLst>
              <a:ext uri="{FF2B5EF4-FFF2-40B4-BE49-F238E27FC236}">
                <a16:creationId xmlns:a16="http://schemas.microsoft.com/office/drawing/2014/main" id="{1C148BB4-224B-48D0-A6F3-8560CAC950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2250" y="1383547"/>
            <a:ext cx="1600200" cy="2133600"/>
          </a:xfrm>
          <a:prstGeom prst="rect">
            <a:avLst/>
          </a:prstGeom>
        </p:spPr>
      </p:pic>
      <p:sp>
        <p:nvSpPr>
          <p:cNvPr id="18" name="TextBox 17">
            <a:extLst>
              <a:ext uri="{FF2B5EF4-FFF2-40B4-BE49-F238E27FC236}">
                <a16:creationId xmlns:a16="http://schemas.microsoft.com/office/drawing/2014/main" id="{C64D191F-EB10-E194-B650-B8F257BD2458}"/>
              </a:ext>
            </a:extLst>
          </p:cNvPr>
          <p:cNvSpPr txBox="1"/>
          <p:nvPr/>
        </p:nvSpPr>
        <p:spPr>
          <a:xfrm>
            <a:off x="182216" y="3620679"/>
            <a:ext cx="1680268" cy="369332"/>
          </a:xfrm>
          <a:prstGeom prst="rect">
            <a:avLst/>
          </a:prstGeom>
          <a:noFill/>
        </p:spPr>
        <p:txBody>
          <a:bodyPr wrap="none" rtlCol="0">
            <a:spAutoFit/>
          </a:bodyPr>
          <a:lstStyle/>
          <a:p>
            <a:r>
              <a:rPr lang="en-US" dirty="0"/>
              <a:t>Ahmed Hesham</a:t>
            </a:r>
          </a:p>
        </p:txBody>
      </p:sp>
      <p:pic>
        <p:nvPicPr>
          <p:cNvPr id="20" name="Picture 19">
            <a:extLst>
              <a:ext uri="{FF2B5EF4-FFF2-40B4-BE49-F238E27FC236}">
                <a16:creationId xmlns:a16="http://schemas.microsoft.com/office/drawing/2014/main" id="{05DCA7E6-E267-7DBD-9D26-936FA51941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16991" y="1383771"/>
            <a:ext cx="1702878" cy="2133600"/>
          </a:xfrm>
          <a:prstGeom prst="rect">
            <a:avLst/>
          </a:prstGeom>
        </p:spPr>
      </p:pic>
      <p:sp>
        <p:nvSpPr>
          <p:cNvPr id="21" name="TextBox 20">
            <a:extLst>
              <a:ext uri="{FF2B5EF4-FFF2-40B4-BE49-F238E27FC236}">
                <a16:creationId xmlns:a16="http://schemas.microsoft.com/office/drawing/2014/main" id="{18A03391-05E4-6FD2-95C5-C7805DF6BEFE}"/>
              </a:ext>
            </a:extLst>
          </p:cNvPr>
          <p:cNvSpPr txBox="1"/>
          <p:nvPr/>
        </p:nvSpPr>
        <p:spPr>
          <a:xfrm>
            <a:off x="2222281" y="3620679"/>
            <a:ext cx="1441420" cy="369332"/>
          </a:xfrm>
          <a:prstGeom prst="rect">
            <a:avLst/>
          </a:prstGeom>
          <a:noFill/>
        </p:spPr>
        <p:txBody>
          <a:bodyPr wrap="none" rtlCol="0">
            <a:spAutoFit/>
          </a:bodyPr>
          <a:lstStyle/>
          <a:p>
            <a:r>
              <a:rPr lang="en-US" dirty="0"/>
              <a:t>Omar Ahmed</a:t>
            </a:r>
          </a:p>
        </p:txBody>
      </p:sp>
      <p:pic>
        <p:nvPicPr>
          <p:cNvPr id="23" name="Picture 22">
            <a:extLst>
              <a:ext uri="{FF2B5EF4-FFF2-40B4-BE49-F238E27FC236}">
                <a16:creationId xmlns:a16="http://schemas.microsoft.com/office/drawing/2014/main" id="{5B8BAB8E-B845-49E2-6C12-BF253E90D8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14410" y="1383547"/>
            <a:ext cx="1702878" cy="2133600"/>
          </a:xfrm>
          <a:prstGeom prst="rect">
            <a:avLst/>
          </a:prstGeom>
        </p:spPr>
      </p:pic>
      <p:sp>
        <p:nvSpPr>
          <p:cNvPr id="24" name="TextBox 23">
            <a:extLst>
              <a:ext uri="{FF2B5EF4-FFF2-40B4-BE49-F238E27FC236}">
                <a16:creationId xmlns:a16="http://schemas.microsoft.com/office/drawing/2014/main" id="{C84C7EE2-B1E3-58E7-76BC-CE5E41DEDFA0}"/>
              </a:ext>
            </a:extLst>
          </p:cNvPr>
          <p:cNvSpPr txBox="1"/>
          <p:nvPr/>
        </p:nvSpPr>
        <p:spPr>
          <a:xfrm>
            <a:off x="4026447" y="3620679"/>
            <a:ext cx="1478803" cy="369332"/>
          </a:xfrm>
          <a:prstGeom prst="rect">
            <a:avLst/>
          </a:prstGeom>
          <a:noFill/>
        </p:spPr>
        <p:txBody>
          <a:bodyPr wrap="none" rtlCol="0">
            <a:spAutoFit/>
          </a:bodyPr>
          <a:lstStyle/>
          <a:p>
            <a:r>
              <a:rPr lang="en-US" dirty="0"/>
              <a:t>Hesham Dahy</a:t>
            </a:r>
          </a:p>
        </p:txBody>
      </p:sp>
      <p:pic>
        <p:nvPicPr>
          <p:cNvPr id="26" name="Picture 25">
            <a:extLst>
              <a:ext uri="{FF2B5EF4-FFF2-40B4-BE49-F238E27FC236}">
                <a16:creationId xmlns:a16="http://schemas.microsoft.com/office/drawing/2014/main" id="{7DC3AD1B-C7BC-8C9B-4C73-9C32777A0E3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11829" y="1391145"/>
            <a:ext cx="1702878" cy="2133600"/>
          </a:xfrm>
          <a:prstGeom prst="rect">
            <a:avLst/>
          </a:prstGeom>
        </p:spPr>
      </p:pic>
      <p:pic>
        <p:nvPicPr>
          <p:cNvPr id="28" name="Picture 27">
            <a:extLst>
              <a:ext uri="{FF2B5EF4-FFF2-40B4-BE49-F238E27FC236}">
                <a16:creationId xmlns:a16="http://schemas.microsoft.com/office/drawing/2014/main" id="{DAD2F076-7A57-6D0F-AB5C-F1F6B959DA7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31059" y="1388560"/>
            <a:ext cx="1702878" cy="2123573"/>
          </a:xfrm>
          <a:prstGeom prst="rect">
            <a:avLst/>
          </a:prstGeom>
        </p:spPr>
      </p:pic>
      <p:sp>
        <p:nvSpPr>
          <p:cNvPr id="29" name="TextBox 28">
            <a:extLst>
              <a:ext uri="{FF2B5EF4-FFF2-40B4-BE49-F238E27FC236}">
                <a16:creationId xmlns:a16="http://schemas.microsoft.com/office/drawing/2014/main" id="{0DC80D8A-91B0-3E7E-0578-E16048EA3DBF}"/>
              </a:ext>
            </a:extLst>
          </p:cNvPr>
          <p:cNvSpPr txBox="1"/>
          <p:nvPr/>
        </p:nvSpPr>
        <p:spPr>
          <a:xfrm>
            <a:off x="5867996" y="3605048"/>
            <a:ext cx="1725024" cy="369332"/>
          </a:xfrm>
          <a:prstGeom prst="rect">
            <a:avLst/>
          </a:prstGeom>
          <a:noFill/>
        </p:spPr>
        <p:txBody>
          <a:bodyPr wrap="none" rtlCol="0">
            <a:spAutoFit/>
          </a:bodyPr>
          <a:lstStyle/>
          <a:p>
            <a:r>
              <a:rPr lang="en-US" dirty="0"/>
              <a:t>Basmala Moataz</a:t>
            </a:r>
          </a:p>
        </p:txBody>
      </p:sp>
      <p:sp>
        <p:nvSpPr>
          <p:cNvPr id="30" name="TextBox 29">
            <a:extLst>
              <a:ext uri="{FF2B5EF4-FFF2-40B4-BE49-F238E27FC236}">
                <a16:creationId xmlns:a16="http://schemas.microsoft.com/office/drawing/2014/main" id="{DF1C0414-7497-1152-44FF-C78794516AE0}"/>
              </a:ext>
            </a:extLst>
          </p:cNvPr>
          <p:cNvSpPr txBox="1"/>
          <p:nvPr/>
        </p:nvSpPr>
        <p:spPr>
          <a:xfrm>
            <a:off x="7955766" y="3624974"/>
            <a:ext cx="1370183" cy="369332"/>
          </a:xfrm>
          <a:prstGeom prst="rect">
            <a:avLst/>
          </a:prstGeom>
          <a:noFill/>
        </p:spPr>
        <p:txBody>
          <a:bodyPr wrap="none" rtlCol="0">
            <a:spAutoFit/>
          </a:bodyPr>
          <a:lstStyle/>
          <a:p>
            <a:r>
              <a:rPr lang="en-US" dirty="0"/>
              <a:t>Shahd Sayed</a:t>
            </a: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888625"/>
            <a:ext cx="7008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Motivation &amp; Problem </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US"/>
          </a:p>
        </p:txBody>
      </p:sp>
      <p:sp>
        <p:nvSpPr>
          <p:cNvPr id="5" name="Freeform 5"/>
          <p:cNvSpPr/>
          <p:nvPr/>
        </p:nvSpPr>
        <p:spPr>
          <a:xfrm>
            <a:off x="2248125" y="4072357"/>
            <a:ext cx="4931371" cy="2146597"/>
          </a:xfrm>
          <a:custGeom>
            <a:avLst/>
            <a:gdLst/>
            <a:ahLst/>
            <a:cxnLst/>
            <a:rect l="l" t="t" r="r" b="b"/>
            <a:pathLst>
              <a:path w="4931371" h="2146597">
                <a:moveTo>
                  <a:pt x="0" y="0"/>
                </a:moveTo>
                <a:lnTo>
                  <a:pt x="4931371" y="0"/>
                </a:lnTo>
                <a:lnTo>
                  <a:pt x="4931371" y="2146597"/>
                </a:lnTo>
                <a:lnTo>
                  <a:pt x="0" y="2146597"/>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7" name="TextBox 7"/>
          <p:cNvSpPr txBox="1"/>
          <p:nvPr/>
        </p:nvSpPr>
        <p:spPr>
          <a:xfrm>
            <a:off x="449106" y="270052"/>
            <a:ext cx="6730389"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Motivation &amp; Problem</a:t>
            </a:r>
          </a:p>
        </p:txBody>
      </p:sp>
      <p:sp>
        <p:nvSpPr>
          <p:cNvPr id="8"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Abnormal chest X-rays wait, and the finding is named late</a:t>
            </a:r>
          </a:p>
        </p:txBody>
      </p:sp>
      <p:sp>
        <p:nvSpPr>
          <p:cNvPr id="9" name="The problem card"/>
          <p:cNvSpPr/>
          <p:nvPr/>
        </p:nvSpPr>
        <p:spPr>
          <a:xfrm>
            <a:off x="457200" y="1828800"/>
            <a:ext cx="4389120" cy="214884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ction label"/>
          <p:cNvSpPr txBox="1"/>
          <p:nvPr/>
        </p:nvSpPr>
        <p:spPr>
          <a:xfrm>
            <a:off x="685800" y="1965960"/>
            <a:ext cx="3931920" cy="228600"/>
          </a:xfrm>
          <a:prstGeom prst="rect">
            <a:avLst/>
          </a:prstGeom>
          <a:noFill/>
        </p:spPr>
        <p:txBody>
          <a:bodyPr wrap="square" lIns="0" rIns="0" tIns="0" bIns="0" anchor="t">
            <a:spAutoFit/>
          </a:bodyPr>
          <a:lstStyle/>
          <a:p>
            <a:pPr algn="l">
              <a:spcAft>
                <a:spcPts val="600"/>
              </a:spcAft>
            </a:pPr>
            <a:r>
              <a:rPr sz="1200" b="1" i="0">
                <a:solidFill>
                  <a:srgbClr val="009BD6"/>
                </a:solidFill>
                <a:latin typeface="Arial"/>
              </a:rPr>
              <a:t>THE PROBLEM</a:t>
            </a:r>
          </a:p>
        </p:txBody>
      </p:sp>
      <p:sp>
        <p:nvSpPr>
          <p:cNvPr id="11" name="The problem bullets"/>
          <p:cNvSpPr txBox="1"/>
          <p:nvPr/>
        </p:nvSpPr>
        <p:spPr>
          <a:xfrm>
            <a:off x="685800" y="2286000"/>
            <a:ext cx="3931920" cy="1645920"/>
          </a:xfrm>
          <a:prstGeom prst="rect">
            <a:avLst/>
          </a:prstGeom>
          <a:noFill/>
        </p:spPr>
        <p:txBody>
          <a:bodyPr wrap="square" lIns="0" rIns="0" tIns="0" bIns="0" anchor="t">
            <a:spAutoFit/>
          </a:bodyPr>
          <a:lstStyle/>
          <a:p>
            <a:pPr algn="l" marL="201168" indent="-201168">
              <a:spcAft>
                <a:spcPts val="700"/>
              </a:spcAft>
              <a:buClr>
                <a:srgbClr val="193EB0"/>
              </a:buClr>
              <a:buChar char="•"/>
            </a:pPr>
            <a:r>
              <a:rPr sz="1500" b="1" i="0">
                <a:solidFill>
                  <a:srgbClr val="193EB0"/>
                </a:solidFill>
                <a:latin typeface="Arial"/>
              </a:rPr>
              <a:t>X-ray and note are read separately, </a:t>
            </a:r>
            <a:r>
              <a:rPr sz="1500" b="0" i="0">
                <a:solidFill>
                  <a:srgbClr val="1F2937"/>
                </a:solidFill>
                <a:latin typeface="Arial"/>
              </a:rPr>
              <a:t>by different people at different times</a:t>
            </a:r>
          </a:p>
          <a:p>
            <a:pPr algn="l" marL="201168" indent="-201168">
              <a:spcAft>
                <a:spcPts val="700"/>
              </a:spcAft>
              <a:buClr>
                <a:srgbClr val="193EB0"/>
              </a:buClr>
              <a:buChar char="•"/>
            </a:pPr>
            <a:r>
              <a:rPr sz="1500" b="1" i="0">
                <a:solidFill>
                  <a:srgbClr val="193EB0"/>
                </a:solidFill>
                <a:latin typeface="Arial"/>
              </a:rPr>
              <a:t>Too few specialists </a:t>
            </a:r>
            <a:r>
              <a:rPr sz="1500" b="0" i="0">
                <a:solidFill>
                  <a:srgbClr val="1F2937"/>
                </a:solidFill>
                <a:latin typeface="Arial"/>
              </a:rPr>
              <a:t>for too many images: reports are delayed for hours</a:t>
            </a:r>
          </a:p>
          <a:p>
            <a:pPr algn="l" marL="201168" indent="-201168">
              <a:spcAft>
                <a:spcPts val="700"/>
              </a:spcAft>
              <a:buClr>
                <a:srgbClr val="193EB0"/>
              </a:buClr>
              <a:buChar char="•"/>
            </a:pPr>
            <a:r>
              <a:rPr sz="1500" b="1" i="0">
                <a:solidFill>
                  <a:srgbClr val="193EB0"/>
                </a:solidFill>
                <a:latin typeface="Arial"/>
              </a:rPr>
              <a:t>Long, unstructured notes </a:t>
            </a:r>
            <a:r>
              <a:rPr sz="1500" b="0" i="0">
                <a:solidFill>
                  <a:srgbClr val="1F2937"/>
                </a:solidFill>
                <a:latin typeface="Arial"/>
              </a:rPr>
              <a:t>under time pressure: key details get overlooked</a:t>
            </a:r>
          </a:p>
        </p:txBody>
      </p:sp>
      <p:sp>
        <p:nvSpPr>
          <p:cNvPr id="12" name="What PulmoTriage does card"/>
          <p:cNvSpPr/>
          <p:nvPr/>
        </p:nvSpPr>
        <p:spPr>
          <a:xfrm>
            <a:off x="5029200" y="1828800"/>
            <a:ext cx="4389120" cy="214884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ction label"/>
          <p:cNvSpPr txBox="1"/>
          <p:nvPr/>
        </p:nvSpPr>
        <p:spPr>
          <a:xfrm>
            <a:off x="5257800" y="1965960"/>
            <a:ext cx="3931920" cy="228600"/>
          </a:xfrm>
          <a:prstGeom prst="rect">
            <a:avLst/>
          </a:prstGeom>
          <a:noFill/>
        </p:spPr>
        <p:txBody>
          <a:bodyPr wrap="square" lIns="0" rIns="0" tIns="0" bIns="0" anchor="t">
            <a:spAutoFit/>
          </a:bodyPr>
          <a:lstStyle/>
          <a:p>
            <a:pPr algn="l">
              <a:spcAft>
                <a:spcPts val="600"/>
              </a:spcAft>
            </a:pPr>
            <a:r>
              <a:rPr sz="1200" b="1" i="0">
                <a:solidFill>
                  <a:srgbClr val="009BD6"/>
                </a:solidFill>
                <a:latin typeface="Arial"/>
              </a:rPr>
              <a:t>WHAT PULMOTRIAGE DOES</a:t>
            </a:r>
          </a:p>
        </p:txBody>
      </p:sp>
      <p:sp>
        <p:nvSpPr>
          <p:cNvPr id="14" name="What PulmoTriage does bullets"/>
          <p:cNvSpPr txBox="1"/>
          <p:nvPr/>
        </p:nvSpPr>
        <p:spPr>
          <a:xfrm>
            <a:off x="5257800" y="2286000"/>
            <a:ext cx="3931920" cy="1645920"/>
          </a:xfrm>
          <a:prstGeom prst="rect">
            <a:avLst/>
          </a:prstGeom>
          <a:noFill/>
        </p:spPr>
        <p:txBody>
          <a:bodyPr wrap="square" lIns="0" rIns="0" tIns="0" bIns="0" anchor="t">
            <a:spAutoFit/>
          </a:bodyPr>
          <a:lstStyle/>
          <a:p>
            <a:pPr algn="l" marL="201168" indent="-201168">
              <a:spcAft>
                <a:spcPts val="700"/>
              </a:spcAft>
              <a:buClr>
                <a:srgbClr val="193EB0"/>
              </a:buClr>
              <a:buChar char="•"/>
            </a:pPr>
            <a:r>
              <a:rPr sz="1500" b="1" i="0">
                <a:solidFill>
                  <a:srgbClr val="193EB0"/>
                </a:solidFill>
                <a:latin typeface="Arial"/>
              </a:rPr>
              <a:t>Reads both together, </a:t>
            </a:r>
            <a:r>
              <a:rPr sz="1500" b="0" i="0">
                <a:solidFill>
                  <a:srgbClr val="1F2937"/>
                </a:solidFill>
                <a:latin typeface="Arial"/>
              </a:rPr>
              <a:t>the X-ray and the note in one request</a:t>
            </a:r>
          </a:p>
          <a:p>
            <a:pPr algn="l" marL="201168" indent="-201168">
              <a:spcAft>
                <a:spcPts val="700"/>
              </a:spcAft>
              <a:buClr>
                <a:srgbClr val="193EB0"/>
              </a:buClr>
              <a:buChar char="•"/>
            </a:pPr>
            <a:r>
              <a:rPr sz="1500" b="1" i="0">
                <a:solidFill>
                  <a:srgbClr val="193EB0"/>
                </a:solidFill>
                <a:latin typeface="Arial"/>
              </a:rPr>
              <a:t>Classifies every case </a:t>
            </a:r>
            <a:r>
              <a:rPr sz="1500" b="0" i="0">
                <a:solidFill>
                  <a:srgbClr val="1F2937"/>
                </a:solidFill>
                <a:latin typeface="Arial"/>
              </a:rPr>
              <a:t>as normal or abnormal and names the findings</a:t>
            </a:r>
          </a:p>
          <a:p>
            <a:pPr algn="l" marL="201168" indent="-201168">
              <a:spcAft>
                <a:spcPts val="700"/>
              </a:spcAft>
              <a:buClr>
                <a:srgbClr val="193EB0"/>
              </a:buClr>
              <a:buChar char="•"/>
            </a:pPr>
            <a:r>
              <a:rPr sz="1500" b="1" i="0">
                <a:solidFill>
                  <a:srgbClr val="193EB0"/>
                </a:solidFill>
                <a:latin typeface="Arial"/>
              </a:rPr>
              <a:t>Shows its evidence: </a:t>
            </a:r>
            <a:r>
              <a:rPr sz="1500" b="0" i="0">
                <a:solidFill>
                  <a:srgbClr val="1F2937"/>
                </a:solidFill>
                <a:latin typeface="Arial"/>
              </a:rPr>
              <a:t>a heatmap on the X-ray and highlighted words in the note</a:t>
            </a: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7008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Targeted audience</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6730389"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Targeted audience</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Built for the people who read chest X-rays every day</a:t>
            </a:r>
          </a:p>
        </p:txBody>
      </p:sp>
      <p:sp>
        <p:nvSpPr>
          <p:cNvPr id="8" name="Audience card 1"/>
          <p:cNvSpPr/>
          <p:nvPr/>
        </p:nvSpPr>
        <p:spPr>
          <a:xfrm>
            <a:off x="457200" y="1965960"/>
            <a:ext cx="4389120" cy="15087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udience icon bg 1"/>
          <p:cNvSpPr/>
          <p:nvPr/>
        </p:nvSpPr>
        <p:spPr>
          <a:xfrm>
            <a:off x="685800" y="2350008"/>
            <a:ext cx="731520" cy="73152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Audience icon 1" descr="nurse.png"/>
          <p:cNvPicPr>
            <a:picLocks noChangeAspect="1"/>
          </p:cNvPicPr>
          <p:nvPr/>
        </p:nvPicPr>
        <p:blipFill>
          <a:blip r:embed="rId3"/>
          <a:stretch>
            <a:fillRect/>
          </a:stretch>
        </p:blipFill>
        <p:spPr>
          <a:xfrm>
            <a:off x="868680" y="2532888"/>
            <a:ext cx="365760" cy="365760"/>
          </a:xfrm>
          <a:prstGeom prst="rect">
            <a:avLst/>
          </a:prstGeom>
        </p:spPr>
      </p:pic>
      <p:sp>
        <p:nvSpPr>
          <p:cNvPr id="11" name="Audience title 1"/>
          <p:cNvSpPr txBox="1"/>
          <p:nvPr/>
        </p:nvSpPr>
        <p:spPr>
          <a:xfrm>
            <a:off x="1600200" y="2148840"/>
            <a:ext cx="3063240" cy="274320"/>
          </a:xfrm>
          <a:prstGeom prst="rect">
            <a:avLst/>
          </a:prstGeom>
          <a:noFill/>
        </p:spPr>
        <p:txBody>
          <a:bodyPr wrap="square" lIns="0" tIns="0" rIns="0" bIns="0" anchor="t">
            <a:spAutoFit/>
          </a:bodyPr>
          <a:lstStyle/>
          <a:p>
            <a:pPr algn="l">
              <a:spcAft>
                <a:spcPts val="600"/>
              </a:spcAft>
            </a:pPr>
            <a:r>
              <a:rPr sz="1600" b="1" i="0">
                <a:solidFill>
                  <a:srgbClr val="193EB0"/>
                </a:solidFill>
                <a:latin typeface="Arial"/>
              </a:rPr>
              <a:t>Triage nurses &amp; ER doctors</a:t>
            </a:r>
          </a:p>
        </p:txBody>
      </p:sp>
      <p:sp>
        <p:nvSpPr>
          <p:cNvPr id="12" name="Audience text 1"/>
          <p:cNvSpPr txBox="1"/>
          <p:nvPr/>
        </p:nvSpPr>
        <p:spPr>
          <a:xfrm>
            <a:off x="1600200" y="2496312"/>
            <a:ext cx="3063240" cy="86868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Know at once if a case looks abnormal and which finding is suspected.</a:t>
            </a:r>
          </a:p>
        </p:txBody>
      </p:sp>
      <p:sp>
        <p:nvSpPr>
          <p:cNvPr id="13" name="Audience card 2"/>
          <p:cNvSpPr/>
          <p:nvPr/>
        </p:nvSpPr>
        <p:spPr>
          <a:xfrm>
            <a:off x="5029200" y="1965960"/>
            <a:ext cx="4389120" cy="15087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Audience icon bg 2"/>
          <p:cNvSpPr/>
          <p:nvPr/>
        </p:nvSpPr>
        <p:spPr>
          <a:xfrm>
            <a:off x="5257800" y="2350008"/>
            <a:ext cx="731520" cy="73152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Audience icon 2" descr="xray.png"/>
          <p:cNvPicPr>
            <a:picLocks noChangeAspect="1"/>
          </p:cNvPicPr>
          <p:nvPr/>
        </p:nvPicPr>
        <p:blipFill>
          <a:blip r:embed="rId4"/>
          <a:stretch>
            <a:fillRect/>
          </a:stretch>
        </p:blipFill>
        <p:spPr>
          <a:xfrm>
            <a:off x="5440680" y="2532888"/>
            <a:ext cx="365760" cy="365760"/>
          </a:xfrm>
          <a:prstGeom prst="rect">
            <a:avLst/>
          </a:prstGeom>
        </p:spPr>
      </p:pic>
      <p:sp>
        <p:nvSpPr>
          <p:cNvPr id="16" name="Audience title 2"/>
          <p:cNvSpPr txBox="1"/>
          <p:nvPr/>
        </p:nvSpPr>
        <p:spPr>
          <a:xfrm>
            <a:off x="6172200" y="2148840"/>
            <a:ext cx="3063240" cy="274320"/>
          </a:xfrm>
          <a:prstGeom prst="rect">
            <a:avLst/>
          </a:prstGeom>
          <a:noFill/>
        </p:spPr>
        <p:txBody>
          <a:bodyPr wrap="square" lIns="0" tIns="0" rIns="0" bIns="0" anchor="t">
            <a:spAutoFit/>
          </a:bodyPr>
          <a:lstStyle/>
          <a:p>
            <a:pPr algn="l">
              <a:spcAft>
                <a:spcPts val="600"/>
              </a:spcAft>
            </a:pPr>
            <a:r>
              <a:rPr sz="1600" b="1" i="0">
                <a:solidFill>
                  <a:srgbClr val="193EB0"/>
                </a:solidFill>
                <a:latin typeface="Arial"/>
              </a:rPr>
              <a:t>Radiologists</a:t>
            </a:r>
          </a:p>
        </p:txBody>
      </p:sp>
      <p:sp>
        <p:nvSpPr>
          <p:cNvPr id="17" name="Audience text 2"/>
          <p:cNvSpPr txBox="1"/>
          <p:nvPr/>
        </p:nvSpPr>
        <p:spPr>
          <a:xfrm>
            <a:off x="6172200" y="2496312"/>
            <a:ext cx="3063240" cy="86868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A second pair of eyes that highlights suspicious areas and relevant symptoms.</a:t>
            </a:r>
          </a:p>
        </p:txBody>
      </p:sp>
      <p:sp>
        <p:nvSpPr>
          <p:cNvPr id="18" name="Audience card 3"/>
          <p:cNvSpPr/>
          <p:nvPr/>
        </p:nvSpPr>
        <p:spPr>
          <a:xfrm>
            <a:off x="457200" y="3657600"/>
            <a:ext cx="4389120" cy="15087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Audience icon bg 3"/>
          <p:cNvSpPr/>
          <p:nvPr/>
        </p:nvSpPr>
        <p:spPr>
          <a:xfrm>
            <a:off x="685800" y="4041648"/>
            <a:ext cx="731520" cy="73152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Audience icon 3" descr="patient.png"/>
          <p:cNvPicPr>
            <a:picLocks noChangeAspect="1"/>
          </p:cNvPicPr>
          <p:nvPr/>
        </p:nvPicPr>
        <p:blipFill>
          <a:blip r:embed="rId5"/>
          <a:stretch>
            <a:fillRect/>
          </a:stretch>
        </p:blipFill>
        <p:spPr>
          <a:xfrm>
            <a:off x="868680" y="4224528"/>
            <a:ext cx="365760" cy="365760"/>
          </a:xfrm>
          <a:prstGeom prst="rect">
            <a:avLst/>
          </a:prstGeom>
        </p:spPr>
      </p:pic>
      <p:sp>
        <p:nvSpPr>
          <p:cNvPr id="21" name="Audience title 3"/>
          <p:cNvSpPr txBox="1"/>
          <p:nvPr/>
        </p:nvSpPr>
        <p:spPr>
          <a:xfrm>
            <a:off x="1600200" y="3840480"/>
            <a:ext cx="3063240" cy="274320"/>
          </a:xfrm>
          <a:prstGeom prst="rect">
            <a:avLst/>
          </a:prstGeom>
          <a:noFill/>
        </p:spPr>
        <p:txBody>
          <a:bodyPr wrap="square" lIns="0" tIns="0" rIns="0" bIns="0" anchor="t">
            <a:spAutoFit/>
          </a:bodyPr>
          <a:lstStyle/>
          <a:p>
            <a:pPr algn="l">
              <a:spcAft>
                <a:spcPts val="600"/>
              </a:spcAft>
            </a:pPr>
            <a:r>
              <a:rPr sz="1600" b="1" i="0">
                <a:solidFill>
                  <a:srgbClr val="193EB0"/>
                </a:solidFill>
                <a:latin typeface="Arial"/>
              </a:rPr>
              <a:t>Patients</a:t>
            </a:r>
          </a:p>
        </p:txBody>
      </p:sp>
      <p:sp>
        <p:nvSpPr>
          <p:cNvPr id="22" name="Audience text 3"/>
          <p:cNvSpPr txBox="1"/>
          <p:nvPr/>
        </p:nvSpPr>
        <p:spPr>
          <a:xfrm>
            <a:off x="1600200" y="4187952"/>
            <a:ext cx="3063240" cy="86868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A faster answer when something is wrong in their lungs.</a:t>
            </a:r>
          </a:p>
        </p:txBody>
      </p:sp>
      <p:sp>
        <p:nvSpPr>
          <p:cNvPr id="23" name="Audience card 4"/>
          <p:cNvSpPr/>
          <p:nvPr/>
        </p:nvSpPr>
        <p:spPr>
          <a:xfrm>
            <a:off x="5029200" y="3657600"/>
            <a:ext cx="4389120" cy="15087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Audience icon bg 4"/>
          <p:cNvSpPr/>
          <p:nvPr/>
        </p:nvSpPr>
        <p:spPr>
          <a:xfrm>
            <a:off x="5257800" y="4041648"/>
            <a:ext cx="731520" cy="73152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Audience icon 4" descr="hospital.png"/>
          <p:cNvPicPr>
            <a:picLocks noChangeAspect="1"/>
          </p:cNvPicPr>
          <p:nvPr/>
        </p:nvPicPr>
        <p:blipFill>
          <a:blip r:embed="rId6"/>
          <a:stretch>
            <a:fillRect/>
          </a:stretch>
        </p:blipFill>
        <p:spPr>
          <a:xfrm>
            <a:off x="5440680" y="4224528"/>
            <a:ext cx="365760" cy="365760"/>
          </a:xfrm>
          <a:prstGeom prst="rect">
            <a:avLst/>
          </a:prstGeom>
        </p:spPr>
      </p:pic>
      <p:sp>
        <p:nvSpPr>
          <p:cNvPr id="26" name="Audience title 4"/>
          <p:cNvSpPr txBox="1"/>
          <p:nvPr/>
        </p:nvSpPr>
        <p:spPr>
          <a:xfrm>
            <a:off x="6172200" y="3840480"/>
            <a:ext cx="3063240" cy="274320"/>
          </a:xfrm>
          <a:prstGeom prst="rect">
            <a:avLst/>
          </a:prstGeom>
          <a:noFill/>
        </p:spPr>
        <p:txBody>
          <a:bodyPr wrap="square" lIns="0" tIns="0" rIns="0" bIns="0" anchor="t">
            <a:spAutoFit/>
          </a:bodyPr>
          <a:lstStyle/>
          <a:p>
            <a:pPr algn="l">
              <a:spcAft>
                <a:spcPts val="600"/>
              </a:spcAft>
            </a:pPr>
            <a:r>
              <a:rPr sz="1600" b="1" i="0">
                <a:solidFill>
                  <a:srgbClr val="193EB0"/>
                </a:solidFill>
                <a:latin typeface="Arial"/>
              </a:rPr>
              <a:t>Hospitals with few specialists</a:t>
            </a:r>
          </a:p>
        </p:txBody>
      </p:sp>
      <p:sp>
        <p:nvSpPr>
          <p:cNvPr id="27" name="Audience text 4"/>
          <p:cNvSpPr txBox="1"/>
          <p:nvPr/>
        </p:nvSpPr>
        <p:spPr>
          <a:xfrm>
            <a:off x="6172200" y="4187952"/>
            <a:ext cx="3063240" cy="86868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A faster first reading without hiring more radiologists.</a:t>
            </a:r>
          </a:p>
        </p:txBody>
      </p:sp>
      <p:sp>
        <p:nvSpPr>
          <p:cNvPr id="28" name="Human-in-the-loop banner"/>
          <p:cNvSpPr/>
          <p:nvPr/>
        </p:nvSpPr>
        <p:spPr>
          <a:xfrm>
            <a:off x="457200" y="5440680"/>
            <a:ext cx="8961120" cy="640080"/>
          </a:xfrm>
          <a:prstGeom prst="roundRect">
            <a:avLst>
              <a:gd name="adj" fmla="val 15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The tool flags and names findings; the final decision always stays with the doctor.</a:t>
            </a:r>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Project Overview</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How PulmoTriage works</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One X-ray + one note in: normal or abnormal, the findings and the evidence out</a:t>
            </a:r>
          </a:p>
        </p:txBody>
      </p:sp>
      <p:pic>
        <p:nvPicPr>
          <p:cNvPr id="8" name="Architecture diagram" descr="image1.png"/>
          <p:cNvPicPr>
            <a:picLocks noChangeAspect="1"/>
          </p:cNvPicPr>
          <p:nvPr/>
        </p:nvPicPr>
        <p:blipFill>
          <a:blip r:embed="rId3"/>
          <a:stretch>
            <a:fillRect/>
          </a:stretch>
        </p:blipFill>
        <p:spPr>
          <a:xfrm>
            <a:off x="822960" y="1920240"/>
            <a:ext cx="8229600" cy="3550632"/>
          </a:xfrm>
          <a:prstGeom prst="rect">
            <a:avLst/>
          </a:prstGeom>
        </p:spPr>
      </p:pic>
      <p:sp>
        <p:nvSpPr>
          <p:cNvPr id="9" name="Why fusion"/>
          <p:cNvSpPr txBox="1"/>
          <p:nvPr/>
        </p:nvSpPr>
        <p:spPr>
          <a:xfrm>
            <a:off x="457200" y="5669280"/>
            <a:ext cx="8961120" cy="45720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Why fuse both? </a:t>
            </a:r>
            <a:r>
              <a:rPr sz="1400" b="0" i="0">
                <a:solidFill>
                  <a:srgbClr val="1F2937"/>
                </a:solidFill>
                <a:latin typeface="Arial"/>
              </a:rPr>
              <a:t>A faint shadow plus a note saying “fever and cough for 5 days” is easy to miss when the two sources are read separately.</a:t>
            </a: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Data Pipeline</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End-to-end data pipeline</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From raw reports and X-rays to model-ready batches in seven steps</a:t>
            </a:r>
          </a:p>
        </p:txBody>
      </p:sp>
      <p:sp>
        <p:nvSpPr>
          <p:cNvPr id="8" name="Pipeline row 1"/>
          <p:cNvSpPr/>
          <p:nvPr/>
        </p:nvSpPr>
        <p:spPr>
          <a:xfrm>
            <a:off x="457200" y="1938528"/>
            <a:ext cx="8961120" cy="493776"/>
          </a:xfrm>
          <a:prstGeom prst="roundRect">
            <a:avLst>
              <a:gd name="adj" fmla="val 12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tep number 1"/>
          <p:cNvSpPr/>
          <p:nvPr/>
        </p:nvSpPr>
        <p:spPr>
          <a:xfrm>
            <a:off x="566928" y="2002536"/>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1</a:t>
            </a:r>
          </a:p>
        </p:txBody>
      </p:sp>
      <p:sp>
        <p:nvSpPr>
          <p:cNvPr id="10" name="Step name 1"/>
          <p:cNvSpPr txBox="1"/>
          <p:nvPr/>
        </p:nvSpPr>
        <p:spPr>
          <a:xfrm>
            <a:off x="1097280" y="2011680"/>
            <a:ext cx="1097280" cy="365760"/>
          </a:xfrm>
          <a:prstGeom prst="rect">
            <a:avLst/>
          </a:prstGeom>
          <a:noFill/>
        </p:spPr>
        <p:txBody>
          <a:bodyPr wrap="square" lIns="0" tIns="0" rIns="0" bIns="0" anchor="ctr">
            <a:spAutoFit/>
          </a:bodyPr>
          <a:lstStyle/>
          <a:p>
            <a:pPr algn="l">
              <a:spcAft>
                <a:spcPts val="0"/>
              </a:spcAft>
            </a:pPr>
            <a:r>
              <a:rPr sz="1600" b="1" i="0">
                <a:solidFill>
                  <a:srgbClr val="193EB0"/>
                </a:solidFill>
                <a:latin typeface="Arial"/>
              </a:rPr>
              <a:t>Audit</a:t>
            </a:r>
          </a:p>
        </p:txBody>
      </p:sp>
      <p:sp>
        <p:nvSpPr>
          <p:cNvPr id="11" name="Step detail 1"/>
          <p:cNvSpPr txBox="1"/>
          <p:nvPr/>
        </p:nvSpPr>
        <p:spPr>
          <a:xfrm>
            <a:off x="2194560" y="1975104"/>
            <a:ext cx="3977639" cy="420624"/>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Schema, nulls, cardinality and report-to-image linkage</a:t>
            </a:r>
          </a:p>
        </p:txBody>
      </p:sp>
      <p:sp>
        <p:nvSpPr>
          <p:cNvPr id="12" name="Step result 1"/>
          <p:cNvSpPr txBox="1"/>
          <p:nvPr/>
        </p:nvSpPr>
        <p:spPr>
          <a:xfrm>
            <a:off x="6309360" y="1975104"/>
            <a:ext cx="3017520" cy="420624"/>
          </a:xfrm>
          <a:prstGeom prst="rect">
            <a:avLst/>
          </a:prstGeom>
          <a:noFill/>
        </p:spPr>
        <p:txBody>
          <a:bodyPr wrap="square" lIns="0" tIns="0" rIns="0" bIns="0" anchor="ctr">
            <a:spAutoFit/>
          </a:bodyPr>
          <a:lstStyle/>
          <a:p>
            <a:pPr algn="l">
              <a:spcAft>
                <a:spcPts val="0"/>
              </a:spcAft>
            </a:pPr>
            <a:r>
              <a:rPr sz="1200" b="1" i="0">
                <a:solidFill>
                  <a:srgbClr val="193EB0"/>
                </a:solidFill>
                <a:latin typeface="Arial"/>
              </a:rPr>
              <a:t>3,851 reports · 7,466 images</a:t>
            </a:r>
          </a:p>
        </p:txBody>
      </p:sp>
      <p:sp>
        <p:nvSpPr>
          <p:cNvPr id="13" name="Pipeline row 2"/>
          <p:cNvSpPr/>
          <p:nvPr/>
        </p:nvSpPr>
        <p:spPr>
          <a:xfrm>
            <a:off x="457200" y="2523744"/>
            <a:ext cx="8961120" cy="493776"/>
          </a:xfrm>
          <a:prstGeom prst="roundRect">
            <a:avLst>
              <a:gd name="adj" fmla="val 12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tep number 2"/>
          <p:cNvSpPr/>
          <p:nvPr/>
        </p:nvSpPr>
        <p:spPr>
          <a:xfrm>
            <a:off x="566928" y="2587752"/>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2</a:t>
            </a:r>
          </a:p>
        </p:txBody>
      </p:sp>
      <p:sp>
        <p:nvSpPr>
          <p:cNvPr id="15" name="Step name 2"/>
          <p:cNvSpPr txBox="1"/>
          <p:nvPr/>
        </p:nvSpPr>
        <p:spPr>
          <a:xfrm>
            <a:off x="1097280" y="2596896"/>
            <a:ext cx="1097280" cy="365760"/>
          </a:xfrm>
          <a:prstGeom prst="rect">
            <a:avLst/>
          </a:prstGeom>
          <a:noFill/>
        </p:spPr>
        <p:txBody>
          <a:bodyPr wrap="square" lIns="0" tIns="0" rIns="0" bIns="0" anchor="ctr">
            <a:spAutoFit/>
          </a:bodyPr>
          <a:lstStyle/>
          <a:p>
            <a:pPr algn="l">
              <a:spcAft>
                <a:spcPts val="0"/>
              </a:spcAft>
            </a:pPr>
            <a:r>
              <a:rPr sz="1600" b="1" i="0">
                <a:solidFill>
                  <a:srgbClr val="193EB0"/>
                </a:solidFill>
                <a:latin typeface="Arial"/>
              </a:rPr>
              <a:t>Clean</a:t>
            </a:r>
          </a:p>
        </p:txBody>
      </p:sp>
      <p:sp>
        <p:nvSpPr>
          <p:cNvPr id="16" name="Step detail 2"/>
          <p:cNvSpPr txBox="1"/>
          <p:nvPr/>
        </p:nvSpPr>
        <p:spPr>
          <a:xfrm>
            <a:off x="2194560" y="2560320"/>
            <a:ext cx="3977639" cy="420624"/>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Normalise text, handle nulls and XXXX tokens, remove duplicates</a:t>
            </a:r>
          </a:p>
        </p:txBody>
      </p:sp>
      <p:sp>
        <p:nvSpPr>
          <p:cNvPr id="17" name="Step result 2"/>
          <p:cNvSpPr txBox="1"/>
          <p:nvPr/>
        </p:nvSpPr>
        <p:spPr>
          <a:xfrm>
            <a:off x="6309360" y="2560320"/>
            <a:ext cx="3017520" cy="420624"/>
          </a:xfrm>
          <a:prstGeom prst="rect">
            <a:avLst/>
          </a:prstGeom>
          <a:noFill/>
        </p:spPr>
        <p:txBody>
          <a:bodyPr wrap="square" lIns="0" tIns="0" rIns="0" bIns="0" anchor="ctr">
            <a:spAutoFit/>
          </a:bodyPr>
          <a:lstStyle/>
          <a:p>
            <a:pPr algn="l">
              <a:spcAft>
                <a:spcPts val="0"/>
              </a:spcAft>
            </a:pPr>
            <a:r>
              <a:rPr sz="1200" b="1" i="0">
                <a:solidFill>
                  <a:srgbClr val="193EB0"/>
                </a:solidFill>
                <a:latin typeface="Arial"/>
              </a:rPr>
              <a:t>3 duplicate images removed</a:t>
            </a:r>
          </a:p>
        </p:txBody>
      </p:sp>
      <p:sp>
        <p:nvSpPr>
          <p:cNvPr id="18" name="Pipeline row 3"/>
          <p:cNvSpPr/>
          <p:nvPr/>
        </p:nvSpPr>
        <p:spPr>
          <a:xfrm>
            <a:off x="457200" y="3108960"/>
            <a:ext cx="8961120" cy="493776"/>
          </a:xfrm>
          <a:prstGeom prst="roundRect">
            <a:avLst>
              <a:gd name="adj" fmla="val 12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tep number 3"/>
          <p:cNvSpPr/>
          <p:nvPr/>
        </p:nvSpPr>
        <p:spPr>
          <a:xfrm>
            <a:off x="566928" y="3172968"/>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3</a:t>
            </a:r>
          </a:p>
        </p:txBody>
      </p:sp>
      <p:sp>
        <p:nvSpPr>
          <p:cNvPr id="20" name="Step name 3"/>
          <p:cNvSpPr txBox="1"/>
          <p:nvPr/>
        </p:nvSpPr>
        <p:spPr>
          <a:xfrm>
            <a:off x="1097280" y="3182112"/>
            <a:ext cx="1097280" cy="365760"/>
          </a:xfrm>
          <a:prstGeom prst="rect">
            <a:avLst/>
          </a:prstGeom>
          <a:noFill/>
        </p:spPr>
        <p:txBody>
          <a:bodyPr wrap="square" lIns="0" tIns="0" rIns="0" bIns="0" anchor="ctr">
            <a:spAutoFit/>
          </a:bodyPr>
          <a:lstStyle/>
          <a:p>
            <a:pPr algn="l">
              <a:spcAft>
                <a:spcPts val="0"/>
              </a:spcAft>
            </a:pPr>
            <a:r>
              <a:rPr sz="1600" b="1" i="0">
                <a:solidFill>
                  <a:srgbClr val="193EB0"/>
                </a:solidFill>
                <a:latin typeface="Arial"/>
              </a:rPr>
              <a:t>Merge</a:t>
            </a:r>
          </a:p>
        </p:txBody>
      </p:sp>
      <p:sp>
        <p:nvSpPr>
          <p:cNvPr id="21" name="Step detail 3"/>
          <p:cNvSpPr txBox="1"/>
          <p:nvPr/>
        </p:nvSpPr>
        <p:spPr>
          <a:xfrm>
            <a:off x="2194560" y="3145536"/>
            <a:ext cx="3977639" cy="420624"/>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Join reports and images on the study ID (uid)</a:t>
            </a:r>
          </a:p>
        </p:txBody>
      </p:sp>
      <p:sp>
        <p:nvSpPr>
          <p:cNvPr id="22" name="Step result 3"/>
          <p:cNvSpPr txBox="1"/>
          <p:nvPr/>
        </p:nvSpPr>
        <p:spPr>
          <a:xfrm>
            <a:off x="6309360" y="3145536"/>
            <a:ext cx="3017520" cy="420624"/>
          </a:xfrm>
          <a:prstGeom prst="rect">
            <a:avLst/>
          </a:prstGeom>
          <a:noFill/>
        </p:spPr>
        <p:txBody>
          <a:bodyPr wrap="square" lIns="0" tIns="0" rIns="0" bIns="0" anchor="ctr">
            <a:spAutoFit/>
          </a:bodyPr>
          <a:lstStyle/>
          <a:p>
            <a:pPr algn="l">
              <a:spcAft>
                <a:spcPts val="0"/>
              </a:spcAft>
            </a:pPr>
            <a:r>
              <a:rPr sz="1200" b="1" i="0">
                <a:solidFill>
                  <a:srgbClr val="193EB0"/>
                </a:solidFill>
                <a:latin typeface="Arial"/>
              </a:rPr>
              <a:t>7,463 image rows</a:t>
            </a:r>
          </a:p>
        </p:txBody>
      </p:sp>
      <p:sp>
        <p:nvSpPr>
          <p:cNvPr id="23" name="Pipeline row 4"/>
          <p:cNvSpPr/>
          <p:nvPr/>
        </p:nvSpPr>
        <p:spPr>
          <a:xfrm>
            <a:off x="457200" y="3694176"/>
            <a:ext cx="8961120" cy="493776"/>
          </a:xfrm>
          <a:prstGeom prst="roundRect">
            <a:avLst>
              <a:gd name="adj" fmla="val 12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tep number 4"/>
          <p:cNvSpPr/>
          <p:nvPr/>
        </p:nvSpPr>
        <p:spPr>
          <a:xfrm>
            <a:off x="566928" y="3758184"/>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4</a:t>
            </a:r>
          </a:p>
        </p:txBody>
      </p:sp>
      <p:sp>
        <p:nvSpPr>
          <p:cNvPr id="25" name="Step name 4"/>
          <p:cNvSpPr txBox="1"/>
          <p:nvPr/>
        </p:nvSpPr>
        <p:spPr>
          <a:xfrm>
            <a:off x="1097280" y="3767328"/>
            <a:ext cx="1097280" cy="365760"/>
          </a:xfrm>
          <a:prstGeom prst="rect">
            <a:avLst/>
          </a:prstGeom>
          <a:noFill/>
        </p:spPr>
        <p:txBody>
          <a:bodyPr wrap="square" lIns="0" tIns="0" rIns="0" bIns="0" anchor="ctr">
            <a:spAutoFit/>
          </a:bodyPr>
          <a:lstStyle/>
          <a:p>
            <a:pPr algn="l">
              <a:spcAft>
                <a:spcPts val="0"/>
              </a:spcAft>
            </a:pPr>
            <a:r>
              <a:rPr sz="1600" b="1" i="0">
                <a:solidFill>
                  <a:srgbClr val="193EB0"/>
                </a:solidFill>
                <a:latin typeface="Arial"/>
              </a:rPr>
              <a:t>EDA</a:t>
            </a:r>
          </a:p>
        </p:txBody>
      </p:sp>
      <p:sp>
        <p:nvSpPr>
          <p:cNvPr id="26" name="Step detail 4"/>
          <p:cNvSpPr txBox="1"/>
          <p:nvPr/>
        </p:nvSpPr>
        <p:spPr>
          <a:xfrm>
            <a:off x="2194560" y="3730752"/>
            <a:ext cx="3977639" cy="420624"/>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Classes, text length, co-occurrence, pixel statistics</a:t>
            </a:r>
          </a:p>
        </p:txBody>
      </p:sp>
      <p:sp>
        <p:nvSpPr>
          <p:cNvPr id="27" name="Step result 4"/>
          <p:cNvSpPr txBox="1"/>
          <p:nvPr/>
        </p:nvSpPr>
        <p:spPr>
          <a:xfrm>
            <a:off x="6309360" y="3730752"/>
            <a:ext cx="3017520" cy="420624"/>
          </a:xfrm>
          <a:prstGeom prst="rect">
            <a:avLst/>
          </a:prstGeom>
          <a:noFill/>
        </p:spPr>
        <p:txBody>
          <a:bodyPr wrap="square" lIns="0" tIns="0" rIns="0" bIns="0" anchor="ctr">
            <a:spAutoFit/>
          </a:bodyPr>
          <a:lstStyle/>
          <a:p>
            <a:pPr algn="l">
              <a:spcAft>
                <a:spcPts val="0"/>
              </a:spcAft>
            </a:pPr>
            <a:r>
              <a:rPr sz="1200" b="1" i="0">
                <a:solidFill>
                  <a:srgbClr val="193EB0"/>
                </a:solidFill>
                <a:latin typeface="Arial"/>
              </a:rPr>
              <a:t>7 analyses</a:t>
            </a:r>
          </a:p>
        </p:txBody>
      </p:sp>
      <p:sp>
        <p:nvSpPr>
          <p:cNvPr id="28" name="Pipeline row 5"/>
          <p:cNvSpPr/>
          <p:nvPr/>
        </p:nvSpPr>
        <p:spPr>
          <a:xfrm>
            <a:off x="457200" y="4279392"/>
            <a:ext cx="8961120" cy="493776"/>
          </a:xfrm>
          <a:prstGeom prst="roundRect">
            <a:avLst>
              <a:gd name="adj" fmla="val 12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Step number 5"/>
          <p:cNvSpPr/>
          <p:nvPr/>
        </p:nvSpPr>
        <p:spPr>
          <a:xfrm>
            <a:off x="566928" y="434340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5</a:t>
            </a:r>
          </a:p>
        </p:txBody>
      </p:sp>
      <p:sp>
        <p:nvSpPr>
          <p:cNvPr id="30" name="Step name 5"/>
          <p:cNvSpPr txBox="1"/>
          <p:nvPr/>
        </p:nvSpPr>
        <p:spPr>
          <a:xfrm>
            <a:off x="1097280" y="4352544"/>
            <a:ext cx="1097280" cy="365760"/>
          </a:xfrm>
          <a:prstGeom prst="rect">
            <a:avLst/>
          </a:prstGeom>
          <a:noFill/>
        </p:spPr>
        <p:txBody>
          <a:bodyPr wrap="square" lIns="0" tIns="0" rIns="0" bIns="0" anchor="ctr">
            <a:spAutoFit/>
          </a:bodyPr>
          <a:lstStyle/>
          <a:p>
            <a:pPr algn="l">
              <a:spcAft>
                <a:spcPts val="0"/>
              </a:spcAft>
            </a:pPr>
            <a:r>
              <a:rPr sz="1600" b="1" i="0">
                <a:solidFill>
                  <a:srgbClr val="193EB0"/>
                </a:solidFill>
                <a:latin typeface="Arial"/>
              </a:rPr>
              <a:t>Split</a:t>
            </a:r>
          </a:p>
        </p:txBody>
      </p:sp>
      <p:sp>
        <p:nvSpPr>
          <p:cNvPr id="31" name="Step detail 5"/>
          <p:cNvSpPr txBox="1"/>
          <p:nvPr/>
        </p:nvSpPr>
        <p:spPr>
          <a:xfrm>
            <a:off x="2194560" y="4315968"/>
            <a:ext cx="3977639" cy="420624"/>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Patient-level split, stratified normal / abnormal</a:t>
            </a:r>
          </a:p>
        </p:txBody>
      </p:sp>
      <p:sp>
        <p:nvSpPr>
          <p:cNvPr id="32" name="Step result 5"/>
          <p:cNvSpPr txBox="1"/>
          <p:nvPr/>
        </p:nvSpPr>
        <p:spPr>
          <a:xfrm>
            <a:off x="6309360" y="4315968"/>
            <a:ext cx="3017520" cy="420624"/>
          </a:xfrm>
          <a:prstGeom prst="rect">
            <a:avLst/>
          </a:prstGeom>
          <a:noFill/>
        </p:spPr>
        <p:txBody>
          <a:bodyPr wrap="square" lIns="0" tIns="0" rIns="0" bIns="0" anchor="ctr">
            <a:spAutoFit/>
          </a:bodyPr>
          <a:lstStyle/>
          <a:p>
            <a:pPr algn="l">
              <a:spcAft>
                <a:spcPts val="0"/>
              </a:spcAft>
            </a:pPr>
            <a:r>
              <a:rPr sz="1200" b="1" i="0">
                <a:solidFill>
                  <a:srgbClr val="193EB0"/>
                </a:solidFill>
                <a:latin typeface="Arial"/>
              </a:rPr>
              <a:t>2,464 / 616 / 771 studies</a:t>
            </a:r>
          </a:p>
        </p:txBody>
      </p:sp>
      <p:sp>
        <p:nvSpPr>
          <p:cNvPr id="33" name="Pipeline row 6"/>
          <p:cNvSpPr/>
          <p:nvPr/>
        </p:nvSpPr>
        <p:spPr>
          <a:xfrm>
            <a:off x="457200" y="4864608"/>
            <a:ext cx="8961120" cy="493776"/>
          </a:xfrm>
          <a:prstGeom prst="roundRect">
            <a:avLst>
              <a:gd name="adj" fmla="val 12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tep number 6"/>
          <p:cNvSpPr/>
          <p:nvPr/>
        </p:nvSpPr>
        <p:spPr>
          <a:xfrm>
            <a:off x="566928" y="4928616"/>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6</a:t>
            </a:r>
          </a:p>
        </p:txBody>
      </p:sp>
      <p:sp>
        <p:nvSpPr>
          <p:cNvPr id="35" name="Step name 6"/>
          <p:cNvSpPr txBox="1"/>
          <p:nvPr/>
        </p:nvSpPr>
        <p:spPr>
          <a:xfrm>
            <a:off x="1097280" y="4937760"/>
            <a:ext cx="1097280" cy="365760"/>
          </a:xfrm>
          <a:prstGeom prst="rect">
            <a:avLst/>
          </a:prstGeom>
          <a:noFill/>
        </p:spPr>
        <p:txBody>
          <a:bodyPr wrap="square" lIns="0" tIns="0" rIns="0" bIns="0" anchor="ctr">
            <a:spAutoFit/>
          </a:bodyPr>
          <a:lstStyle/>
          <a:p>
            <a:pPr algn="l">
              <a:spcAft>
                <a:spcPts val="0"/>
              </a:spcAft>
            </a:pPr>
            <a:r>
              <a:rPr sz="1600" b="1" i="0">
                <a:solidFill>
                  <a:srgbClr val="193EB0"/>
                </a:solidFill>
                <a:latin typeface="Arial"/>
              </a:rPr>
              <a:t>Encode</a:t>
            </a:r>
          </a:p>
        </p:txBody>
      </p:sp>
      <p:sp>
        <p:nvSpPr>
          <p:cNvPr id="36" name="Step detail 6"/>
          <p:cNvSpPr txBox="1"/>
          <p:nvPr/>
        </p:nvSpPr>
        <p:spPr>
          <a:xfrm>
            <a:off x="2194560" y="4901184"/>
            <a:ext cx="3977639" cy="420624"/>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Multi-hot labels, image scaling, ClinicalBERT tokens</a:t>
            </a:r>
          </a:p>
        </p:txBody>
      </p:sp>
      <p:sp>
        <p:nvSpPr>
          <p:cNvPr id="37" name="Step result 6"/>
          <p:cNvSpPr txBox="1"/>
          <p:nvPr/>
        </p:nvSpPr>
        <p:spPr>
          <a:xfrm>
            <a:off x="6309360" y="4901184"/>
            <a:ext cx="3017520" cy="420624"/>
          </a:xfrm>
          <a:prstGeom prst="rect">
            <a:avLst/>
          </a:prstGeom>
          <a:noFill/>
        </p:spPr>
        <p:txBody>
          <a:bodyPr wrap="square" lIns="0" tIns="0" rIns="0" bIns="0" anchor="ctr">
            <a:spAutoFit/>
          </a:bodyPr>
          <a:lstStyle/>
          <a:p>
            <a:pPr algn="l">
              <a:spcAft>
                <a:spcPts val="0"/>
              </a:spcAft>
            </a:pPr>
            <a:r>
              <a:rPr sz="1200" b="1" i="0">
                <a:solidFill>
                  <a:srgbClr val="193EB0"/>
                </a:solidFill>
                <a:latin typeface="Arial"/>
              </a:rPr>
              <a:t>110 labels</a:t>
            </a:r>
          </a:p>
        </p:txBody>
      </p:sp>
      <p:sp>
        <p:nvSpPr>
          <p:cNvPr id="38" name="Pipeline row 7"/>
          <p:cNvSpPr/>
          <p:nvPr/>
        </p:nvSpPr>
        <p:spPr>
          <a:xfrm>
            <a:off x="457200" y="5449824"/>
            <a:ext cx="8961120" cy="493776"/>
          </a:xfrm>
          <a:prstGeom prst="roundRect">
            <a:avLst>
              <a:gd name="adj" fmla="val 12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Step number 7"/>
          <p:cNvSpPr/>
          <p:nvPr/>
        </p:nvSpPr>
        <p:spPr>
          <a:xfrm>
            <a:off x="566928" y="5513832"/>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7</a:t>
            </a:r>
          </a:p>
        </p:txBody>
      </p:sp>
      <p:sp>
        <p:nvSpPr>
          <p:cNvPr id="40" name="Step name 7"/>
          <p:cNvSpPr txBox="1"/>
          <p:nvPr/>
        </p:nvSpPr>
        <p:spPr>
          <a:xfrm>
            <a:off x="1097280" y="5522976"/>
            <a:ext cx="1097280" cy="365760"/>
          </a:xfrm>
          <a:prstGeom prst="rect">
            <a:avLst/>
          </a:prstGeom>
          <a:noFill/>
        </p:spPr>
        <p:txBody>
          <a:bodyPr wrap="square" lIns="0" tIns="0" rIns="0" bIns="0" anchor="ctr">
            <a:spAutoFit/>
          </a:bodyPr>
          <a:lstStyle/>
          <a:p>
            <a:pPr algn="l">
              <a:spcAft>
                <a:spcPts val="0"/>
              </a:spcAft>
            </a:pPr>
            <a:r>
              <a:rPr sz="1600" b="1" i="0">
                <a:solidFill>
                  <a:srgbClr val="193EB0"/>
                </a:solidFill>
                <a:latin typeface="Arial"/>
              </a:rPr>
              <a:t>Batch</a:t>
            </a:r>
          </a:p>
        </p:txBody>
      </p:sp>
      <p:sp>
        <p:nvSpPr>
          <p:cNvPr id="41" name="Step detail 7"/>
          <p:cNvSpPr txBox="1"/>
          <p:nvPr/>
        </p:nvSpPr>
        <p:spPr>
          <a:xfrm>
            <a:off x="2194560" y="5486400"/>
            <a:ext cx="3977639" cy="420624"/>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tf.data generator, 8 patients per batch</a:t>
            </a:r>
          </a:p>
        </p:txBody>
      </p:sp>
      <p:sp>
        <p:nvSpPr>
          <p:cNvPr id="42" name="Step result 7"/>
          <p:cNvSpPr txBox="1"/>
          <p:nvPr/>
        </p:nvSpPr>
        <p:spPr>
          <a:xfrm>
            <a:off x="6309360" y="5486400"/>
            <a:ext cx="3017520" cy="420624"/>
          </a:xfrm>
          <a:prstGeom prst="rect">
            <a:avLst/>
          </a:prstGeom>
          <a:noFill/>
        </p:spPr>
        <p:txBody>
          <a:bodyPr wrap="square" lIns="0" tIns="0" rIns="0" bIns="0" anchor="ctr">
            <a:spAutoFit/>
          </a:bodyPr>
          <a:lstStyle/>
          <a:p>
            <a:pPr algn="l">
              <a:spcAft>
                <a:spcPts val="0"/>
              </a:spcAft>
            </a:pPr>
            <a:r>
              <a:rPr sz="1200" b="1" i="0">
                <a:solidFill>
                  <a:srgbClr val="193EB0"/>
                </a:solidFill>
                <a:latin typeface="Arial"/>
              </a:rPr>
              <a:t>images (8, 5, 224, 224, 1)</a:t>
            </a: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Dataset at a glance</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3,851 reports linked to 7,466 X-rays: each patient has 1 to 5 images</a:t>
            </a:r>
          </a:p>
        </p:txBody>
      </p:sp>
      <p:sp>
        <p:nvSpPr>
          <p:cNvPr id="8" name="Stat value 1"/>
          <p:cNvSpPr txBox="1"/>
          <p:nvPr/>
        </p:nvSpPr>
        <p:spPr>
          <a:xfrm>
            <a:off x="457200" y="1965960"/>
            <a:ext cx="2011680" cy="731520"/>
          </a:xfrm>
          <a:prstGeom prst="rect">
            <a:avLst/>
          </a:prstGeom>
          <a:noFill/>
        </p:spPr>
        <p:txBody>
          <a:bodyPr wrap="square" lIns="0" tIns="0" rIns="0" bIns="0" anchor="ctr">
            <a:spAutoFit/>
          </a:bodyPr>
          <a:lstStyle/>
          <a:p>
            <a:pPr algn="l">
              <a:spcAft>
                <a:spcPts val="0"/>
              </a:spcAft>
            </a:pPr>
            <a:r>
              <a:rPr sz="4000" b="1" i="0">
                <a:solidFill>
                  <a:srgbClr val="193EB0"/>
                </a:solidFill>
                <a:latin typeface="Arial"/>
              </a:rPr>
              <a:t>3,851</a:t>
            </a:r>
          </a:p>
        </p:txBody>
      </p:sp>
      <p:sp>
        <p:nvSpPr>
          <p:cNvPr id="9" name="Stat label 1"/>
          <p:cNvSpPr txBox="1"/>
          <p:nvPr/>
        </p:nvSpPr>
        <p:spPr>
          <a:xfrm>
            <a:off x="2514600" y="2011679"/>
            <a:ext cx="1737360" cy="731520"/>
          </a:xfrm>
          <a:prstGeom prst="rect">
            <a:avLst/>
          </a:prstGeom>
          <a:noFill/>
        </p:spPr>
        <p:txBody>
          <a:bodyPr wrap="square" lIns="0" tIns="0" rIns="0" bIns="0" anchor="ctr">
            <a:spAutoFit/>
          </a:bodyPr>
          <a:lstStyle/>
          <a:p>
            <a:pPr algn="l">
              <a:spcAft>
                <a:spcPts val="0"/>
              </a:spcAft>
            </a:pPr>
            <a:r>
              <a:rPr sz="1200" b="0" i="0">
                <a:solidFill>
                  <a:srgbClr val="555F73"/>
                </a:solidFill>
                <a:latin typeface="Arial"/>
              </a:rPr>
              <a:t>patient reports with clinical text</a:t>
            </a:r>
          </a:p>
        </p:txBody>
      </p:sp>
      <p:sp>
        <p:nvSpPr>
          <p:cNvPr id="10" name="Stat value 2"/>
          <p:cNvSpPr txBox="1"/>
          <p:nvPr/>
        </p:nvSpPr>
        <p:spPr>
          <a:xfrm>
            <a:off x="457200" y="2990088"/>
            <a:ext cx="2011680" cy="731520"/>
          </a:xfrm>
          <a:prstGeom prst="rect">
            <a:avLst/>
          </a:prstGeom>
          <a:noFill/>
        </p:spPr>
        <p:txBody>
          <a:bodyPr wrap="square" lIns="0" tIns="0" rIns="0" bIns="0" anchor="ctr">
            <a:spAutoFit/>
          </a:bodyPr>
          <a:lstStyle/>
          <a:p>
            <a:pPr algn="l">
              <a:spcAft>
                <a:spcPts val="0"/>
              </a:spcAft>
            </a:pPr>
            <a:r>
              <a:rPr sz="4000" b="1" i="0">
                <a:solidFill>
                  <a:srgbClr val="193EB0"/>
                </a:solidFill>
                <a:latin typeface="Arial"/>
              </a:rPr>
              <a:t>7,466</a:t>
            </a:r>
          </a:p>
        </p:txBody>
      </p:sp>
      <p:sp>
        <p:nvSpPr>
          <p:cNvPr id="11" name="Stat label 2"/>
          <p:cNvSpPr txBox="1"/>
          <p:nvPr/>
        </p:nvSpPr>
        <p:spPr>
          <a:xfrm>
            <a:off x="2514600" y="3035808"/>
            <a:ext cx="1737360" cy="731520"/>
          </a:xfrm>
          <a:prstGeom prst="rect">
            <a:avLst/>
          </a:prstGeom>
          <a:noFill/>
        </p:spPr>
        <p:txBody>
          <a:bodyPr wrap="square" lIns="0" tIns="0" rIns="0" bIns="0" anchor="ctr">
            <a:spAutoFit/>
          </a:bodyPr>
          <a:lstStyle/>
          <a:p>
            <a:pPr algn="l">
              <a:spcAft>
                <a:spcPts val="0"/>
              </a:spcAft>
            </a:pPr>
            <a:r>
              <a:rPr sz="1200" b="0" i="0">
                <a:solidFill>
                  <a:srgbClr val="555F73"/>
                </a:solidFill>
                <a:latin typeface="Arial"/>
              </a:rPr>
              <a:t>chest X-ray images (frontal + lateral)</a:t>
            </a:r>
          </a:p>
        </p:txBody>
      </p:sp>
      <p:sp>
        <p:nvSpPr>
          <p:cNvPr id="12" name="Stat value 3"/>
          <p:cNvSpPr txBox="1"/>
          <p:nvPr/>
        </p:nvSpPr>
        <p:spPr>
          <a:xfrm>
            <a:off x="457200" y="4014216"/>
            <a:ext cx="2011680" cy="731520"/>
          </a:xfrm>
          <a:prstGeom prst="rect">
            <a:avLst/>
          </a:prstGeom>
          <a:noFill/>
        </p:spPr>
        <p:txBody>
          <a:bodyPr wrap="square" lIns="0" tIns="0" rIns="0" bIns="0" anchor="ctr">
            <a:spAutoFit/>
          </a:bodyPr>
          <a:lstStyle/>
          <a:p>
            <a:pPr algn="l">
              <a:spcAft>
                <a:spcPts val="0"/>
              </a:spcAft>
            </a:pPr>
            <a:r>
              <a:rPr sz="4000" b="1" i="0">
                <a:solidFill>
                  <a:srgbClr val="193EB0"/>
                </a:solidFill>
                <a:latin typeface="Arial"/>
              </a:rPr>
              <a:t>0</a:t>
            </a:r>
          </a:p>
        </p:txBody>
      </p:sp>
      <p:sp>
        <p:nvSpPr>
          <p:cNvPr id="13" name="Stat label 3"/>
          <p:cNvSpPr txBox="1"/>
          <p:nvPr/>
        </p:nvSpPr>
        <p:spPr>
          <a:xfrm>
            <a:off x="2514600" y="4059936"/>
            <a:ext cx="1737360" cy="731520"/>
          </a:xfrm>
          <a:prstGeom prst="rect">
            <a:avLst/>
          </a:prstGeom>
          <a:noFill/>
        </p:spPr>
        <p:txBody>
          <a:bodyPr wrap="square" lIns="0" tIns="0" rIns="0" bIns="0" anchor="ctr">
            <a:spAutoFit/>
          </a:bodyPr>
          <a:lstStyle/>
          <a:p>
            <a:pPr algn="l">
              <a:spcAft>
                <a:spcPts val="0"/>
              </a:spcAft>
            </a:pPr>
            <a:r>
              <a:rPr sz="1200" b="0" i="0">
                <a:solidFill>
                  <a:srgbClr val="555F73"/>
                </a:solidFill>
                <a:latin typeface="Arial"/>
              </a:rPr>
              <a:t>reports without an image</a:t>
            </a:r>
          </a:p>
        </p:txBody>
      </p:sp>
      <p:graphicFrame>
        <p:nvGraphicFramePr>
          <p:cNvPr id="14" name="Images per study chart"/>
          <p:cNvGraphicFramePr>
            <a:graphicFrameLocks noGrp="1"/>
          </p:cNvGraphicFramePr>
          <p:nvPr/>
        </p:nvGraphicFramePr>
        <p:xfrm>
          <a:off x="4572000" y="1920240"/>
          <a:ext cx="484632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5" name="Business effect card"/>
          <p:cNvSpPr/>
          <p:nvPr/>
        </p:nvSpPr>
        <p:spPr>
          <a:xfrm>
            <a:off x="457200" y="5074920"/>
            <a:ext cx="8961120" cy="1024128"/>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Business effect tag"/>
          <p:cNvSpPr/>
          <p:nvPr/>
        </p:nvSpPr>
        <p:spPr>
          <a:xfrm>
            <a:off x="640080" y="523036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7" name="Business effect text"/>
          <p:cNvSpPr txBox="1"/>
          <p:nvPr/>
        </p:nvSpPr>
        <p:spPr>
          <a:xfrm>
            <a:off x="640080" y="5605272"/>
            <a:ext cx="8595360" cy="384048"/>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A real patient can arrive with one view or several, so the model input is padded to 5 images per patient instead of assuming a fixed pair.</a:t>
            </a:r>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Missing values audit</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Most fields are well filled; only “comparison” is mostly empty</a:t>
            </a:r>
          </a:p>
        </p:txBody>
      </p:sp>
      <p:graphicFrame>
        <p:nvGraphicFramePr>
          <p:cNvPr id="8" name="Missing values chart"/>
          <p:cNvGraphicFramePr>
            <a:graphicFrameLocks noGrp="1"/>
          </p:cNvGraphicFramePr>
          <p:nvPr/>
        </p:nvGraphicFramePr>
        <p:xfrm>
          <a:off x="457200" y="1920240"/>
          <a:ext cx="42976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9" name="Section label"/>
          <p:cNvSpPr txBox="1"/>
          <p:nvPr/>
        </p:nvSpPr>
        <p:spPr>
          <a:xfrm>
            <a:off x="502920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HOW WE HANDLED IT</a:t>
            </a:r>
          </a:p>
        </p:txBody>
      </p:sp>
      <p:sp>
        <p:nvSpPr>
          <p:cNvPr id="10" name="Missing fix 1"/>
          <p:cNvSpPr txBox="1"/>
          <p:nvPr/>
        </p:nvSpPr>
        <p:spPr>
          <a:xfrm>
            <a:off x="5029200" y="2286000"/>
            <a:ext cx="4389120" cy="822960"/>
          </a:xfrm>
          <a:prstGeom prst="rect">
            <a:avLst/>
          </a:prstGeom>
          <a:noFill/>
        </p:spPr>
        <p:txBody>
          <a:bodyPr wrap="square" lIns="0" tIns="0" rIns="0" bIns="0" anchor="t">
            <a:spAutoFit/>
          </a:bodyPr>
          <a:lstStyle/>
          <a:p>
            <a:pPr marL="201168" indent="-201168" algn="l">
              <a:spcAft>
                <a:spcPts val="0"/>
              </a:spcAft>
              <a:buClr>
                <a:srgbClr val="193EB0"/>
              </a:buClr>
              <a:buChar char="•"/>
            </a:pPr>
            <a:r>
              <a:rPr sz="1400" b="1" i="0">
                <a:solidFill>
                  <a:srgbClr val="193EB0"/>
                </a:solidFill>
                <a:latin typeface="Arial"/>
              </a:rPr>
              <a:t>comparison (74.27%): </a:t>
            </a:r>
            <a:r>
              <a:rPr sz="1400" b="0" i="0">
                <a:solidFill>
                  <a:srgbClr val="1F2937"/>
                </a:solidFill>
                <a:latin typeface="Arial"/>
              </a:rPr>
              <a:t>filled with “No history”; not used as a model input</a:t>
            </a:r>
          </a:p>
        </p:txBody>
      </p:sp>
      <p:sp>
        <p:nvSpPr>
          <p:cNvPr id="11" name="Missing fix 2"/>
          <p:cNvSpPr txBox="1"/>
          <p:nvPr/>
        </p:nvSpPr>
        <p:spPr>
          <a:xfrm>
            <a:off x="5029200" y="3154680"/>
            <a:ext cx="4389120" cy="822960"/>
          </a:xfrm>
          <a:prstGeom prst="rect">
            <a:avLst/>
          </a:prstGeom>
          <a:noFill/>
        </p:spPr>
        <p:txBody>
          <a:bodyPr wrap="square" lIns="0" tIns="0" rIns="0" bIns="0" anchor="t">
            <a:spAutoFit/>
          </a:bodyPr>
          <a:lstStyle/>
          <a:p>
            <a:pPr marL="201168" indent="-201168" algn="l">
              <a:spcAft>
                <a:spcPts val="0"/>
              </a:spcAft>
              <a:buClr>
                <a:srgbClr val="193EB0"/>
              </a:buClr>
              <a:buChar char="•"/>
            </a:pPr>
            <a:r>
              <a:rPr sz="1400" b="1" i="0">
                <a:solidFill>
                  <a:srgbClr val="193EB0"/>
                </a:solidFill>
                <a:latin typeface="Arial"/>
              </a:rPr>
              <a:t>indication, findings, impression: </a:t>
            </a:r>
            <a:r>
              <a:rPr sz="1400" b="0" i="0">
                <a:solidFill>
                  <a:srgbClr val="1F2937"/>
                </a:solidFill>
                <a:latin typeface="Arial"/>
              </a:rPr>
              <a:t>marked “not provided” so the row is kept</a:t>
            </a:r>
          </a:p>
        </p:txBody>
      </p:sp>
      <p:sp>
        <p:nvSpPr>
          <p:cNvPr id="12" name="Missing fix 3"/>
          <p:cNvSpPr txBox="1"/>
          <p:nvPr/>
        </p:nvSpPr>
        <p:spPr>
          <a:xfrm>
            <a:off x="5029200" y="4023360"/>
            <a:ext cx="4389120" cy="822960"/>
          </a:xfrm>
          <a:prstGeom prst="rect">
            <a:avLst/>
          </a:prstGeom>
          <a:noFill/>
        </p:spPr>
        <p:txBody>
          <a:bodyPr wrap="square" lIns="0" tIns="0" rIns="0" bIns="0" anchor="t">
            <a:spAutoFit/>
          </a:bodyPr>
          <a:lstStyle/>
          <a:p>
            <a:pPr marL="201168" indent="-201168" algn="l">
              <a:spcAft>
                <a:spcPts val="0"/>
              </a:spcAft>
              <a:buClr>
                <a:srgbClr val="193EB0"/>
              </a:buClr>
              <a:buChar char="•"/>
            </a:pPr>
            <a:r>
              <a:rPr sz="1400" b="1" i="0">
                <a:solidFill>
                  <a:srgbClr val="193EB0"/>
                </a:solidFill>
                <a:latin typeface="Arial"/>
              </a:rPr>
              <a:t>image (1 row): </a:t>
            </a:r>
            <a:r>
              <a:rPr sz="1400" b="0" i="0">
                <a:solidFill>
                  <a:srgbClr val="1F2937"/>
                </a:solidFill>
                <a:latin typeface="Arial"/>
              </a:rPr>
              <a:t>recovered from the images table: it was a frontal X-ray</a:t>
            </a:r>
          </a:p>
        </p:txBody>
      </p:sp>
      <p:sp>
        <p:nvSpPr>
          <p:cNvPr id="13" name="Business effect card"/>
          <p:cNvSpPr/>
          <p:nvPr/>
        </p:nvSpPr>
        <p:spPr>
          <a:xfrm>
            <a:off x="457200" y="5074920"/>
            <a:ext cx="8961120" cy="1024128"/>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Business effect tag"/>
          <p:cNvSpPr/>
          <p:nvPr/>
        </p:nvSpPr>
        <p:spPr>
          <a:xfrm>
            <a:off x="640080" y="523036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5" name="Business effect text"/>
          <p:cNvSpPr txBox="1"/>
          <p:nvPr/>
        </p:nvSpPr>
        <p:spPr>
          <a:xfrm>
            <a:off x="640080" y="5605272"/>
            <a:ext cx="8595360" cy="384048"/>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No case is thrown away: a patient whose note is missing is still triaged, so the tool does not fail on incomplete hospital records.</a:t>
            </a:r>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Cleaning &amp; integrity</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Normalised text, handled anonymisation tokens, no duplicate images</a:t>
            </a:r>
          </a:p>
        </p:txBody>
      </p:sp>
      <p:sp>
        <p:nvSpPr>
          <p:cNvPr id="8" name="Cleaning card 1"/>
          <p:cNvSpPr/>
          <p:nvPr/>
        </p:nvSpPr>
        <p:spPr>
          <a:xfrm>
            <a:off x="457200" y="1920240"/>
            <a:ext cx="4389120" cy="1508760"/>
          </a:xfrm>
          <a:prstGeom prst="roundRect">
            <a:avLst>
              <a:gd name="adj" fmla="val 6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leaning number 1"/>
          <p:cNvSpPr/>
          <p:nvPr/>
        </p:nvSpPr>
        <p:spPr>
          <a:xfrm>
            <a:off x="640080" y="2075688"/>
            <a:ext cx="329184" cy="329184"/>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FFFFFF"/>
                </a:solidFill>
                <a:latin typeface="Arial"/>
              </a:rPr>
              <a:t>1</a:t>
            </a:r>
          </a:p>
        </p:txBody>
      </p:sp>
      <p:sp>
        <p:nvSpPr>
          <p:cNvPr id="10" name="Cleaning title 1"/>
          <p:cNvSpPr txBox="1"/>
          <p:nvPr/>
        </p:nvSpPr>
        <p:spPr>
          <a:xfrm>
            <a:off x="1097280" y="2103120"/>
            <a:ext cx="3566160" cy="2743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Text normalisation</a:t>
            </a:r>
          </a:p>
        </p:txBody>
      </p:sp>
      <p:sp>
        <p:nvSpPr>
          <p:cNvPr id="11" name="Cleaning text 1"/>
          <p:cNvSpPr txBox="1"/>
          <p:nvPr/>
        </p:nvSpPr>
        <p:spPr>
          <a:xfrm>
            <a:off x="640080" y="2487168"/>
            <a:ext cx="4023360" cy="896112"/>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Lower-case, trimmed spaces, punctuation removed from indication, findings and impression.</a:t>
            </a:r>
          </a:p>
        </p:txBody>
      </p:sp>
      <p:sp>
        <p:nvSpPr>
          <p:cNvPr id="12" name="Cleaning card 2"/>
          <p:cNvSpPr/>
          <p:nvPr/>
        </p:nvSpPr>
        <p:spPr>
          <a:xfrm>
            <a:off x="5029200" y="1920240"/>
            <a:ext cx="4389120" cy="1508760"/>
          </a:xfrm>
          <a:prstGeom prst="roundRect">
            <a:avLst>
              <a:gd name="adj" fmla="val 6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leaning number 2"/>
          <p:cNvSpPr/>
          <p:nvPr/>
        </p:nvSpPr>
        <p:spPr>
          <a:xfrm>
            <a:off x="5212080" y="2075688"/>
            <a:ext cx="329184" cy="329184"/>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FFFFFF"/>
                </a:solidFill>
                <a:latin typeface="Arial"/>
              </a:rPr>
              <a:t>2</a:t>
            </a:r>
          </a:p>
        </p:txBody>
      </p:sp>
      <p:sp>
        <p:nvSpPr>
          <p:cNvPr id="14" name="Cleaning title 2"/>
          <p:cNvSpPr txBox="1"/>
          <p:nvPr/>
        </p:nvSpPr>
        <p:spPr>
          <a:xfrm>
            <a:off x="5669280" y="2103120"/>
            <a:ext cx="3566160" cy="2743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Anonymisation tokens</a:t>
            </a:r>
          </a:p>
        </p:txBody>
      </p:sp>
      <p:sp>
        <p:nvSpPr>
          <p:cNvPr id="15" name="Cleaning text 2"/>
          <p:cNvSpPr txBox="1"/>
          <p:nvPr/>
        </p:nvSpPr>
        <p:spPr>
          <a:xfrm>
            <a:off x="5212080" y="2487168"/>
            <a:ext cx="4023360" cy="896112"/>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“XXXX” hides patient data in 1,321 indications, 1,416 findings, 819 comparisons and 593 impressions. Replaced by “hidden”.</a:t>
            </a:r>
          </a:p>
        </p:txBody>
      </p:sp>
      <p:sp>
        <p:nvSpPr>
          <p:cNvPr id="16" name="Cleaning card 3"/>
          <p:cNvSpPr/>
          <p:nvPr/>
        </p:nvSpPr>
        <p:spPr>
          <a:xfrm>
            <a:off x="457200" y="3566160"/>
            <a:ext cx="4389120" cy="1508760"/>
          </a:xfrm>
          <a:prstGeom prst="roundRect">
            <a:avLst>
              <a:gd name="adj" fmla="val 6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leaning number 3"/>
          <p:cNvSpPr/>
          <p:nvPr/>
        </p:nvSpPr>
        <p:spPr>
          <a:xfrm>
            <a:off x="640080" y="3721608"/>
            <a:ext cx="329184" cy="329184"/>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FFFFFF"/>
                </a:solidFill>
                <a:latin typeface="Arial"/>
              </a:rPr>
              <a:t>3</a:t>
            </a:r>
          </a:p>
        </p:txBody>
      </p:sp>
      <p:sp>
        <p:nvSpPr>
          <p:cNvPr id="18" name="Cleaning title 3"/>
          <p:cNvSpPr txBox="1"/>
          <p:nvPr/>
        </p:nvSpPr>
        <p:spPr>
          <a:xfrm>
            <a:off x="1097280" y="3749040"/>
            <a:ext cx="3566160" cy="2743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Duplicate images</a:t>
            </a:r>
          </a:p>
        </p:txBody>
      </p:sp>
      <p:sp>
        <p:nvSpPr>
          <p:cNvPr id="19" name="Cleaning text 3"/>
          <p:cNvSpPr txBox="1"/>
          <p:nvPr/>
        </p:nvSpPr>
        <p:spPr>
          <a:xfrm>
            <a:off x="640080" y="4133088"/>
            <a:ext cx="4023360" cy="896112"/>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MD5 hashing of 7,470 files found 3 identical images. Removed: 7,466 → 7,463 rows. No duplicate report rows.</a:t>
            </a:r>
          </a:p>
        </p:txBody>
      </p:sp>
      <p:sp>
        <p:nvSpPr>
          <p:cNvPr id="20" name="Cleaning card 4"/>
          <p:cNvSpPr/>
          <p:nvPr/>
        </p:nvSpPr>
        <p:spPr>
          <a:xfrm>
            <a:off x="5029200" y="3566160"/>
            <a:ext cx="4389120" cy="1508760"/>
          </a:xfrm>
          <a:prstGeom prst="roundRect">
            <a:avLst>
              <a:gd name="adj" fmla="val 6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leaning number 4"/>
          <p:cNvSpPr/>
          <p:nvPr/>
        </p:nvSpPr>
        <p:spPr>
          <a:xfrm>
            <a:off x="5212080" y="3721608"/>
            <a:ext cx="329184" cy="329184"/>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FFFFFF"/>
                </a:solidFill>
                <a:latin typeface="Arial"/>
              </a:rPr>
              <a:t>4</a:t>
            </a:r>
          </a:p>
        </p:txBody>
      </p:sp>
      <p:sp>
        <p:nvSpPr>
          <p:cNvPr id="22" name="Cleaning title 4"/>
          <p:cNvSpPr txBox="1"/>
          <p:nvPr/>
        </p:nvSpPr>
        <p:spPr>
          <a:xfrm>
            <a:off x="5669280" y="3749040"/>
            <a:ext cx="3566160" cy="2743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Image integrity</a:t>
            </a:r>
          </a:p>
        </p:txBody>
      </p:sp>
      <p:sp>
        <p:nvSpPr>
          <p:cNvPr id="23" name="Cleaning text 4"/>
          <p:cNvSpPr txBox="1"/>
          <p:nvPr/>
        </p:nvSpPr>
        <p:spPr>
          <a:xfrm>
            <a:off x="5212080" y="4133088"/>
            <a:ext cx="4023360" cy="896112"/>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All 7,466 images open correctly (no nulls). Grayscale 8-bit PNG, pixel values 0–255.</a:t>
            </a:r>
          </a:p>
        </p:txBody>
      </p:sp>
      <p:sp>
        <p:nvSpPr>
          <p:cNvPr id="24" name="Business effect card"/>
          <p:cNvSpPr/>
          <p:nvPr/>
        </p:nvSpPr>
        <p:spPr>
          <a:xfrm>
            <a:off x="457200" y="5257800"/>
            <a:ext cx="8961120" cy="841248"/>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usiness effect tag"/>
          <p:cNvSpPr/>
          <p:nvPr/>
        </p:nvSpPr>
        <p:spPr>
          <a:xfrm>
            <a:off x="640080" y="541324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26" name="Business effect text"/>
          <p:cNvSpPr txBox="1"/>
          <p:nvPr/>
        </p:nvSpPr>
        <p:spPr>
          <a:xfrm>
            <a:off x="640080" y="5788152"/>
            <a:ext cx="8595360" cy="201168"/>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Clean, linked data is what makes the final accuracy numbers trustworthy.</a:t>
            </a: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Exploratory Data Analysis</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Normal vs abnormal</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Two out of three records contain at least one finding</a:t>
            </a:r>
          </a:p>
        </p:txBody>
      </p:sp>
      <p:pic>
        <p:nvPicPr>
          <p:cNvPr id="8" name="Normal vs abnormal chart" descr="cell75_0.png"/>
          <p:cNvPicPr>
            <a:picLocks noChangeAspect="1"/>
          </p:cNvPicPr>
          <p:nvPr/>
        </p:nvPicPr>
        <p:blipFill>
          <a:blip r:embed="rId3"/>
          <a:stretch>
            <a:fillRect/>
          </a:stretch>
        </p:blipFill>
        <p:spPr>
          <a:xfrm>
            <a:off x="457200" y="1920240"/>
            <a:ext cx="4572000" cy="3655087"/>
          </a:xfrm>
          <a:prstGeom prst="rect">
            <a:avLst/>
          </a:prstGeom>
        </p:spPr>
      </p:pic>
      <p:sp>
        <p:nvSpPr>
          <p:cNvPr id="9" name="Chart caption"/>
          <p:cNvSpPr txBox="1"/>
          <p:nvPr/>
        </p:nvSpPr>
        <p:spPr>
          <a:xfrm>
            <a:off x="457200" y="5648479"/>
            <a:ext cx="4572000" cy="274320"/>
          </a:xfrm>
          <a:prstGeom prst="rect">
            <a:avLst/>
          </a:prstGeom>
          <a:noFill/>
        </p:spPr>
        <p:txBody>
          <a:bodyPr wrap="square" lIns="0" tIns="0" rIns="0" bIns="0" anchor="t">
            <a:spAutoFit/>
          </a:bodyPr>
          <a:lstStyle/>
          <a:p>
            <a:pPr algn="l">
              <a:spcAft>
                <a:spcPts val="0"/>
              </a:spcAft>
            </a:pPr>
            <a:r>
              <a:rPr sz="1000" b="0" i="0">
                <a:solidFill>
                  <a:srgbClr val="555F73"/>
                </a:solidFill>
                <a:latin typeface="Arial"/>
              </a:rPr>
              <a:t>Image-level counts, Indiana University chest X-ray reports</a:t>
            </a:r>
          </a:p>
        </p:txBody>
      </p:sp>
      <p:sp>
        <p:nvSpPr>
          <p:cNvPr id="10" name="Section label"/>
          <p:cNvSpPr txBox="1"/>
          <p:nvPr/>
        </p:nvSpPr>
        <p:spPr>
          <a:xfrm>
            <a:off x="530352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WHAT WE SAW</a:t>
            </a:r>
          </a:p>
        </p:txBody>
      </p:sp>
      <p:sp>
        <p:nvSpPr>
          <p:cNvPr id="11" name="Insights"/>
          <p:cNvSpPr txBox="1"/>
          <p:nvPr/>
        </p:nvSpPr>
        <p:spPr>
          <a:xfrm>
            <a:off x="5303520" y="2286000"/>
            <a:ext cx="4114800" cy="2011680"/>
          </a:xfrm>
          <a:prstGeom prst="rect">
            <a:avLst/>
          </a:prstGeom>
          <a:noFill/>
        </p:spPr>
        <p:txBody>
          <a:bodyPr wrap="square" lIns="0" tIns="0" rIns="0" bIns="0" anchor="t">
            <a:spAutoFit/>
          </a:bodyPr>
          <a:lstStyle/>
          <a:p>
            <a:pPr marL="201168" indent="-201168" algn="l">
              <a:spcAft>
                <a:spcPts val="800"/>
              </a:spcAft>
              <a:buClr>
                <a:srgbClr val="193EB0"/>
              </a:buClr>
              <a:buChar char="•"/>
            </a:pPr>
            <a:r>
              <a:rPr sz="1400" b="0" i="0">
                <a:solidFill>
                  <a:srgbClr val="1F2937"/>
                </a:solidFill>
                <a:latin typeface="Arial"/>
              </a:rPr>
              <a:t>63.9% of image records are abnormal, 36.1% are normal.</a:t>
            </a:r>
          </a:p>
          <a:p>
            <a:pPr marL="201168" indent="-201168" algn="l">
              <a:spcAft>
                <a:spcPts val="800"/>
              </a:spcAft>
              <a:buClr>
                <a:srgbClr val="193EB0"/>
              </a:buClr>
              <a:buChar char="•"/>
            </a:pPr>
            <a:r>
              <a:rPr sz="1400" b="0" i="0">
                <a:solidFill>
                  <a:srgbClr val="1F2937"/>
                </a:solidFill>
                <a:latin typeface="Arial"/>
              </a:rPr>
              <a:t>The binary split is fairly balanced, so the hard part is knowing which finding is present.</a:t>
            </a:r>
          </a:p>
          <a:p>
            <a:pPr marL="201168" indent="-201168" algn="l">
              <a:spcAft>
                <a:spcPts val="800"/>
              </a:spcAft>
              <a:buClr>
                <a:srgbClr val="193EB0"/>
              </a:buClr>
              <a:buChar char="•"/>
            </a:pPr>
            <a:r>
              <a:rPr sz="1400" b="0" i="0">
                <a:solidFill>
                  <a:srgbClr val="1F2937"/>
                </a:solidFill>
                <a:latin typeface="Arial"/>
              </a:rPr>
              <a:t>“Normal” means no problem is listed in the report’s Problems field.</a:t>
            </a:r>
          </a:p>
        </p:txBody>
      </p:sp>
      <p:sp>
        <p:nvSpPr>
          <p:cNvPr id="12" name="Business effect card"/>
          <p:cNvSpPr/>
          <p:nvPr/>
        </p:nvSpPr>
        <p:spPr>
          <a:xfrm>
            <a:off x="5303520" y="4434840"/>
            <a:ext cx="4114800" cy="16459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usiness effect tag"/>
          <p:cNvSpPr/>
          <p:nvPr/>
        </p:nvSpPr>
        <p:spPr>
          <a:xfrm>
            <a:off x="5486400" y="45902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4" name="Business effect text"/>
          <p:cNvSpPr txBox="1"/>
          <p:nvPr/>
        </p:nvSpPr>
        <p:spPr>
          <a:xfrm>
            <a:off x="5486400" y="4965192"/>
            <a:ext cx="3749040" cy="100584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Almost every queue is mostly abnormal, so “abnormal” alone cannot rank patients. A 3-level priority is needed to separate urgent from routine.</a:t>
            </a:r>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Top clinical findings</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Normal is the biggest class, followed by a handful of common findings</a:t>
            </a:r>
          </a:p>
        </p:txBody>
      </p:sp>
      <p:pic>
        <p:nvPicPr>
          <p:cNvPr id="8" name="Top clinical findings chart" descr="cell77_0.png"/>
          <p:cNvPicPr>
            <a:picLocks noChangeAspect="1"/>
          </p:cNvPicPr>
          <p:nvPr/>
        </p:nvPicPr>
        <p:blipFill>
          <a:blip r:embed="rId3"/>
          <a:stretch>
            <a:fillRect/>
          </a:stretch>
        </p:blipFill>
        <p:spPr>
          <a:xfrm>
            <a:off x="457200" y="1920240"/>
            <a:ext cx="4572000" cy="3894255"/>
          </a:xfrm>
          <a:prstGeom prst="rect">
            <a:avLst/>
          </a:prstGeom>
        </p:spPr>
      </p:pic>
      <p:sp>
        <p:nvSpPr>
          <p:cNvPr id="9" name="Chart caption"/>
          <p:cNvSpPr txBox="1"/>
          <p:nvPr/>
        </p:nvSpPr>
        <p:spPr>
          <a:xfrm>
            <a:off x="457200" y="5887647"/>
            <a:ext cx="4572000" cy="274320"/>
          </a:xfrm>
          <a:prstGeom prst="rect">
            <a:avLst/>
          </a:prstGeom>
          <a:noFill/>
        </p:spPr>
        <p:txBody>
          <a:bodyPr wrap="square" lIns="0" tIns="0" rIns="0" bIns="0" anchor="t">
            <a:spAutoFit/>
          </a:bodyPr>
          <a:lstStyle/>
          <a:p>
            <a:pPr algn="l">
              <a:spcAft>
                <a:spcPts val="0"/>
              </a:spcAft>
            </a:pPr>
            <a:r>
              <a:rPr sz="1000" b="0" i="0">
                <a:solidFill>
                  <a:srgbClr val="555F73"/>
                </a:solidFill>
                <a:latin typeface="Arial"/>
              </a:rPr>
              <a:t>Top 10 labels from the Problems field</a:t>
            </a:r>
          </a:p>
        </p:txBody>
      </p:sp>
      <p:sp>
        <p:nvSpPr>
          <p:cNvPr id="10" name="Section label"/>
          <p:cNvSpPr txBox="1"/>
          <p:nvPr/>
        </p:nvSpPr>
        <p:spPr>
          <a:xfrm>
            <a:off x="530352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WHAT WE SAW</a:t>
            </a:r>
          </a:p>
        </p:txBody>
      </p:sp>
      <p:sp>
        <p:nvSpPr>
          <p:cNvPr id="11" name="Insights"/>
          <p:cNvSpPr txBox="1"/>
          <p:nvPr/>
        </p:nvSpPr>
        <p:spPr>
          <a:xfrm>
            <a:off x="5303520" y="2286000"/>
            <a:ext cx="4114800" cy="2011680"/>
          </a:xfrm>
          <a:prstGeom prst="rect">
            <a:avLst/>
          </a:prstGeom>
          <a:noFill/>
        </p:spPr>
        <p:txBody>
          <a:bodyPr wrap="square" lIns="0" tIns="0" rIns="0" bIns="0" anchor="t">
            <a:spAutoFit/>
          </a:bodyPr>
          <a:lstStyle/>
          <a:p>
            <a:pPr marL="201168" indent="-201168" algn="l">
              <a:spcAft>
                <a:spcPts val="800"/>
              </a:spcAft>
              <a:buClr>
                <a:srgbClr val="193EB0"/>
              </a:buClr>
              <a:buChar char="•"/>
            </a:pPr>
            <a:r>
              <a:rPr sz="1400" b="0" i="0">
                <a:solidFill>
                  <a:srgbClr val="1F2937"/>
                </a:solidFill>
                <a:latin typeface="Arial"/>
              </a:rPr>
              <a:t>“Normal” is the largest label (about 2,700 image records).</a:t>
            </a:r>
          </a:p>
          <a:p>
            <a:pPr marL="201168" indent="-201168" algn="l">
              <a:spcAft>
                <a:spcPts val="800"/>
              </a:spcAft>
              <a:buClr>
                <a:srgbClr val="193EB0"/>
              </a:buClr>
              <a:buChar char="•"/>
            </a:pPr>
            <a:r>
              <a:rPr sz="1400" b="0" i="0">
                <a:solidFill>
                  <a:srgbClr val="1F2937"/>
                </a:solidFill>
                <a:latin typeface="Arial"/>
              </a:rPr>
              <a:t>Lung, opacity, cardiomegaly, atelectasis and calcinosis follow, with roughly 1,100 records or fewer each.</a:t>
            </a:r>
          </a:p>
          <a:p>
            <a:pPr marL="201168" indent="-201168" algn="l">
              <a:spcAft>
                <a:spcPts val="800"/>
              </a:spcAft>
              <a:buClr>
                <a:srgbClr val="193EB0"/>
              </a:buClr>
              <a:buChar char="•"/>
            </a:pPr>
            <a:r>
              <a:rPr sz="1400" b="0" i="0">
                <a:solidFill>
                  <a:srgbClr val="1F2937"/>
                </a:solidFill>
                <a:latin typeface="Arial"/>
              </a:rPr>
              <a:t>The data has 110 distinct labels in total.</a:t>
            </a:r>
          </a:p>
        </p:txBody>
      </p:sp>
      <p:sp>
        <p:nvSpPr>
          <p:cNvPr id="12" name="Business effect card"/>
          <p:cNvSpPr/>
          <p:nvPr/>
        </p:nvSpPr>
        <p:spPr>
          <a:xfrm>
            <a:off x="5303520" y="4434840"/>
            <a:ext cx="4114800" cy="16459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usiness effect tag"/>
          <p:cNvSpPr/>
          <p:nvPr/>
        </p:nvSpPr>
        <p:spPr>
          <a:xfrm>
            <a:off x="5486400" y="45902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4" name="Business effect text"/>
          <p:cNvSpPr txBox="1"/>
          <p:nvPr/>
        </p:nvSpPr>
        <p:spPr>
          <a:xfrm>
            <a:off x="5486400" y="4965192"/>
            <a:ext cx="3749040" cy="100584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Rare findings have few examples, so accuracy alone hides misses. We weight the loss and track recall and PR-AUC so uncommon conditions are not ignored.</a:t>
            </a:r>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Report text length</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Patient history is short; findings text carries the detail</a:t>
            </a:r>
          </a:p>
        </p:txBody>
      </p:sp>
      <p:pic>
        <p:nvPicPr>
          <p:cNvPr id="8" name="Report text length chart" descr="cell79_0.png"/>
          <p:cNvPicPr>
            <a:picLocks noChangeAspect="1"/>
          </p:cNvPicPr>
          <p:nvPr/>
        </p:nvPicPr>
        <p:blipFill>
          <a:blip r:embed="rId3"/>
          <a:stretch>
            <a:fillRect/>
          </a:stretch>
        </p:blipFill>
        <p:spPr>
          <a:xfrm>
            <a:off x="457200" y="1920240"/>
            <a:ext cx="4572000" cy="3806795"/>
          </a:xfrm>
          <a:prstGeom prst="rect">
            <a:avLst/>
          </a:prstGeom>
        </p:spPr>
      </p:pic>
      <p:sp>
        <p:nvSpPr>
          <p:cNvPr id="9" name="Chart caption"/>
          <p:cNvSpPr txBox="1"/>
          <p:nvPr/>
        </p:nvSpPr>
        <p:spPr>
          <a:xfrm>
            <a:off x="457200" y="5800187"/>
            <a:ext cx="4572000" cy="274320"/>
          </a:xfrm>
          <a:prstGeom prst="rect">
            <a:avLst/>
          </a:prstGeom>
          <a:noFill/>
        </p:spPr>
        <p:txBody>
          <a:bodyPr wrap="square" lIns="0" tIns="0" rIns="0" bIns="0" anchor="t">
            <a:spAutoFit/>
          </a:bodyPr>
          <a:lstStyle/>
          <a:p>
            <a:pPr algn="l">
              <a:spcAft>
                <a:spcPts val="0"/>
              </a:spcAft>
            </a:pPr>
            <a:r>
              <a:rPr sz="1000" b="0" i="0">
                <a:solidFill>
                  <a:srgbClr val="555F73"/>
                </a:solidFill>
                <a:latin typeface="Arial"/>
              </a:rPr>
              <a:t>Words per report field</a:t>
            </a:r>
          </a:p>
        </p:txBody>
      </p:sp>
      <p:sp>
        <p:nvSpPr>
          <p:cNvPr id="10" name="Section label"/>
          <p:cNvSpPr txBox="1"/>
          <p:nvPr/>
        </p:nvSpPr>
        <p:spPr>
          <a:xfrm>
            <a:off x="530352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WHAT WE SAW</a:t>
            </a:r>
          </a:p>
        </p:txBody>
      </p:sp>
      <p:sp>
        <p:nvSpPr>
          <p:cNvPr id="11" name="Insights"/>
          <p:cNvSpPr txBox="1"/>
          <p:nvPr/>
        </p:nvSpPr>
        <p:spPr>
          <a:xfrm>
            <a:off x="5303520" y="2286000"/>
            <a:ext cx="4114800" cy="2011680"/>
          </a:xfrm>
          <a:prstGeom prst="rect">
            <a:avLst/>
          </a:prstGeom>
          <a:noFill/>
        </p:spPr>
        <p:txBody>
          <a:bodyPr wrap="square" lIns="0" tIns="0" rIns="0" bIns="0" anchor="t">
            <a:spAutoFit/>
          </a:bodyPr>
          <a:lstStyle/>
          <a:p>
            <a:pPr marL="201168" indent="-201168" algn="l">
              <a:spcAft>
                <a:spcPts val="800"/>
              </a:spcAft>
              <a:buClr>
                <a:srgbClr val="193EB0"/>
              </a:buClr>
              <a:buChar char="•"/>
            </a:pPr>
            <a:r>
              <a:rPr sz="1400" b="0" i="0">
                <a:solidFill>
                  <a:srgbClr val="1F2937"/>
                </a:solidFill>
                <a:latin typeface="Arial"/>
              </a:rPr>
              <a:t>Indication (the patient history) is usually under about 10 words.</a:t>
            </a:r>
          </a:p>
          <a:p>
            <a:pPr marL="201168" indent="-201168" algn="l">
              <a:spcAft>
                <a:spcPts val="800"/>
              </a:spcAft>
              <a:buClr>
                <a:srgbClr val="193EB0"/>
              </a:buClr>
              <a:buChar char="•"/>
            </a:pPr>
            <a:r>
              <a:rPr sz="1400" b="0" i="0">
                <a:solidFill>
                  <a:srgbClr val="1F2937"/>
                </a:solidFill>
                <a:latin typeface="Arial"/>
              </a:rPr>
              <a:t>Findings peak around 20–35 words; impression and labels are short.</a:t>
            </a:r>
          </a:p>
          <a:p>
            <a:pPr marL="201168" indent="-201168" algn="l">
              <a:spcAft>
                <a:spcPts val="800"/>
              </a:spcAft>
              <a:buClr>
                <a:srgbClr val="193EB0"/>
              </a:buClr>
              <a:buChar char="•"/>
            </a:pPr>
            <a:r>
              <a:rPr sz="1400" b="0" i="0">
                <a:solidFill>
                  <a:srgbClr val="1F2937"/>
                </a:solidFill>
                <a:latin typeface="Arial"/>
              </a:rPr>
              <a:t>100 tokens is more than enough for the history text.</a:t>
            </a:r>
          </a:p>
        </p:txBody>
      </p:sp>
      <p:sp>
        <p:nvSpPr>
          <p:cNvPr id="12" name="Business effect card"/>
          <p:cNvSpPr/>
          <p:nvPr/>
        </p:nvSpPr>
        <p:spPr>
          <a:xfrm>
            <a:off x="5303520" y="4434840"/>
            <a:ext cx="4114800" cy="16459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usiness effect tag"/>
          <p:cNvSpPr/>
          <p:nvPr/>
        </p:nvSpPr>
        <p:spPr>
          <a:xfrm>
            <a:off x="5486400" y="45902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4" name="Business effect text"/>
          <p:cNvSpPr txBox="1"/>
          <p:nvPr/>
        </p:nvSpPr>
        <p:spPr>
          <a:xfrm>
            <a:off x="5486400" y="4965192"/>
            <a:ext cx="3749040" cy="100584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Triage notes are brief, so the text model must extract signal from a few words. A 100-token limit keeps inference fast and cheap.</a:t>
            </a:r>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Findings co-occurrence</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Findings travel together: opacity often comes with atelectasis</a:t>
            </a:r>
          </a:p>
        </p:txBody>
      </p:sp>
      <p:pic>
        <p:nvPicPr>
          <p:cNvPr id="8" name="Findings co-occurrence chart" descr="cell80_0.png"/>
          <p:cNvPicPr>
            <a:picLocks noChangeAspect="1"/>
          </p:cNvPicPr>
          <p:nvPr/>
        </p:nvPicPr>
        <p:blipFill>
          <a:blip r:embed="rId3"/>
          <a:stretch>
            <a:fillRect/>
          </a:stretch>
        </p:blipFill>
        <p:spPr>
          <a:xfrm>
            <a:off x="457200" y="1920240"/>
            <a:ext cx="4572000" cy="3388485"/>
          </a:xfrm>
          <a:prstGeom prst="rect">
            <a:avLst/>
          </a:prstGeom>
        </p:spPr>
      </p:pic>
      <p:sp>
        <p:nvSpPr>
          <p:cNvPr id="9" name="Chart caption"/>
          <p:cNvSpPr txBox="1"/>
          <p:nvPr/>
        </p:nvSpPr>
        <p:spPr>
          <a:xfrm>
            <a:off x="457200" y="5381877"/>
            <a:ext cx="4572000" cy="274320"/>
          </a:xfrm>
          <a:prstGeom prst="rect">
            <a:avLst/>
          </a:prstGeom>
          <a:noFill/>
        </p:spPr>
        <p:txBody>
          <a:bodyPr wrap="square" lIns="0" tIns="0" rIns="0" bIns="0" anchor="t">
            <a:spAutoFit/>
          </a:bodyPr>
          <a:lstStyle/>
          <a:p>
            <a:pPr algn="l">
              <a:spcAft>
                <a:spcPts val="0"/>
              </a:spcAft>
            </a:pPr>
            <a:r>
              <a:rPr sz="1000" b="0" i="0">
                <a:solidFill>
                  <a:srgbClr val="555F73"/>
                </a:solidFill>
                <a:latin typeface="Arial"/>
              </a:rPr>
              <a:t>Top 10 abnormal conditions (normal and no-indexing excluded)</a:t>
            </a:r>
          </a:p>
        </p:txBody>
      </p:sp>
      <p:sp>
        <p:nvSpPr>
          <p:cNvPr id="10" name="Section label"/>
          <p:cNvSpPr txBox="1"/>
          <p:nvPr/>
        </p:nvSpPr>
        <p:spPr>
          <a:xfrm>
            <a:off x="530352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WHAT WE SAW</a:t>
            </a:r>
          </a:p>
        </p:txBody>
      </p:sp>
      <p:sp>
        <p:nvSpPr>
          <p:cNvPr id="11" name="Insights"/>
          <p:cNvSpPr txBox="1"/>
          <p:nvPr/>
        </p:nvSpPr>
        <p:spPr>
          <a:xfrm>
            <a:off x="5303520" y="2286000"/>
            <a:ext cx="4114800" cy="2011680"/>
          </a:xfrm>
          <a:prstGeom prst="rect">
            <a:avLst/>
          </a:prstGeom>
          <a:noFill/>
        </p:spPr>
        <p:txBody>
          <a:bodyPr wrap="square" lIns="0" tIns="0" rIns="0" bIns="0" anchor="t">
            <a:spAutoFit/>
          </a:bodyPr>
          <a:lstStyle/>
          <a:p>
            <a:pPr marL="201168" indent="-201168" algn="l">
              <a:spcAft>
                <a:spcPts val="800"/>
              </a:spcAft>
              <a:buClr>
                <a:srgbClr val="193EB0"/>
              </a:buClr>
              <a:buChar char="•"/>
            </a:pPr>
            <a:r>
              <a:rPr sz="1400" b="0" i="0">
                <a:solidFill>
                  <a:srgbClr val="1F2937"/>
                </a:solidFill>
                <a:latin typeface="Arial"/>
              </a:rPr>
              <a:t>Strongest pair: opacity + pulmonary atelectasis (157 cases).</a:t>
            </a:r>
          </a:p>
          <a:p>
            <a:pPr marL="201168" indent="-201168" algn="l">
              <a:spcAft>
                <a:spcPts val="800"/>
              </a:spcAft>
              <a:buClr>
                <a:srgbClr val="193EB0"/>
              </a:buClr>
              <a:buChar char="•"/>
            </a:pPr>
            <a:r>
              <a:rPr sz="1400" b="0" i="0">
                <a:solidFill>
                  <a:srgbClr val="1F2937"/>
                </a:solidFill>
                <a:latin typeface="Arial"/>
              </a:rPr>
              <a:t>Lung appears with opacity and with atelectasis (107 each).</a:t>
            </a:r>
          </a:p>
          <a:p>
            <a:pPr marL="201168" indent="-201168" algn="l">
              <a:spcAft>
                <a:spcPts val="800"/>
              </a:spcAft>
              <a:buClr>
                <a:srgbClr val="193EB0"/>
              </a:buClr>
              <a:buChar char="•"/>
            </a:pPr>
            <a:r>
              <a:rPr sz="1400" b="0" i="0">
                <a:solidFill>
                  <a:srgbClr val="1F2937"/>
                </a:solidFill>
                <a:latin typeface="Arial"/>
              </a:rPr>
              <a:t>One X-ray often carries several findings, so this is multi-label classification.</a:t>
            </a:r>
          </a:p>
        </p:txBody>
      </p:sp>
      <p:sp>
        <p:nvSpPr>
          <p:cNvPr id="12" name="Business effect card"/>
          <p:cNvSpPr/>
          <p:nvPr/>
        </p:nvSpPr>
        <p:spPr>
          <a:xfrm>
            <a:off x="5303520" y="4434840"/>
            <a:ext cx="4114800" cy="16459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usiness effect tag"/>
          <p:cNvSpPr/>
          <p:nvPr/>
        </p:nvSpPr>
        <p:spPr>
          <a:xfrm>
            <a:off x="5486400" y="45902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4" name="Business effect text"/>
          <p:cNvSpPr txBox="1"/>
          <p:nvPr/>
        </p:nvSpPr>
        <p:spPr>
          <a:xfrm>
            <a:off x="5486400" y="4965192"/>
            <a:ext cx="3749040" cy="100584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One patient, many problems: a multi-label model reports all findings at once and gives the doctor the full picture instead of a single diagnosis.</a:t>
            </a:r>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Findings vs impression</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These sections reveal the answer, so they stay out of the model input</a:t>
            </a:r>
          </a:p>
        </p:txBody>
      </p:sp>
      <p:pic>
        <p:nvPicPr>
          <p:cNvPr id="8" name="Findings vs impression chart" descr="cell82_0.png"/>
          <p:cNvPicPr>
            <a:picLocks noChangeAspect="1"/>
          </p:cNvPicPr>
          <p:nvPr/>
        </p:nvPicPr>
        <p:blipFill>
          <a:blip r:embed="rId3"/>
          <a:stretch>
            <a:fillRect/>
          </a:stretch>
        </p:blipFill>
        <p:spPr>
          <a:xfrm>
            <a:off x="457200" y="1920240"/>
            <a:ext cx="4023360" cy="4023360"/>
          </a:xfrm>
          <a:prstGeom prst="rect">
            <a:avLst/>
          </a:prstGeom>
        </p:spPr>
      </p:pic>
      <p:sp>
        <p:nvSpPr>
          <p:cNvPr id="9" name="Section label"/>
          <p:cNvSpPr txBox="1"/>
          <p:nvPr/>
        </p:nvSpPr>
        <p:spPr>
          <a:xfrm>
            <a:off x="475488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WHAT WE SAW</a:t>
            </a:r>
          </a:p>
        </p:txBody>
      </p:sp>
      <p:sp>
        <p:nvSpPr>
          <p:cNvPr id="10" name="Insights"/>
          <p:cNvSpPr txBox="1"/>
          <p:nvPr/>
        </p:nvSpPr>
        <p:spPr>
          <a:xfrm>
            <a:off x="4754880" y="2286000"/>
            <a:ext cx="4663440" cy="2011680"/>
          </a:xfrm>
          <a:prstGeom prst="rect">
            <a:avLst/>
          </a:prstGeom>
          <a:noFill/>
        </p:spPr>
        <p:txBody>
          <a:bodyPr wrap="square" lIns="0" tIns="0" rIns="0" bIns="0" anchor="t">
            <a:spAutoFit/>
          </a:bodyPr>
          <a:lstStyle/>
          <a:p>
            <a:pPr marL="201168" indent="-201168" algn="l">
              <a:spcAft>
                <a:spcPts val="800"/>
              </a:spcAft>
              <a:buClr>
                <a:srgbClr val="193EB0"/>
              </a:buClr>
              <a:buChar char="•"/>
            </a:pPr>
            <a:r>
              <a:rPr sz="1400" b="0" i="0">
                <a:solidFill>
                  <a:srgbClr val="1F2937"/>
                </a:solidFill>
                <a:latin typeface="Arial"/>
              </a:rPr>
              <a:t>TF-IDF cosine similarity between each report's findings and impression: many near zero, with a long tail up to identical text.</a:t>
            </a:r>
          </a:p>
          <a:p>
            <a:pPr marL="201168" indent="-201168" algn="l">
              <a:spcAft>
                <a:spcPts val="800"/>
              </a:spcAft>
              <a:buClr>
                <a:srgbClr val="193EB0"/>
              </a:buClr>
              <a:buChar char="•"/>
            </a:pPr>
            <a:r>
              <a:rPr sz="1400" b="0" i="0">
                <a:solidFill>
                  <a:srgbClr val="1F2937"/>
                </a:solidFill>
                <a:latin typeface="Arial"/>
              </a:rPr>
              <a:t>Both sections are written after the radiologist reads the X-ray, so they give the result away.</a:t>
            </a:r>
          </a:p>
          <a:p>
            <a:pPr marL="201168" indent="-201168" algn="l">
              <a:spcAft>
                <a:spcPts val="800"/>
              </a:spcAft>
              <a:buClr>
                <a:srgbClr val="193EB0"/>
              </a:buClr>
              <a:buChar char="•"/>
            </a:pPr>
            <a:r>
              <a:rPr sz="1400" b="0" i="0">
                <a:solidFill>
                  <a:srgbClr val="1F2937"/>
                </a:solidFill>
                <a:latin typeface="Arial"/>
              </a:rPr>
              <a:t>Model input = indication only; labels come from the Problems field.</a:t>
            </a:r>
          </a:p>
        </p:txBody>
      </p:sp>
      <p:sp>
        <p:nvSpPr>
          <p:cNvPr id="11" name="Business effect card"/>
          <p:cNvSpPr/>
          <p:nvPr/>
        </p:nvSpPr>
        <p:spPr>
          <a:xfrm>
            <a:off x="4754880" y="4434840"/>
            <a:ext cx="4663440" cy="16459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usiness effect tag"/>
          <p:cNvSpPr/>
          <p:nvPr/>
        </p:nvSpPr>
        <p:spPr>
          <a:xfrm>
            <a:off x="4937760" y="45902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3" name="Business effect text"/>
          <p:cNvSpPr txBox="1"/>
          <p:nvPr/>
        </p:nvSpPr>
        <p:spPr>
          <a:xfrm>
            <a:off x="4937760" y="4965192"/>
            <a:ext cx="4297680" cy="100584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This avoids the leakage trap: a model that reads the radiologist's conclusion looks excellent in testing but is useless at triage, when no report exists yet.</a:t>
            </a:r>
          </a:p>
        </p:txBody>
      </p:sp>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Looking at the X-rays</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Frontal and lateral views, mixed sizes: images need a common format</a:t>
            </a:r>
          </a:p>
        </p:txBody>
      </p:sp>
      <p:pic>
        <p:nvPicPr>
          <p:cNvPr id="8" name="Looking at the X-rays chart" descr="cell84_0.png"/>
          <p:cNvPicPr>
            <a:picLocks noChangeAspect="1"/>
          </p:cNvPicPr>
          <p:nvPr/>
        </p:nvPicPr>
        <p:blipFill>
          <a:blip r:embed="rId3"/>
          <a:stretch>
            <a:fillRect/>
          </a:stretch>
        </p:blipFill>
        <p:spPr>
          <a:xfrm>
            <a:off x="457200" y="1920240"/>
            <a:ext cx="4572000" cy="2534436"/>
          </a:xfrm>
          <a:prstGeom prst="rect">
            <a:avLst/>
          </a:prstGeom>
        </p:spPr>
      </p:pic>
      <p:sp>
        <p:nvSpPr>
          <p:cNvPr id="9" name="Chart caption"/>
          <p:cNvSpPr txBox="1"/>
          <p:nvPr/>
        </p:nvSpPr>
        <p:spPr>
          <a:xfrm>
            <a:off x="457200" y="4527828"/>
            <a:ext cx="4572000" cy="274320"/>
          </a:xfrm>
          <a:prstGeom prst="rect">
            <a:avLst/>
          </a:prstGeom>
          <a:noFill/>
        </p:spPr>
        <p:txBody>
          <a:bodyPr wrap="square" lIns="0" tIns="0" rIns="0" bIns="0" anchor="t">
            <a:spAutoFit/>
          </a:bodyPr>
          <a:lstStyle/>
          <a:p>
            <a:pPr algn="l">
              <a:spcAft>
                <a:spcPts val="0"/>
              </a:spcAft>
            </a:pPr>
            <a:r>
              <a:rPr sz="1000" b="0" i="0">
                <a:solidFill>
                  <a:srgbClr val="555F73"/>
                </a:solidFill>
                <a:latin typeface="Arial"/>
              </a:rPr>
              <a:t>Random normal (top) and abnormal (bottom) samples</a:t>
            </a:r>
          </a:p>
        </p:txBody>
      </p:sp>
      <p:sp>
        <p:nvSpPr>
          <p:cNvPr id="10" name="Section label"/>
          <p:cNvSpPr txBox="1"/>
          <p:nvPr/>
        </p:nvSpPr>
        <p:spPr>
          <a:xfrm>
            <a:off x="530352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WHAT WE SAW</a:t>
            </a:r>
          </a:p>
        </p:txBody>
      </p:sp>
      <p:sp>
        <p:nvSpPr>
          <p:cNvPr id="11" name="Insights"/>
          <p:cNvSpPr txBox="1"/>
          <p:nvPr/>
        </p:nvSpPr>
        <p:spPr>
          <a:xfrm>
            <a:off x="5303520" y="2286000"/>
            <a:ext cx="4114800" cy="2011680"/>
          </a:xfrm>
          <a:prstGeom prst="rect">
            <a:avLst/>
          </a:prstGeom>
          <a:noFill/>
        </p:spPr>
        <p:txBody>
          <a:bodyPr wrap="square" lIns="0" tIns="0" rIns="0" bIns="0" anchor="t">
            <a:spAutoFit/>
          </a:bodyPr>
          <a:lstStyle/>
          <a:p>
            <a:pPr marL="201168" indent="-201168" algn="l">
              <a:spcAft>
                <a:spcPts val="800"/>
              </a:spcAft>
              <a:buClr>
                <a:srgbClr val="193EB0"/>
              </a:buClr>
              <a:buChar char="•"/>
            </a:pPr>
            <a:r>
              <a:rPr sz="1400" b="0" i="0">
                <a:solidFill>
                  <a:srgbClr val="1F2937"/>
                </a:solidFill>
                <a:latin typeface="Arial"/>
              </a:rPr>
              <a:t>Two projections: frontal and lateral.</a:t>
            </a:r>
          </a:p>
          <a:p>
            <a:pPr marL="201168" indent="-201168" algn="l">
              <a:spcAft>
                <a:spcPts val="800"/>
              </a:spcAft>
              <a:buClr>
                <a:srgbClr val="193EB0"/>
              </a:buClr>
              <a:buChar char="•"/>
            </a:pPr>
            <a:r>
              <a:rPr sz="1400" b="0" i="0">
                <a:solidFill>
                  <a:srgbClr val="1F2937"/>
                </a:solidFill>
                <a:latin typeface="Arial"/>
              </a:rPr>
              <a:t>Width 1,529–2,891 px, height 1,760–3,001 px (median 2,048).</a:t>
            </a:r>
          </a:p>
          <a:p>
            <a:pPr marL="201168" indent="-201168" algn="l">
              <a:spcAft>
                <a:spcPts val="800"/>
              </a:spcAft>
              <a:buClr>
                <a:srgbClr val="193EB0"/>
              </a:buClr>
              <a:buChar char="•"/>
            </a:pPr>
            <a:r>
              <a:rPr sz="1400" b="0" i="0">
                <a:solidFill>
                  <a:srgbClr val="1F2937"/>
                </a:solidFill>
                <a:latin typeface="Arial"/>
              </a:rPr>
              <a:t>Grayscale 8-bit PNG.</a:t>
            </a:r>
          </a:p>
        </p:txBody>
      </p:sp>
      <p:sp>
        <p:nvSpPr>
          <p:cNvPr id="12" name="Business effect card"/>
          <p:cNvSpPr/>
          <p:nvPr/>
        </p:nvSpPr>
        <p:spPr>
          <a:xfrm>
            <a:off x="5303520" y="4434840"/>
            <a:ext cx="4114800" cy="16459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usiness effect tag"/>
          <p:cNvSpPr/>
          <p:nvPr/>
        </p:nvSpPr>
        <p:spPr>
          <a:xfrm>
            <a:off x="5486400" y="45902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4" name="Business effect text"/>
          <p:cNvSpPr txBox="1"/>
          <p:nvPr/>
        </p:nvSpPr>
        <p:spPr>
          <a:xfrm>
            <a:off x="5486400" y="4965192"/>
            <a:ext cx="3749040" cy="1005840"/>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Real scanners also produce mixed sizes and views. A robust input step means the tool works on any uploaded X-ray, not just a tidy benchmark.</a:t>
            </a:r>
          </a:p>
        </p:txBody>
      </p:sp>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Pixel intensity</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Brightness alone cannot separate normal from abnormal</a:t>
            </a:r>
          </a:p>
        </p:txBody>
      </p:sp>
      <p:pic>
        <p:nvPicPr>
          <p:cNvPr id="8" name="Pixel intensity chart" descr="cell86_0.png"/>
          <p:cNvPicPr>
            <a:picLocks noChangeAspect="1"/>
          </p:cNvPicPr>
          <p:nvPr/>
        </p:nvPicPr>
        <p:blipFill>
          <a:blip r:embed="rId3"/>
          <a:stretch>
            <a:fillRect/>
          </a:stretch>
        </p:blipFill>
        <p:spPr>
          <a:xfrm>
            <a:off x="457200" y="1920240"/>
            <a:ext cx="4572000" cy="2897895"/>
          </a:xfrm>
          <a:prstGeom prst="rect">
            <a:avLst/>
          </a:prstGeom>
        </p:spPr>
      </p:pic>
      <p:sp>
        <p:nvSpPr>
          <p:cNvPr id="9" name="Chart caption"/>
          <p:cNvSpPr txBox="1"/>
          <p:nvPr/>
        </p:nvSpPr>
        <p:spPr>
          <a:xfrm>
            <a:off x="457200" y="4891287"/>
            <a:ext cx="4572000" cy="274320"/>
          </a:xfrm>
          <a:prstGeom prst="rect">
            <a:avLst/>
          </a:prstGeom>
          <a:noFill/>
        </p:spPr>
        <p:txBody>
          <a:bodyPr wrap="square" lIns="0" tIns="0" rIns="0" bIns="0" anchor="t">
            <a:spAutoFit/>
          </a:bodyPr>
          <a:lstStyle/>
          <a:p>
            <a:pPr algn="l">
              <a:spcAft>
                <a:spcPts val="0"/>
              </a:spcAft>
            </a:pPr>
            <a:r>
              <a:rPr sz="1000" b="0" i="0">
                <a:solidFill>
                  <a:srgbClr val="555F73"/>
                </a:solidFill>
                <a:latin typeface="Arial"/>
              </a:rPr>
              <a:t>Sample of 50 normal and 50 abnormal images, background excluded</a:t>
            </a:r>
          </a:p>
        </p:txBody>
      </p:sp>
      <p:sp>
        <p:nvSpPr>
          <p:cNvPr id="10" name="Section label"/>
          <p:cNvSpPr txBox="1"/>
          <p:nvPr/>
        </p:nvSpPr>
        <p:spPr>
          <a:xfrm>
            <a:off x="530352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PIXEL STATISTICS (0–255)</a:t>
            </a:r>
          </a:p>
        </p:txBody>
      </p:sp>
      <p:graphicFrame>
        <p:nvGraphicFramePr>
          <p:cNvPr id="11" name="Pixel statistics table"/>
          <p:cNvGraphicFramePr>
            <a:graphicFrameLocks noGrp="1"/>
          </p:cNvGraphicFramePr>
          <p:nvPr/>
        </p:nvGraphicFramePr>
        <p:xfrm>
          <a:off x="5303520" y="2286000"/>
          <a:ext cx="4114800" cy="1280160"/>
        </p:xfrm>
        <a:graphic>
          <a:graphicData uri="http://schemas.openxmlformats.org/drawingml/2006/table">
            <a:tbl>
              <a:tblPr firstRow="1"/>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20040">
                <a:tc>
                  <a:txBody>
                    <a:bodyPr/>
                    <a:lstStyle/>
                    <a:p>
                      <a:pPr algn="l"/>
                      <a:r>
                        <a:rPr sz="1300" b="1">
                          <a:solidFill>
                            <a:srgbClr val="FFFFFF"/>
                          </a:solidFill>
                          <a:latin typeface="Arial"/>
                        </a:rPr>
                        <a:t>Group</a:t>
                      </a:r>
                    </a:p>
                  </a:txBody>
                  <a:tcPr marT="27432" marB="27432" anchor="ctr">
                    <a:solidFill>
                      <a:srgbClr val="193EB0"/>
                    </a:solidFill>
                  </a:tcPr>
                </a:tc>
                <a:tc>
                  <a:txBody>
                    <a:bodyPr/>
                    <a:lstStyle/>
                    <a:p>
                      <a:pPr algn="r"/>
                      <a:r>
                        <a:rPr sz="1300" b="1">
                          <a:solidFill>
                            <a:srgbClr val="FFFFFF"/>
                          </a:solidFill>
                          <a:latin typeface="Arial"/>
                        </a:rPr>
                        <a:t>Mean</a:t>
                      </a:r>
                    </a:p>
                  </a:txBody>
                  <a:tcPr marT="27432" marB="27432" anchor="ctr">
                    <a:solidFill>
                      <a:srgbClr val="193EB0"/>
                    </a:solidFill>
                  </a:tcPr>
                </a:tc>
                <a:tc>
                  <a:txBody>
                    <a:bodyPr/>
                    <a:lstStyle/>
                    <a:p>
                      <a:pPr algn="r"/>
                      <a:r>
                        <a:rPr sz="1300" b="1">
                          <a:solidFill>
                            <a:srgbClr val="FFFFFF"/>
                          </a:solidFill>
                          <a:latin typeface="Arial"/>
                        </a:rPr>
                        <a:t>Std</a:t>
                      </a:r>
                    </a:p>
                  </a:txBody>
                  <a:tcPr marT="27432" marB="27432" anchor="ctr">
                    <a:solidFill>
                      <a:srgbClr val="193EB0"/>
                    </a:solidFill>
                  </a:tcPr>
                </a:tc>
                <a:extLst>
                  <a:ext uri="{0D108BD9-81ED-4DB2-BD59-A6C34878D82A}">
                    <a16:rowId xmlns:a16="http://schemas.microsoft.com/office/drawing/2014/main" val="10000"/>
                  </a:ext>
                </a:extLst>
              </a:tr>
              <a:tr h="320040">
                <a:tc>
                  <a:txBody>
                    <a:bodyPr/>
                    <a:lstStyle/>
                    <a:p>
                      <a:pPr algn="l"/>
                      <a:r>
                        <a:rPr sz="1300" b="1">
                          <a:solidFill>
                            <a:srgbClr val="1F2937"/>
                          </a:solidFill>
                          <a:latin typeface="Arial"/>
                        </a:rPr>
                        <a:t>Global</a:t>
                      </a:r>
                    </a:p>
                  </a:txBody>
                  <a:tcPr marT="27432" marB="27432" anchor="ctr">
                    <a:solidFill>
                      <a:srgbClr val="EAF0FD"/>
                    </a:solidFill>
                  </a:tcPr>
                </a:tc>
                <a:tc>
                  <a:txBody>
                    <a:bodyPr/>
                    <a:lstStyle/>
                    <a:p>
                      <a:pPr algn="r"/>
                      <a:r>
                        <a:rPr sz="1300" b="0">
                          <a:solidFill>
                            <a:srgbClr val="1F2937"/>
                          </a:solidFill>
                          <a:latin typeface="Arial"/>
                        </a:rPr>
                        <a:t>146.2</a:t>
                      </a:r>
                    </a:p>
                  </a:txBody>
                  <a:tcPr marT="27432" marB="27432" anchor="ctr">
                    <a:solidFill>
                      <a:srgbClr val="EAF0FD"/>
                    </a:solidFill>
                  </a:tcPr>
                </a:tc>
                <a:tc>
                  <a:txBody>
                    <a:bodyPr/>
                    <a:lstStyle/>
                    <a:p>
                      <a:pPr algn="r"/>
                      <a:r>
                        <a:rPr sz="1300" b="0">
                          <a:solidFill>
                            <a:srgbClr val="1F2937"/>
                          </a:solidFill>
                          <a:latin typeface="Arial"/>
                        </a:rPr>
                        <a:t>72.1</a:t>
                      </a:r>
                    </a:p>
                  </a:txBody>
                  <a:tcPr marT="27432" marB="27432" anchor="ctr">
                    <a:solidFill>
                      <a:srgbClr val="EAF0FD"/>
                    </a:solidFill>
                  </a:tcPr>
                </a:tc>
                <a:extLst>
                  <a:ext uri="{0D108BD9-81ED-4DB2-BD59-A6C34878D82A}">
                    <a16:rowId xmlns:a16="http://schemas.microsoft.com/office/drawing/2014/main" val="10001"/>
                  </a:ext>
                </a:extLst>
              </a:tr>
              <a:tr h="320040">
                <a:tc>
                  <a:txBody>
                    <a:bodyPr/>
                    <a:lstStyle/>
                    <a:p>
                      <a:pPr algn="l"/>
                      <a:r>
                        <a:rPr sz="1300" b="1">
                          <a:solidFill>
                            <a:srgbClr val="1F2937"/>
                          </a:solidFill>
                          <a:latin typeface="Arial"/>
                        </a:rPr>
                        <a:t>Normal</a:t>
                      </a:r>
                    </a:p>
                  </a:txBody>
                  <a:tcPr marT="27432" marB="27432" anchor="ctr">
                    <a:solidFill>
                      <a:srgbClr val="FFFFFF"/>
                    </a:solidFill>
                  </a:tcPr>
                </a:tc>
                <a:tc>
                  <a:txBody>
                    <a:bodyPr/>
                    <a:lstStyle/>
                    <a:p>
                      <a:pPr algn="r"/>
                      <a:r>
                        <a:rPr sz="1300" b="0">
                          <a:solidFill>
                            <a:srgbClr val="1F2937"/>
                          </a:solidFill>
                          <a:latin typeface="Arial"/>
                        </a:rPr>
                        <a:t>149.0</a:t>
                      </a:r>
                    </a:p>
                  </a:txBody>
                  <a:tcPr marT="27432" marB="27432" anchor="ctr">
                    <a:solidFill>
                      <a:srgbClr val="FFFFFF"/>
                    </a:solidFill>
                  </a:tcPr>
                </a:tc>
                <a:tc>
                  <a:txBody>
                    <a:bodyPr/>
                    <a:lstStyle/>
                    <a:p>
                      <a:pPr algn="r"/>
                      <a:r>
                        <a:rPr sz="1300" b="0">
                          <a:solidFill>
                            <a:srgbClr val="1F2937"/>
                          </a:solidFill>
                          <a:latin typeface="Arial"/>
                        </a:rPr>
                        <a:t>70.5</a:t>
                      </a:r>
                    </a:p>
                  </a:txBody>
                  <a:tcPr marT="27432" marB="27432" anchor="ctr">
                    <a:solidFill>
                      <a:srgbClr val="FFFFFF"/>
                    </a:solidFill>
                  </a:tcPr>
                </a:tc>
                <a:extLst>
                  <a:ext uri="{0D108BD9-81ED-4DB2-BD59-A6C34878D82A}">
                    <a16:rowId xmlns:a16="http://schemas.microsoft.com/office/drawing/2014/main" val="10002"/>
                  </a:ext>
                </a:extLst>
              </a:tr>
              <a:tr h="320040">
                <a:tc>
                  <a:txBody>
                    <a:bodyPr/>
                    <a:lstStyle/>
                    <a:p>
                      <a:pPr algn="l"/>
                      <a:r>
                        <a:rPr sz="1300" b="1">
                          <a:solidFill>
                            <a:srgbClr val="1F2937"/>
                          </a:solidFill>
                          <a:latin typeface="Arial"/>
                        </a:rPr>
                        <a:t>Abnormal</a:t>
                      </a:r>
                    </a:p>
                  </a:txBody>
                  <a:tcPr marT="27432" marB="27432" anchor="ctr">
                    <a:solidFill>
                      <a:srgbClr val="EAF0FD"/>
                    </a:solidFill>
                  </a:tcPr>
                </a:tc>
                <a:tc>
                  <a:txBody>
                    <a:bodyPr/>
                    <a:lstStyle/>
                    <a:p>
                      <a:pPr algn="r"/>
                      <a:r>
                        <a:rPr sz="1300" b="0">
                          <a:solidFill>
                            <a:srgbClr val="1F2937"/>
                          </a:solidFill>
                          <a:latin typeface="Arial"/>
                        </a:rPr>
                        <a:t>143.5</a:t>
                      </a:r>
                    </a:p>
                  </a:txBody>
                  <a:tcPr marT="27432" marB="27432" anchor="ctr">
                    <a:solidFill>
                      <a:srgbClr val="EAF0FD"/>
                    </a:solidFill>
                  </a:tcPr>
                </a:tc>
                <a:tc>
                  <a:txBody>
                    <a:bodyPr/>
                    <a:lstStyle/>
                    <a:p>
                      <a:pPr algn="r"/>
                      <a:r>
                        <a:rPr sz="1300" b="0">
                          <a:solidFill>
                            <a:srgbClr val="1F2937"/>
                          </a:solidFill>
                          <a:latin typeface="Arial"/>
                        </a:rPr>
                        <a:t>73.5</a:t>
                      </a:r>
                    </a:p>
                  </a:txBody>
                  <a:tcPr marT="27432" marB="27432" anchor="ctr">
                    <a:solidFill>
                      <a:srgbClr val="EAF0FD"/>
                    </a:solidFill>
                  </a:tcPr>
                </a:tc>
                <a:extLst>
                  <a:ext uri="{0D108BD9-81ED-4DB2-BD59-A6C34878D82A}">
                    <a16:rowId xmlns:a16="http://schemas.microsoft.com/office/drawing/2014/main" val="10003"/>
                  </a:ext>
                </a:extLst>
              </a:tr>
            </a:tbl>
          </a:graphicData>
        </a:graphic>
      </p:graphicFrame>
      <p:sp>
        <p:nvSpPr>
          <p:cNvPr id="12" name="Insights"/>
          <p:cNvSpPr txBox="1"/>
          <p:nvPr/>
        </p:nvSpPr>
        <p:spPr>
          <a:xfrm>
            <a:off x="5303520" y="3749039"/>
            <a:ext cx="4114800" cy="685800"/>
          </a:xfrm>
          <a:prstGeom prst="rect">
            <a:avLst/>
          </a:prstGeom>
          <a:noFill/>
        </p:spPr>
        <p:txBody>
          <a:bodyPr wrap="square" lIns="0" tIns="0" rIns="0" bIns="0" anchor="t">
            <a:spAutoFit/>
          </a:bodyPr>
          <a:lstStyle/>
          <a:p>
            <a:pPr marL="201168" indent="-201168" algn="l">
              <a:spcAft>
                <a:spcPts val="400"/>
              </a:spcAft>
              <a:buClr>
                <a:srgbClr val="193EB0"/>
              </a:buClr>
              <a:buChar char="•"/>
            </a:pPr>
            <a:r>
              <a:rPr sz="1400" b="0" i="0">
                <a:solidFill>
                  <a:srgbClr val="1F2937"/>
                </a:solidFill>
                <a:latin typeface="Arial"/>
              </a:rPr>
              <a:t>Means differ by only about 5.5 grey levels (149.0 vs 143.5).</a:t>
            </a:r>
          </a:p>
          <a:p>
            <a:pPr marL="201168" indent="-201168" algn="l">
              <a:spcAft>
                <a:spcPts val="400"/>
              </a:spcAft>
              <a:buClr>
                <a:srgbClr val="193EB0"/>
              </a:buClr>
              <a:buChar char="•"/>
            </a:pPr>
            <a:r>
              <a:rPr sz="1400" b="0" i="0">
                <a:solidFill>
                  <a:srgbClr val="1F2937"/>
                </a:solidFill>
                <a:latin typeface="Arial"/>
              </a:rPr>
              <a:t>Values span 0–255, so images are scaled to 0–1.</a:t>
            </a:r>
          </a:p>
        </p:txBody>
      </p:sp>
      <p:sp>
        <p:nvSpPr>
          <p:cNvPr id="13" name="Business effect card"/>
          <p:cNvSpPr/>
          <p:nvPr/>
        </p:nvSpPr>
        <p:spPr>
          <a:xfrm>
            <a:off x="5303520" y="4754880"/>
            <a:ext cx="4114800" cy="1344168"/>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Business effect tag"/>
          <p:cNvSpPr/>
          <p:nvPr/>
        </p:nvSpPr>
        <p:spPr>
          <a:xfrm>
            <a:off x="5486400" y="491032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5" name="Business effect text"/>
          <p:cNvSpPr txBox="1"/>
          <p:nvPr/>
        </p:nvSpPr>
        <p:spPr>
          <a:xfrm>
            <a:off x="5486400" y="5285232"/>
            <a:ext cx="3749039" cy="704088"/>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The model cannot rely on brightness shortcuts. It has to learn real lung patterns, which is what makes it trustworthy.</a:t>
            </a:r>
          </a:p>
        </p:txBody>
      </p:sp>
    </p:spTree>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Data Preprocessing</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Patient-level data split</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Split by patient first, so no patient appears in two sets</a:t>
            </a:r>
          </a:p>
        </p:txBody>
      </p:sp>
      <p:graphicFrame>
        <p:nvGraphicFramePr>
          <p:cNvPr id="8" name="Split doughnut chart"/>
          <p:cNvGraphicFramePr>
            <a:graphicFrameLocks noGrp="1"/>
          </p:cNvGraphicFramePr>
          <p:nvPr/>
        </p:nvGraphicFramePr>
        <p:xfrm>
          <a:off x="457200" y="1920240"/>
          <a:ext cx="42062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9" name="Section label"/>
          <p:cNvSpPr txBox="1"/>
          <p:nvPr/>
        </p:nvSpPr>
        <p:spPr>
          <a:xfrm>
            <a:off x="5029200" y="196596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HOW WE SPLIT</a:t>
            </a:r>
          </a:p>
        </p:txBody>
      </p:sp>
      <p:sp>
        <p:nvSpPr>
          <p:cNvPr id="10" name="Split rules"/>
          <p:cNvSpPr txBox="1"/>
          <p:nvPr/>
        </p:nvSpPr>
        <p:spPr>
          <a:xfrm>
            <a:off x="5029200" y="2286000"/>
            <a:ext cx="4389120" cy="2651760"/>
          </a:xfrm>
          <a:prstGeom prst="rect">
            <a:avLst/>
          </a:prstGeom>
          <a:noFill/>
        </p:spPr>
        <p:txBody>
          <a:bodyPr wrap="square" lIns="0" tIns="0" rIns="0" bIns="0" anchor="t">
            <a:spAutoFit/>
          </a:bodyPr>
          <a:lstStyle/>
          <a:p>
            <a:pPr marL="201168" indent="-201168" algn="l">
              <a:spcAft>
                <a:spcPts val="800"/>
              </a:spcAft>
              <a:buClr>
                <a:srgbClr val="193EB0"/>
              </a:buClr>
              <a:buChar char="•"/>
            </a:pPr>
            <a:r>
              <a:rPr sz="1400" b="1" i="0">
                <a:solidFill>
                  <a:srgbClr val="193EB0"/>
                </a:solidFill>
                <a:latin typeface="Arial"/>
              </a:rPr>
              <a:t>By study ID (uid), </a:t>
            </a:r>
            <a:r>
              <a:rPr sz="1400" b="0" i="0">
                <a:solidFill>
                  <a:srgbClr val="1F2937"/>
                </a:solidFill>
                <a:latin typeface="Arial"/>
              </a:rPr>
              <a:t>so every image of a patient stays in the same set.</a:t>
            </a:r>
          </a:p>
          <a:p>
            <a:pPr marL="201168" indent="-201168" algn="l">
              <a:spcAft>
                <a:spcPts val="800"/>
              </a:spcAft>
              <a:buClr>
                <a:srgbClr val="193EB0"/>
              </a:buClr>
              <a:buChar char="•"/>
            </a:pPr>
            <a:r>
              <a:rPr sz="1400" b="1" i="0">
                <a:solidFill>
                  <a:srgbClr val="193EB0"/>
                </a:solidFill>
                <a:latin typeface="Arial"/>
              </a:rPr>
              <a:t>Stratified </a:t>
            </a:r>
            <a:r>
              <a:rPr sz="1400" b="0" i="0">
                <a:solidFill>
                  <a:srgbClr val="1F2937"/>
                </a:solidFill>
                <a:latin typeface="Arial"/>
              </a:rPr>
              <a:t>on normal / abnormal, so each set keeps the same class balance.</a:t>
            </a:r>
          </a:p>
          <a:p>
            <a:pPr marL="201168" indent="-201168" algn="l">
              <a:spcAft>
                <a:spcPts val="800"/>
              </a:spcAft>
              <a:buClr>
                <a:srgbClr val="193EB0"/>
              </a:buClr>
              <a:buChar char="•"/>
            </a:pPr>
            <a:r>
              <a:rPr sz="1400" b="1" i="0">
                <a:solidFill>
                  <a:srgbClr val="193EB0"/>
                </a:solidFill>
                <a:latin typeface="Arial"/>
              </a:rPr>
              <a:t>80 / 20 </a:t>
            </a:r>
            <a:r>
              <a:rPr sz="1400" b="0" i="0">
                <a:solidFill>
                  <a:srgbClr val="1F2937"/>
                </a:solidFill>
                <a:latin typeface="Arial"/>
              </a:rPr>
              <a:t>train–test, then 20% of train held out for validation (64 / 16 / 20).</a:t>
            </a:r>
          </a:p>
          <a:p>
            <a:pPr marL="201168" indent="-201168" algn="l">
              <a:spcAft>
                <a:spcPts val="800"/>
              </a:spcAft>
              <a:buClr>
                <a:srgbClr val="193EB0"/>
              </a:buClr>
              <a:buChar char="•"/>
            </a:pPr>
            <a:r>
              <a:rPr sz="1400" b="1" i="0">
                <a:solidFill>
                  <a:srgbClr val="193EB0"/>
                </a:solidFill>
                <a:latin typeface="Arial"/>
              </a:rPr>
              <a:t>Labels fit on train only; </a:t>
            </a:r>
            <a:r>
              <a:rPr sz="1400" b="0" i="0">
                <a:solidFill>
                  <a:srgbClr val="1F2937"/>
                </a:solidFill>
                <a:latin typeface="Arial"/>
              </a:rPr>
              <a:t>labels unseen in train are ignored.</a:t>
            </a:r>
          </a:p>
        </p:txBody>
      </p:sp>
      <p:sp>
        <p:nvSpPr>
          <p:cNvPr id="11" name="Business effect card"/>
          <p:cNvSpPr/>
          <p:nvPr/>
        </p:nvSpPr>
        <p:spPr>
          <a:xfrm>
            <a:off x="457200" y="5074920"/>
            <a:ext cx="8961120" cy="1024128"/>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usiness effect tag"/>
          <p:cNvSpPr/>
          <p:nvPr/>
        </p:nvSpPr>
        <p:spPr>
          <a:xfrm>
            <a:off x="640080" y="523036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13" name="Business effect text"/>
          <p:cNvSpPr txBox="1"/>
          <p:nvPr/>
        </p:nvSpPr>
        <p:spPr>
          <a:xfrm>
            <a:off x="640080" y="5605272"/>
            <a:ext cx="8595360" cy="384048"/>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Honest numbers: results come from patients the model has never seen, which is the first thing a hospital will ask before trusting it.</a:t>
            </a:r>
          </a:p>
        </p:txBody>
      </p:sp>
    </p:spTree>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Image &amp; text preprocessing</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Fixed, reproducible transforms for both modalities</a:t>
            </a:r>
          </a:p>
        </p:txBody>
      </p:sp>
      <p:sp>
        <p:nvSpPr>
          <p:cNvPr id="8" name="Image panel"/>
          <p:cNvSpPr/>
          <p:nvPr/>
        </p:nvSpPr>
        <p:spPr>
          <a:xfrm>
            <a:off x="457200" y="1920240"/>
            <a:ext cx="4389120" cy="3017520"/>
          </a:xfrm>
          <a:prstGeom prst="roundRect">
            <a:avLst>
              <a:gd name="adj" fmla="val 4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Image header"/>
          <p:cNvSpPr/>
          <p:nvPr/>
        </p:nvSpPr>
        <p:spPr>
          <a:xfrm>
            <a:off x="457200" y="1920240"/>
            <a:ext cx="4389120" cy="457200"/>
          </a:xfrm>
          <a:prstGeom prst="roundRect">
            <a:avLst>
              <a:gd name="adj" fmla="val 2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Image branch</a:t>
            </a:r>
          </a:p>
        </p:txBody>
      </p:sp>
      <p:sp>
        <p:nvSpPr>
          <p:cNvPr id="10" name="Image step 1 number"/>
          <p:cNvSpPr/>
          <p:nvPr/>
        </p:nvSpPr>
        <p:spPr>
          <a:xfrm>
            <a:off x="640080" y="2560320"/>
            <a:ext cx="310896" cy="310896"/>
          </a:xfrm>
          <a:prstGeom prst="ellipse">
            <a:avLst/>
          </a:prstGeom>
          <a:solidFill>
            <a:srgbClr val="EAF0FD"/>
          </a:solidFill>
          <a:ln w="12700">
            <a:solidFill>
              <a:srgbClr val="193EB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193EB0"/>
                </a:solidFill>
                <a:latin typeface="Arial"/>
              </a:rPr>
              <a:t>1</a:t>
            </a:r>
          </a:p>
        </p:txBody>
      </p:sp>
      <p:sp>
        <p:nvSpPr>
          <p:cNvPr id="11" name="Image step 1 text"/>
          <p:cNvSpPr txBox="1"/>
          <p:nvPr/>
        </p:nvSpPr>
        <p:spPr>
          <a:xfrm>
            <a:off x="1097280" y="2523744"/>
            <a:ext cx="3611880" cy="5029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Read </a:t>
            </a:r>
            <a:r>
              <a:rPr sz="1400" b="0" i="0">
                <a:solidFill>
                  <a:srgbClr val="1F2937"/>
                </a:solidFill>
                <a:latin typeface="Arial"/>
              </a:rPr>
              <a:t>the X-ray as 1-channel grayscale</a:t>
            </a:r>
          </a:p>
        </p:txBody>
      </p:sp>
      <p:sp>
        <p:nvSpPr>
          <p:cNvPr id="12" name="Image step 2 number"/>
          <p:cNvSpPr/>
          <p:nvPr/>
        </p:nvSpPr>
        <p:spPr>
          <a:xfrm>
            <a:off x="640080" y="3145536"/>
            <a:ext cx="310896" cy="310896"/>
          </a:xfrm>
          <a:prstGeom prst="ellipse">
            <a:avLst/>
          </a:prstGeom>
          <a:solidFill>
            <a:srgbClr val="EAF0FD"/>
          </a:solidFill>
          <a:ln w="12700">
            <a:solidFill>
              <a:srgbClr val="193EB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193EB0"/>
                </a:solidFill>
                <a:latin typeface="Arial"/>
              </a:rPr>
              <a:t>2</a:t>
            </a:r>
          </a:p>
        </p:txBody>
      </p:sp>
      <p:sp>
        <p:nvSpPr>
          <p:cNvPr id="13" name="Image step 2 text"/>
          <p:cNvSpPr txBox="1"/>
          <p:nvPr/>
        </p:nvSpPr>
        <p:spPr>
          <a:xfrm>
            <a:off x="1097280" y="3108960"/>
            <a:ext cx="3611880" cy="5029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Resize with padding </a:t>
            </a:r>
            <a:r>
              <a:rPr sz="1400" b="0" i="0">
                <a:solidFill>
                  <a:srgbClr val="1F2937"/>
                </a:solidFill>
                <a:latin typeface="Arial"/>
              </a:rPr>
              <a:t>to 224 × 224 (keeps the aspect ratio)</a:t>
            </a:r>
          </a:p>
        </p:txBody>
      </p:sp>
      <p:sp>
        <p:nvSpPr>
          <p:cNvPr id="14" name="Image step 3 number"/>
          <p:cNvSpPr/>
          <p:nvPr/>
        </p:nvSpPr>
        <p:spPr>
          <a:xfrm>
            <a:off x="640080" y="3730752"/>
            <a:ext cx="310896" cy="310896"/>
          </a:xfrm>
          <a:prstGeom prst="ellipse">
            <a:avLst/>
          </a:prstGeom>
          <a:solidFill>
            <a:srgbClr val="EAF0FD"/>
          </a:solidFill>
          <a:ln w="12700">
            <a:solidFill>
              <a:srgbClr val="193EB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193EB0"/>
                </a:solidFill>
                <a:latin typeface="Arial"/>
              </a:rPr>
              <a:t>3</a:t>
            </a:r>
          </a:p>
        </p:txBody>
      </p:sp>
      <p:sp>
        <p:nvSpPr>
          <p:cNvPr id="15" name="Image step 3 text"/>
          <p:cNvSpPr txBox="1"/>
          <p:nvPr/>
        </p:nvSpPr>
        <p:spPr>
          <a:xfrm>
            <a:off x="1097280" y="3694176"/>
            <a:ext cx="3611880" cy="5029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Scale </a:t>
            </a:r>
            <a:r>
              <a:rPr sz="1400" b="0" i="0">
                <a:solidFill>
                  <a:srgbClr val="1F2937"/>
                </a:solidFill>
                <a:latin typeface="Arial"/>
              </a:rPr>
              <a:t>pixel values from 0–255 to 0–1</a:t>
            </a:r>
          </a:p>
        </p:txBody>
      </p:sp>
      <p:sp>
        <p:nvSpPr>
          <p:cNvPr id="16" name="Image step 4 number"/>
          <p:cNvSpPr/>
          <p:nvPr/>
        </p:nvSpPr>
        <p:spPr>
          <a:xfrm>
            <a:off x="640080" y="4315968"/>
            <a:ext cx="310896" cy="310896"/>
          </a:xfrm>
          <a:prstGeom prst="ellipse">
            <a:avLst/>
          </a:prstGeom>
          <a:solidFill>
            <a:srgbClr val="EAF0FD"/>
          </a:solidFill>
          <a:ln w="12700">
            <a:solidFill>
              <a:srgbClr val="193EB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193EB0"/>
                </a:solidFill>
                <a:latin typeface="Arial"/>
              </a:rPr>
              <a:t>4</a:t>
            </a:r>
          </a:p>
        </p:txBody>
      </p:sp>
      <p:sp>
        <p:nvSpPr>
          <p:cNvPr id="17" name="Image step 4 text"/>
          <p:cNvSpPr txBox="1"/>
          <p:nvPr/>
        </p:nvSpPr>
        <p:spPr>
          <a:xfrm>
            <a:off x="1097280" y="4279392"/>
            <a:ext cx="3611880" cy="5029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Pad patient </a:t>
            </a:r>
            <a:r>
              <a:rPr sz="1400" b="0" i="0">
                <a:solidFill>
                  <a:srgbClr val="1F2937"/>
                </a:solidFill>
                <a:latin typeface="Arial"/>
              </a:rPr>
              <a:t>to 5 images with blank (zero) images</a:t>
            </a:r>
          </a:p>
        </p:txBody>
      </p:sp>
      <p:sp>
        <p:nvSpPr>
          <p:cNvPr id="18" name="Text panel"/>
          <p:cNvSpPr/>
          <p:nvPr/>
        </p:nvSpPr>
        <p:spPr>
          <a:xfrm>
            <a:off x="5029200" y="1920240"/>
            <a:ext cx="4389120" cy="3017520"/>
          </a:xfrm>
          <a:prstGeom prst="roundRect">
            <a:avLst>
              <a:gd name="adj" fmla="val 4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 header"/>
          <p:cNvSpPr/>
          <p:nvPr/>
        </p:nvSpPr>
        <p:spPr>
          <a:xfrm>
            <a:off x="5029200" y="1920240"/>
            <a:ext cx="4389120" cy="457200"/>
          </a:xfrm>
          <a:prstGeom prst="roundRect">
            <a:avLst>
              <a:gd name="adj" fmla="val 2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400" b="1">
                <a:solidFill>
                  <a:srgbClr val="FFFFFF"/>
                </a:solidFill>
                <a:latin typeface="Arial"/>
              </a:rPr>
              <a:t>Text branch</a:t>
            </a:r>
          </a:p>
        </p:txBody>
      </p:sp>
      <p:sp>
        <p:nvSpPr>
          <p:cNvPr id="20" name="Text step 1 number"/>
          <p:cNvSpPr/>
          <p:nvPr/>
        </p:nvSpPr>
        <p:spPr>
          <a:xfrm>
            <a:off x="5212080" y="2560320"/>
            <a:ext cx="310896" cy="310896"/>
          </a:xfrm>
          <a:prstGeom prst="ellipse">
            <a:avLst/>
          </a:prstGeom>
          <a:solidFill>
            <a:srgbClr val="EAF0FD"/>
          </a:solidFill>
          <a:ln w="12700">
            <a:solidFill>
              <a:srgbClr val="193EB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193EB0"/>
                </a:solidFill>
                <a:latin typeface="Arial"/>
              </a:rPr>
              <a:t>1</a:t>
            </a:r>
          </a:p>
        </p:txBody>
      </p:sp>
      <p:sp>
        <p:nvSpPr>
          <p:cNvPr id="21" name="Text step 1 text"/>
          <p:cNvSpPr txBox="1"/>
          <p:nvPr/>
        </p:nvSpPr>
        <p:spPr>
          <a:xfrm>
            <a:off x="5669280" y="2523744"/>
            <a:ext cx="3611880" cy="5029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Select </a:t>
            </a:r>
            <a:r>
              <a:rPr sz="1400" b="0" i="0">
                <a:solidFill>
                  <a:srgbClr val="1F2937"/>
                </a:solidFill>
                <a:latin typeface="Arial"/>
              </a:rPr>
              <a:t>the indication (patient history) only</a:t>
            </a:r>
          </a:p>
        </p:txBody>
      </p:sp>
      <p:sp>
        <p:nvSpPr>
          <p:cNvPr id="22" name="Text step 2 number"/>
          <p:cNvSpPr/>
          <p:nvPr/>
        </p:nvSpPr>
        <p:spPr>
          <a:xfrm>
            <a:off x="5212080" y="3145536"/>
            <a:ext cx="310896" cy="310896"/>
          </a:xfrm>
          <a:prstGeom prst="ellipse">
            <a:avLst/>
          </a:prstGeom>
          <a:solidFill>
            <a:srgbClr val="EAF0FD"/>
          </a:solidFill>
          <a:ln w="12700">
            <a:solidFill>
              <a:srgbClr val="193EB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193EB0"/>
                </a:solidFill>
                <a:latin typeface="Arial"/>
              </a:rPr>
              <a:t>2</a:t>
            </a:r>
          </a:p>
        </p:txBody>
      </p:sp>
      <p:sp>
        <p:nvSpPr>
          <p:cNvPr id="23" name="Text step 2 text"/>
          <p:cNvSpPr txBox="1"/>
          <p:nvPr/>
        </p:nvSpPr>
        <p:spPr>
          <a:xfrm>
            <a:off x="5669280" y="3108960"/>
            <a:ext cx="3611880" cy="5029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Tokenise </a:t>
            </a:r>
            <a:r>
              <a:rPr sz="1400" b="0" i="0">
                <a:solidFill>
                  <a:srgbClr val="1F2937"/>
                </a:solidFill>
                <a:latin typeface="Arial"/>
              </a:rPr>
              <a:t>with the Bio_ClinicalBERT tokenizer</a:t>
            </a:r>
          </a:p>
        </p:txBody>
      </p:sp>
      <p:sp>
        <p:nvSpPr>
          <p:cNvPr id="24" name="Text step 3 number"/>
          <p:cNvSpPr/>
          <p:nvPr/>
        </p:nvSpPr>
        <p:spPr>
          <a:xfrm>
            <a:off x="5212080" y="3730752"/>
            <a:ext cx="310896" cy="310896"/>
          </a:xfrm>
          <a:prstGeom prst="ellipse">
            <a:avLst/>
          </a:prstGeom>
          <a:solidFill>
            <a:srgbClr val="EAF0FD"/>
          </a:solidFill>
          <a:ln w="12700">
            <a:solidFill>
              <a:srgbClr val="193EB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193EB0"/>
                </a:solidFill>
                <a:latin typeface="Arial"/>
              </a:rPr>
              <a:t>3</a:t>
            </a:r>
          </a:p>
        </p:txBody>
      </p:sp>
      <p:sp>
        <p:nvSpPr>
          <p:cNvPr id="25" name="Text step 3 text"/>
          <p:cNvSpPr txBox="1"/>
          <p:nvPr/>
        </p:nvSpPr>
        <p:spPr>
          <a:xfrm>
            <a:off x="5669280" y="3694176"/>
            <a:ext cx="3611880" cy="5029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Pad / truncate </a:t>
            </a:r>
            <a:r>
              <a:rPr sz="1400" b="0" i="0">
                <a:solidFill>
                  <a:srgbClr val="1F2937"/>
                </a:solidFill>
                <a:latin typeface="Arial"/>
              </a:rPr>
              <a:t>to 100 tokens</a:t>
            </a:r>
          </a:p>
        </p:txBody>
      </p:sp>
      <p:sp>
        <p:nvSpPr>
          <p:cNvPr id="26" name="Text step 4 number"/>
          <p:cNvSpPr/>
          <p:nvPr/>
        </p:nvSpPr>
        <p:spPr>
          <a:xfrm>
            <a:off x="5212080" y="4315968"/>
            <a:ext cx="310896" cy="310896"/>
          </a:xfrm>
          <a:prstGeom prst="ellipse">
            <a:avLst/>
          </a:prstGeom>
          <a:solidFill>
            <a:srgbClr val="EAF0FD"/>
          </a:solidFill>
          <a:ln w="12700">
            <a:solidFill>
              <a:srgbClr val="193EB0"/>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200" b="1">
                <a:solidFill>
                  <a:srgbClr val="193EB0"/>
                </a:solidFill>
                <a:latin typeface="Arial"/>
              </a:rPr>
              <a:t>4</a:t>
            </a:r>
          </a:p>
        </p:txBody>
      </p:sp>
      <p:sp>
        <p:nvSpPr>
          <p:cNvPr id="27" name="Text step 4 text"/>
          <p:cNvSpPr txBox="1"/>
          <p:nvPr/>
        </p:nvSpPr>
        <p:spPr>
          <a:xfrm>
            <a:off x="5669280" y="4279392"/>
            <a:ext cx="3611880" cy="502920"/>
          </a:xfrm>
          <a:prstGeom prst="rect">
            <a:avLst/>
          </a:prstGeom>
          <a:noFill/>
        </p:spPr>
        <p:txBody>
          <a:bodyPr wrap="square" lIns="0" tIns="0" rIns="0" bIns="0" anchor="t">
            <a:spAutoFit/>
          </a:bodyPr>
          <a:lstStyle/>
          <a:p>
            <a:pPr algn="l">
              <a:spcAft>
                <a:spcPts val="0"/>
              </a:spcAft>
            </a:pPr>
            <a:r>
              <a:rPr sz="1400" b="1" i="0">
                <a:solidFill>
                  <a:srgbClr val="193EB0"/>
                </a:solidFill>
                <a:latin typeface="Arial"/>
              </a:rPr>
              <a:t>Attention mask </a:t>
            </a:r>
            <a:r>
              <a:rPr sz="1400" b="0" i="0">
                <a:solidFill>
                  <a:srgbClr val="1F2937"/>
                </a:solidFill>
                <a:latin typeface="Arial"/>
              </a:rPr>
              <a:t>tells the model which tokens are real</a:t>
            </a:r>
          </a:p>
        </p:txBody>
      </p:sp>
      <p:sp>
        <p:nvSpPr>
          <p:cNvPr id="28" name="Business effect card"/>
          <p:cNvSpPr/>
          <p:nvPr/>
        </p:nvSpPr>
        <p:spPr>
          <a:xfrm>
            <a:off x="457200" y="5074920"/>
            <a:ext cx="8961120" cy="1024128"/>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usiness effect tag"/>
          <p:cNvSpPr/>
          <p:nvPr/>
        </p:nvSpPr>
        <p:spPr>
          <a:xfrm>
            <a:off x="640080" y="523036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30" name="Business effect text"/>
          <p:cNvSpPr txBox="1"/>
          <p:nvPr/>
        </p:nvSpPr>
        <p:spPr>
          <a:xfrm>
            <a:off x="640080" y="5605272"/>
            <a:ext cx="8595360" cy="384048"/>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The same fixed steps will run on every X-ray and note uploaded at the hospital, so what the model sees in use matches what it learned from.</a:t>
            </a:r>
          </a:p>
        </p:txBody>
      </p:sp>
    </p:spTree>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Model-ready batches</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Each batch holds 8 patients: images, tokens and 110 labels</a:t>
            </a:r>
          </a:p>
        </p:txBody>
      </p:sp>
      <p:sp>
        <p:nvSpPr>
          <p:cNvPr id="8" name="Tensor row 1"/>
          <p:cNvSpPr/>
          <p:nvPr/>
        </p:nvSpPr>
        <p:spPr>
          <a:xfrm>
            <a:off x="457200" y="1938528"/>
            <a:ext cx="8961120" cy="548640"/>
          </a:xfrm>
          <a:prstGeom prst="roundRect">
            <a:avLst>
              <a:gd name="adj" fmla="val 12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nsor name 1"/>
          <p:cNvSpPr txBox="1"/>
          <p:nvPr/>
        </p:nvSpPr>
        <p:spPr>
          <a:xfrm>
            <a:off x="640080" y="1938528"/>
            <a:ext cx="2011680" cy="548640"/>
          </a:xfrm>
          <a:prstGeom prst="rect">
            <a:avLst/>
          </a:prstGeom>
          <a:noFill/>
        </p:spPr>
        <p:txBody>
          <a:bodyPr wrap="square" lIns="0" tIns="0" rIns="0" bIns="0" anchor="ctr">
            <a:spAutoFit/>
          </a:bodyPr>
          <a:lstStyle/>
          <a:p>
            <a:pPr algn="l">
              <a:spcAft>
                <a:spcPts val="0"/>
              </a:spcAft>
            </a:pPr>
            <a:r>
              <a:rPr sz="1400" b="1" i="0">
                <a:solidFill>
                  <a:srgbClr val="193EB0"/>
                </a:solidFill>
                <a:latin typeface="Arial"/>
              </a:rPr>
              <a:t>images</a:t>
            </a:r>
          </a:p>
        </p:txBody>
      </p:sp>
      <p:sp>
        <p:nvSpPr>
          <p:cNvPr id="10" name="Tensor shape 1"/>
          <p:cNvSpPr txBox="1"/>
          <p:nvPr/>
        </p:nvSpPr>
        <p:spPr>
          <a:xfrm>
            <a:off x="2651760" y="1938528"/>
            <a:ext cx="2377440" cy="548640"/>
          </a:xfrm>
          <a:prstGeom prst="rect">
            <a:avLst/>
          </a:prstGeom>
          <a:noFill/>
        </p:spPr>
        <p:txBody>
          <a:bodyPr wrap="square" lIns="0" tIns="0" rIns="0" bIns="0" anchor="ctr">
            <a:spAutoFit/>
          </a:bodyPr>
          <a:lstStyle/>
          <a:p>
            <a:pPr algn="l">
              <a:spcAft>
                <a:spcPts val="0"/>
              </a:spcAft>
            </a:pPr>
            <a:r>
              <a:rPr sz="1400" b="1" i="0">
                <a:solidFill>
                  <a:srgbClr val="1F2937"/>
                </a:solidFill>
                <a:latin typeface="Arial"/>
              </a:rPr>
              <a:t>(8, 5, 224, 224, 1)</a:t>
            </a:r>
          </a:p>
        </p:txBody>
      </p:sp>
      <p:sp>
        <p:nvSpPr>
          <p:cNvPr id="11" name="Tensor dtype 1"/>
          <p:cNvSpPr txBox="1"/>
          <p:nvPr/>
        </p:nvSpPr>
        <p:spPr>
          <a:xfrm>
            <a:off x="5029200" y="1938528"/>
            <a:ext cx="1005840" cy="548640"/>
          </a:xfrm>
          <a:prstGeom prst="rect">
            <a:avLst/>
          </a:prstGeom>
          <a:noFill/>
        </p:spPr>
        <p:txBody>
          <a:bodyPr wrap="square" lIns="0" tIns="0" rIns="0" bIns="0" anchor="ctr">
            <a:spAutoFit/>
          </a:bodyPr>
          <a:lstStyle/>
          <a:p>
            <a:pPr algn="l">
              <a:spcAft>
                <a:spcPts val="0"/>
              </a:spcAft>
            </a:pPr>
            <a:r>
              <a:rPr sz="1200" b="0" i="0">
                <a:solidFill>
                  <a:srgbClr val="555F73"/>
                </a:solidFill>
                <a:latin typeface="Arial"/>
              </a:rPr>
              <a:t>float32</a:t>
            </a:r>
          </a:p>
        </p:txBody>
      </p:sp>
      <p:sp>
        <p:nvSpPr>
          <p:cNvPr id="12" name="Tensor meaning 1"/>
          <p:cNvSpPr txBox="1"/>
          <p:nvPr/>
        </p:nvSpPr>
        <p:spPr>
          <a:xfrm>
            <a:off x="6126480" y="1938528"/>
            <a:ext cx="3200400" cy="548640"/>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up to 5 X-rays per patient</a:t>
            </a:r>
          </a:p>
        </p:txBody>
      </p:sp>
      <p:sp>
        <p:nvSpPr>
          <p:cNvPr id="13" name="Tensor row 2"/>
          <p:cNvSpPr/>
          <p:nvPr/>
        </p:nvSpPr>
        <p:spPr>
          <a:xfrm>
            <a:off x="457200" y="2578608"/>
            <a:ext cx="8961120" cy="548640"/>
          </a:xfrm>
          <a:prstGeom prst="roundRect">
            <a:avLst>
              <a:gd name="adj" fmla="val 12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nsor name 2"/>
          <p:cNvSpPr txBox="1"/>
          <p:nvPr/>
        </p:nvSpPr>
        <p:spPr>
          <a:xfrm>
            <a:off x="640080" y="2578608"/>
            <a:ext cx="2011680" cy="548640"/>
          </a:xfrm>
          <a:prstGeom prst="rect">
            <a:avLst/>
          </a:prstGeom>
          <a:noFill/>
        </p:spPr>
        <p:txBody>
          <a:bodyPr wrap="square" lIns="0" tIns="0" rIns="0" bIns="0" anchor="ctr">
            <a:spAutoFit/>
          </a:bodyPr>
          <a:lstStyle/>
          <a:p>
            <a:pPr algn="l">
              <a:spcAft>
                <a:spcPts val="0"/>
              </a:spcAft>
            </a:pPr>
            <a:r>
              <a:rPr sz="1400" b="1" i="0">
                <a:solidFill>
                  <a:srgbClr val="193EB0"/>
                </a:solidFill>
                <a:latin typeface="Arial"/>
              </a:rPr>
              <a:t>input_ids</a:t>
            </a:r>
          </a:p>
        </p:txBody>
      </p:sp>
      <p:sp>
        <p:nvSpPr>
          <p:cNvPr id="15" name="Tensor shape 2"/>
          <p:cNvSpPr txBox="1"/>
          <p:nvPr/>
        </p:nvSpPr>
        <p:spPr>
          <a:xfrm>
            <a:off x="2651760" y="2578608"/>
            <a:ext cx="2377440" cy="548640"/>
          </a:xfrm>
          <a:prstGeom prst="rect">
            <a:avLst/>
          </a:prstGeom>
          <a:noFill/>
        </p:spPr>
        <p:txBody>
          <a:bodyPr wrap="square" lIns="0" tIns="0" rIns="0" bIns="0" anchor="ctr">
            <a:spAutoFit/>
          </a:bodyPr>
          <a:lstStyle/>
          <a:p>
            <a:pPr algn="l">
              <a:spcAft>
                <a:spcPts val="0"/>
              </a:spcAft>
            </a:pPr>
            <a:r>
              <a:rPr sz="1400" b="1" i="0">
                <a:solidFill>
                  <a:srgbClr val="1F2937"/>
                </a:solidFill>
                <a:latin typeface="Arial"/>
              </a:rPr>
              <a:t>(8, 100)</a:t>
            </a:r>
          </a:p>
        </p:txBody>
      </p:sp>
      <p:sp>
        <p:nvSpPr>
          <p:cNvPr id="16" name="Tensor dtype 2"/>
          <p:cNvSpPr txBox="1"/>
          <p:nvPr/>
        </p:nvSpPr>
        <p:spPr>
          <a:xfrm>
            <a:off x="5029200" y="2578608"/>
            <a:ext cx="1005840" cy="548640"/>
          </a:xfrm>
          <a:prstGeom prst="rect">
            <a:avLst/>
          </a:prstGeom>
          <a:noFill/>
        </p:spPr>
        <p:txBody>
          <a:bodyPr wrap="square" lIns="0" tIns="0" rIns="0" bIns="0" anchor="ctr">
            <a:spAutoFit/>
          </a:bodyPr>
          <a:lstStyle/>
          <a:p>
            <a:pPr algn="l">
              <a:spcAft>
                <a:spcPts val="0"/>
              </a:spcAft>
            </a:pPr>
            <a:r>
              <a:rPr sz="1200" b="0" i="0">
                <a:solidFill>
                  <a:srgbClr val="555F73"/>
                </a:solidFill>
                <a:latin typeface="Arial"/>
              </a:rPr>
              <a:t>int32</a:t>
            </a:r>
          </a:p>
        </p:txBody>
      </p:sp>
      <p:sp>
        <p:nvSpPr>
          <p:cNvPr id="17" name="Tensor meaning 2"/>
          <p:cNvSpPr txBox="1"/>
          <p:nvPr/>
        </p:nvSpPr>
        <p:spPr>
          <a:xfrm>
            <a:off x="6126480" y="2578608"/>
            <a:ext cx="3200400" cy="548640"/>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ClinicalBERT tokens</a:t>
            </a:r>
          </a:p>
        </p:txBody>
      </p:sp>
      <p:sp>
        <p:nvSpPr>
          <p:cNvPr id="18" name="Tensor row 3"/>
          <p:cNvSpPr/>
          <p:nvPr/>
        </p:nvSpPr>
        <p:spPr>
          <a:xfrm>
            <a:off x="457200" y="3218688"/>
            <a:ext cx="8961120" cy="548640"/>
          </a:xfrm>
          <a:prstGeom prst="roundRect">
            <a:avLst>
              <a:gd name="adj" fmla="val 12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nsor name 3"/>
          <p:cNvSpPr txBox="1"/>
          <p:nvPr/>
        </p:nvSpPr>
        <p:spPr>
          <a:xfrm>
            <a:off x="640080" y="3218688"/>
            <a:ext cx="2011680" cy="548640"/>
          </a:xfrm>
          <a:prstGeom prst="rect">
            <a:avLst/>
          </a:prstGeom>
          <a:noFill/>
        </p:spPr>
        <p:txBody>
          <a:bodyPr wrap="square" lIns="0" tIns="0" rIns="0" bIns="0" anchor="ctr">
            <a:spAutoFit/>
          </a:bodyPr>
          <a:lstStyle/>
          <a:p>
            <a:pPr algn="l">
              <a:spcAft>
                <a:spcPts val="0"/>
              </a:spcAft>
            </a:pPr>
            <a:r>
              <a:rPr sz="1400" b="1" i="0">
                <a:solidFill>
                  <a:srgbClr val="193EB0"/>
                </a:solidFill>
                <a:latin typeface="Arial"/>
              </a:rPr>
              <a:t>attention_mask</a:t>
            </a:r>
          </a:p>
        </p:txBody>
      </p:sp>
      <p:sp>
        <p:nvSpPr>
          <p:cNvPr id="20" name="Tensor shape 3"/>
          <p:cNvSpPr txBox="1"/>
          <p:nvPr/>
        </p:nvSpPr>
        <p:spPr>
          <a:xfrm>
            <a:off x="2651760" y="3218688"/>
            <a:ext cx="2377440" cy="548640"/>
          </a:xfrm>
          <a:prstGeom prst="rect">
            <a:avLst/>
          </a:prstGeom>
          <a:noFill/>
        </p:spPr>
        <p:txBody>
          <a:bodyPr wrap="square" lIns="0" tIns="0" rIns="0" bIns="0" anchor="ctr">
            <a:spAutoFit/>
          </a:bodyPr>
          <a:lstStyle/>
          <a:p>
            <a:pPr algn="l">
              <a:spcAft>
                <a:spcPts val="0"/>
              </a:spcAft>
            </a:pPr>
            <a:r>
              <a:rPr sz="1400" b="1" i="0">
                <a:solidFill>
                  <a:srgbClr val="1F2937"/>
                </a:solidFill>
                <a:latin typeface="Arial"/>
              </a:rPr>
              <a:t>(8, 100)</a:t>
            </a:r>
          </a:p>
        </p:txBody>
      </p:sp>
      <p:sp>
        <p:nvSpPr>
          <p:cNvPr id="21" name="Tensor dtype 3"/>
          <p:cNvSpPr txBox="1"/>
          <p:nvPr/>
        </p:nvSpPr>
        <p:spPr>
          <a:xfrm>
            <a:off x="5029200" y="3218688"/>
            <a:ext cx="1005840" cy="548640"/>
          </a:xfrm>
          <a:prstGeom prst="rect">
            <a:avLst/>
          </a:prstGeom>
          <a:noFill/>
        </p:spPr>
        <p:txBody>
          <a:bodyPr wrap="square" lIns="0" tIns="0" rIns="0" bIns="0" anchor="ctr">
            <a:spAutoFit/>
          </a:bodyPr>
          <a:lstStyle/>
          <a:p>
            <a:pPr algn="l">
              <a:spcAft>
                <a:spcPts val="0"/>
              </a:spcAft>
            </a:pPr>
            <a:r>
              <a:rPr sz="1200" b="0" i="0">
                <a:solidFill>
                  <a:srgbClr val="555F73"/>
                </a:solidFill>
                <a:latin typeface="Arial"/>
              </a:rPr>
              <a:t>int32</a:t>
            </a:r>
          </a:p>
        </p:txBody>
      </p:sp>
      <p:sp>
        <p:nvSpPr>
          <p:cNvPr id="22" name="Tensor meaning 3"/>
          <p:cNvSpPr txBox="1"/>
          <p:nvPr/>
        </p:nvSpPr>
        <p:spPr>
          <a:xfrm>
            <a:off x="6126480" y="3218688"/>
            <a:ext cx="3200400" cy="548640"/>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real tokens vs padding</a:t>
            </a:r>
          </a:p>
        </p:txBody>
      </p:sp>
      <p:sp>
        <p:nvSpPr>
          <p:cNvPr id="23" name="Tensor row 4"/>
          <p:cNvSpPr/>
          <p:nvPr/>
        </p:nvSpPr>
        <p:spPr>
          <a:xfrm>
            <a:off x="457200" y="3858768"/>
            <a:ext cx="8961120" cy="548640"/>
          </a:xfrm>
          <a:prstGeom prst="roundRect">
            <a:avLst>
              <a:gd name="adj" fmla="val 12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nsor name 4"/>
          <p:cNvSpPr txBox="1"/>
          <p:nvPr/>
        </p:nvSpPr>
        <p:spPr>
          <a:xfrm>
            <a:off x="640080" y="3858768"/>
            <a:ext cx="2011680" cy="548640"/>
          </a:xfrm>
          <a:prstGeom prst="rect">
            <a:avLst/>
          </a:prstGeom>
          <a:noFill/>
        </p:spPr>
        <p:txBody>
          <a:bodyPr wrap="square" lIns="0" tIns="0" rIns="0" bIns="0" anchor="ctr">
            <a:spAutoFit/>
          </a:bodyPr>
          <a:lstStyle/>
          <a:p>
            <a:pPr algn="l">
              <a:spcAft>
                <a:spcPts val="0"/>
              </a:spcAft>
            </a:pPr>
            <a:r>
              <a:rPr sz="1400" b="1" i="0">
                <a:solidFill>
                  <a:srgbClr val="193EB0"/>
                </a:solidFill>
                <a:latin typeface="Arial"/>
              </a:rPr>
              <a:t>target</a:t>
            </a:r>
          </a:p>
        </p:txBody>
      </p:sp>
      <p:sp>
        <p:nvSpPr>
          <p:cNvPr id="25" name="Tensor shape 4"/>
          <p:cNvSpPr txBox="1"/>
          <p:nvPr/>
        </p:nvSpPr>
        <p:spPr>
          <a:xfrm>
            <a:off x="2651760" y="3858768"/>
            <a:ext cx="2377440" cy="548640"/>
          </a:xfrm>
          <a:prstGeom prst="rect">
            <a:avLst/>
          </a:prstGeom>
          <a:noFill/>
        </p:spPr>
        <p:txBody>
          <a:bodyPr wrap="square" lIns="0" tIns="0" rIns="0" bIns="0" anchor="ctr">
            <a:spAutoFit/>
          </a:bodyPr>
          <a:lstStyle/>
          <a:p>
            <a:pPr algn="l">
              <a:spcAft>
                <a:spcPts val="0"/>
              </a:spcAft>
            </a:pPr>
            <a:r>
              <a:rPr sz="1400" b="1" i="0">
                <a:solidFill>
                  <a:srgbClr val="1F2937"/>
                </a:solidFill>
                <a:latin typeface="Arial"/>
              </a:rPr>
              <a:t>(8, 110)</a:t>
            </a:r>
          </a:p>
        </p:txBody>
      </p:sp>
      <p:sp>
        <p:nvSpPr>
          <p:cNvPr id="26" name="Tensor dtype 4"/>
          <p:cNvSpPr txBox="1"/>
          <p:nvPr/>
        </p:nvSpPr>
        <p:spPr>
          <a:xfrm>
            <a:off x="5029200" y="3858768"/>
            <a:ext cx="1005840" cy="548640"/>
          </a:xfrm>
          <a:prstGeom prst="rect">
            <a:avLst/>
          </a:prstGeom>
          <a:noFill/>
        </p:spPr>
        <p:txBody>
          <a:bodyPr wrap="square" lIns="0" tIns="0" rIns="0" bIns="0" anchor="ctr">
            <a:spAutoFit/>
          </a:bodyPr>
          <a:lstStyle/>
          <a:p>
            <a:pPr algn="l">
              <a:spcAft>
                <a:spcPts val="0"/>
              </a:spcAft>
            </a:pPr>
            <a:r>
              <a:rPr sz="1200" b="0" i="0">
                <a:solidFill>
                  <a:srgbClr val="555F73"/>
                </a:solidFill>
                <a:latin typeface="Arial"/>
              </a:rPr>
              <a:t>float32</a:t>
            </a:r>
          </a:p>
        </p:txBody>
      </p:sp>
      <p:sp>
        <p:nvSpPr>
          <p:cNvPr id="27" name="Tensor meaning 4"/>
          <p:cNvSpPr txBox="1"/>
          <p:nvPr/>
        </p:nvSpPr>
        <p:spPr>
          <a:xfrm>
            <a:off x="6126480" y="3858768"/>
            <a:ext cx="3200400" cy="548640"/>
          </a:xfrm>
          <a:prstGeom prst="rect">
            <a:avLst/>
          </a:prstGeom>
          <a:noFill/>
        </p:spPr>
        <p:txBody>
          <a:bodyPr wrap="square" lIns="0" tIns="0" rIns="0" bIns="0" anchor="ctr">
            <a:spAutoFit/>
          </a:bodyPr>
          <a:lstStyle/>
          <a:p>
            <a:pPr algn="l">
              <a:spcAft>
                <a:spcPts val="0"/>
              </a:spcAft>
            </a:pPr>
            <a:r>
              <a:rPr sz="1200" b="0" i="0">
                <a:solidFill>
                  <a:srgbClr val="1F2937"/>
                </a:solidFill>
                <a:latin typeface="Arial"/>
              </a:rPr>
              <a:t>multi-hot findings</a:t>
            </a:r>
          </a:p>
        </p:txBody>
      </p:sp>
      <p:sp>
        <p:nvSpPr>
          <p:cNvPr id="28" name="Section label"/>
          <p:cNvSpPr txBox="1"/>
          <p:nvPr/>
        </p:nvSpPr>
        <p:spPr>
          <a:xfrm>
            <a:off x="457200" y="4572000"/>
            <a:ext cx="2743200" cy="228600"/>
          </a:xfrm>
          <a:prstGeom prst="rect">
            <a:avLst/>
          </a:prstGeom>
          <a:noFill/>
        </p:spPr>
        <p:txBody>
          <a:bodyPr wrap="square" lIns="0" tIns="0" rIns="0" bIns="0" anchor="t">
            <a:spAutoFit/>
          </a:bodyPr>
          <a:lstStyle/>
          <a:p>
            <a:pPr algn="l">
              <a:spcAft>
                <a:spcPts val="600"/>
              </a:spcAft>
            </a:pPr>
            <a:r>
              <a:rPr sz="1200" b="1" i="0">
                <a:solidFill>
                  <a:srgbClr val="009BD6"/>
                </a:solidFill>
                <a:latin typeface="Arial"/>
              </a:rPr>
              <a:t>SAVED FOR THE WHOLE TEAM</a:t>
            </a:r>
          </a:p>
        </p:txBody>
      </p:sp>
      <p:sp>
        <p:nvSpPr>
          <p:cNvPr id="29" name="Exported files"/>
          <p:cNvSpPr txBox="1"/>
          <p:nvPr/>
        </p:nvSpPr>
        <p:spPr>
          <a:xfrm>
            <a:off x="457200" y="4846320"/>
            <a:ext cx="8961120" cy="320040"/>
          </a:xfrm>
          <a:prstGeom prst="rect">
            <a:avLst/>
          </a:prstGeom>
          <a:noFill/>
        </p:spPr>
        <p:txBody>
          <a:bodyPr wrap="square" lIns="0" tIns="0" rIns="0" bIns="0" anchor="t">
            <a:spAutoFit/>
          </a:bodyPr>
          <a:lstStyle/>
          <a:p>
            <a:pPr algn="l">
              <a:spcAft>
                <a:spcPts val="0"/>
              </a:spcAft>
            </a:pPr>
            <a:r>
              <a:rPr sz="1400" b="1" i="0">
                <a:solidFill>
                  <a:srgbClr val="1F2937"/>
                </a:solidFill>
                <a:latin typeface="Arial"/>
              </a:rPr>
              <a:t>nlp_dataset.csv (3,851 × 117)  ·  splits.csv  ·  mlb_classes.json (110 labels)</a:t>
            </a:r>
          </a:p>
        </p:txBody>
      </p:sp>
      <p:sp>
        <p:nvSpPr>
          <p:cNvPr id="30" name="Business effect card"/>
          <p:cNvSpPr/>
          <p:nvPr/>
        </p:nvSpPr>
        <p:spPr>
          <a:xfrm>
            <a:off x="457200" y="5257800"/>
            <a:ext cx="8961120" cy="841248"/>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Business effect tag"/>
          <p:cNvSpPr/>
          <p:nvPr/>
        </p:nvSpPr>
        <p:spPr>
          <a:xfrm>
            <a:off x="640080" y="541324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1100" b="1">
                <a:solidFill>
                  <a:srgbClr val="FFFFFF"/>
                </a:solidFill>
                <a:latin typeface="Arial"/>
              </a:rPr>
              <a:t>BUSINESS EFFECT</a:t>
            </a:r>
          </a:p>
        </p:txBody>
      </p:sp>
      <p:sp>
        <p:nvSpPr>
          <p:cNvPr id="32" name="Business effect text"/>
          <p:cNvSpPr txBox="1"/>
          <p:nvPr/>
        </p:nvSpPr>
        <p:spPr>
          <a:xfrm>
            <a:off x="640080" y="5788152"/>
            <a:ext cx="8595360" cy="201168"/>
          </a:xfrm>
          <a:prstGeom prst="rect">
            <a:avLst/>
          </a:prstGeom>
          <a:noFill/>
        </p:spPr>
        <p:txBody>
          <a:bodyPr wrap="square" lIns="0" tIns="0" rIns="0" bIns="0" anchor="t">
            <a:spAutoFit/>
          </a:bodyPr>
          <a:lstStyle/>
          <a:p>
            <a:pPr algn="l">
              <a:spcAft>
                <a:spcPts val="0"/>
              </a:spcAft>
            </a:pPr>
            <a:r>
              <a:rPr sz="1400" b="0" i="0">
                <a:solidFill>
                  <a:srgbClr val="1F2937"/>
                </a:solidFill>
                <a:latin typeface="Arial"/>
              </a:rPr>
              <a:t>Versioned split and label files give every model identical data, so comparisons are fair.</a:t>
            </a:r>
          </a:p>
        </p:txBody>
      </p:sp>
    </p:spTree>
  </p:cSld>
  <p:clrMapOvr>
    <a:masterClrMapping/>
  </p:clrMapOvr>
  <p:transition>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From insights to impact</a:t>
            </a:r>
          </a:p>
        </p:txBody>
      </p:sp>
      <p:sp>
        <p:nvSpPr>
          <p:cNvPr id="7" name="Headline"/>
          <p:cNvSpPr txBox="1"/>
          <p:nvPr/>
        </p:nvSpPr>
        <p:spPr>
          <a:xfrm>
            <a:off x="457200" y="1371600"/>
            <a:ext cx="8961120" cy="365760"/>
          </a:xfrm>
          <a:prstGeom prst="rect">
            <a:avLst/>
          </a:prstGeom>
          <a:noFill/>
        </p:spPr>
        <p:txBody>
          <a:bodyPr wrap="square" lIns="0" tIns="0" rIns="0" bIns="0" anchor="t">
            <a:spAutoFit/>
          </a:bodyPr>
          <a:lstStyle/>
          <a:p>
            <a:pPr algn="l">
              <a:spcAft>
                <a:spcPts val="600"/>
              </a:spcAft>
            </a:pPr>
            <a:r>
              <a:rPr sz="1800" b="1" i="0">
                <a:solidFill>
                  <a:srgbClr val="193EB0"/>
                </a:solidFill>
                <a:latin typeface="Arial"/>
              </a:rPr>
              <a:t>Every finding in the data became a decision with a business payoff</a:t>
            </a:r>
          </a:p>
        </p:txBody>
      </p:sp>
      <p:graphicFrame>
        <p:nvGraphicFramePr>
          <p:cNvPr id="8" name="Insights to impact table"/>
          <p:cNvGraphicFramePr>
            <a:graphicFrameLocks noGrp="1"/>
          </p:cNvGraphicFramePr>
          <p:nvPr/>
        </p:nvGraphicFramePr>
        <p:xfrm>
          <a:off x="457200" y="1920240"/>
          <a:ext cx="8961120" cy="3657600"/>
        </p:xfrm>
        <a:graphic>
          <a:graphicData uri="http://schemas.openxmlformats.org/drawingml/2006/table">
            <a:tbl>
              <a:tblPr firstRow="1"/>
              <a:tblGrid>
                <a:gridCol w="32004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65760">
                <a:tc>
                  <a:txBody>
                    <a:bodyPr/>
                    <a:lstStyle/>
                    <a:p>
                      <a:r>
                        <a:rPr sz="1300" b="1">
                          <a:solidFill>
                            <a:srgbClr val="FFFFFF"/>
                          </a:solidFill>
                          <a:latin typeface="Arial"/>
                        </a:rPr>
                        <a:t>What the data showed</a:t>
                      </a:r>
                    </a:p>
                  </a:txBody>
                  <a:tcPr marT="36576" marB="36576" anchor="ctr">
                    <a:lnB w="9525">
                      <a:solidFill>
                        <a:srgbClr val="C9D5F2"/>
                      </a:solidFill>
                    </a:lnB>
                    <a:solidFill>
                      <a:srgbClr val="193EB0"/>
                    </a:solidFill>
                  </a:tcPr>
                </a:tc>
                <a:tc>
                  <a:txBody>
                    <a:bodyPr/>
                    <a:lstStyle/>
                    <a:p>
                      <a:r>
                        <a:rPr sz="1300" b="1">
                          <a:solidFill>
                            <a:srgbClr val="FFFFFF"/>
                          </a:solidFill>
                          <a:latin typeface="Arial"/>
                        </a:rPr>
                        <a:t>What we decided</a:t>
                      </a:r>
                    </a:p>
                  </a:txBody>
                  <a:tcPr marT="36576" marB="36576" anchor="ctr">
                    <a:lnB w="9525">
                      <a:solidFill>
                        <a:srgbClr val="C9D5F2"/>
                      </a:solidFill>
                    </a:lnB>
                    <a:solidFill>
                      <a:srgbClr val="193EB0"/>
                    </a:solidFill>
                  </a:tcPr>
                </a:tc>
                <a:tc>
                  <a:txBody>
                    <a:bodyPr/>
                    <a:lstStyle/>
                    <a:p>
                      <a:r>
                        <a:rPr sz="1300" b="1">
                          <a:solidFill>
                            <a:srgbClr val="FFFFFF"/>
                          </a:solidFill>
                          <a:latin typeface="Arial"/>
                        </a:rPr>
                        <a:t>Business effect</a:t>
                      </a:r>
                    </a:p>
                  </a:txBody>
                  <a:tcPr marT="36576" marB="36576" anchor="ctr">
                    <a:lnB w="9525">
                      <a:solidFill>
                        <a:srgbClr val="C9D5F2"/>
                      </a:solidFill>
                    </a:lnB>
                    <a:solidFill>
                      <a:srgbClr val="193EB0"/>
                    </a:solidFill>
                  </a:tcPr>
                </a:tc>
                <a:extLst>
                  <a:ext uri="{0D108BD9-81ED-4DB2-BD59-A6C34878D82A}">
                    <a16:rowId xmlns:a16="http://schemas.microsoft.com/office/drawing/2014/main" val="10000"/>
                  </a:ext>
                </a:extLst>
              </a:tr>
              <a:tr h="548640">
                <a:tc>
                  <a:txBody>
                    <a:bodyPr/>
                    <a:lstStyle/>
                    <a:p>
                      <a:r>
                        <a:rPr sz="1200" b="0">
                          <a:solidFill>
                            <a:srgbClr val="1F2937"/>
                          </a:solidFill>
                          <a:latin typeface="Arial"/>
                        </a:rPr>
                        <a:t>64% abnormal; a few findings dominate the 110 labels</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0">
                          <a:solidFill>
                            <a:srgbClr val="1F2937"/>
                          </a:solidFill>
                          <a:latin typeface="Arial"/>
                        </a:rPr>
                        <a:t>Weighted loss; recall and PR-AUC as key metrics</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1">
                          <a:solidFill>
                            <a:srgbClr val="193EB0"/>
                          </a:solidFill>
                          <a:latin typeface="Arial"/>
                        </a:rPr>
                        <a:t>Fewer missed abnormal cases in the queue</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EAF0FD"/>
                    </a:solidFill>
                  </a:tcPr>
                </a:tc>
                <a:extLst>
                  <a:ext uri="{0D108BD9-81ED-4DB2-BD59-A6C34878D82A}">
                    <a16:rowId xmlns:a16="http://schemas.microsoft.com/office/drawing/2014/main" val="10001"/>
                  </a:ext>
                </a:extLst>
              </a:tr>
              <a:tr h="548640">
                <a:tc>
                  <a:txBody>
                    <a:bodyPr/>
                    <a:lstStyle/>
                    <a:p>
                      <a:r>
                        <a:rPr sz="1200" b="0">
                          <a:solidFill>
                            <a:srgbClr val="1F2937"/>
                          </a:solidFill>
                          <a:latin typeface="Arial"/>
                        </a:rPr>
                        <a:t>6.8% of histories missing, and short when present</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0">
                          <a:solidFill>
                            <a:srgbClr val="1F2937"/>
                          </a:solidFill>
                          <a:latin typeface="Arial"/>
                        </a:rPr>
                        <a:t>“not provided” token; 100-token text input</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1">
                          <a:solidFill>
                            <a:srgbClr val="193EB0"/>
                          </a:solidFill>
                          <a:latin typeface="Arial"/>
                        </a:rPr>
                        <a:t>Every patient is still triaged; fast inference</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EAF0FD"/>
                    </a:solidFill>
                  </a:tcPr>
                </a:tc>
                <a:extLst>
                  <a:ext uri="{0D108BD9-81ED-4DB2-BD59-A6C34878D82A}">
                    <a16:rowId xmlns:a16="http://schemas.microsoft.com/office/drawing/2014/main" val="10002"/>
                  </a:ext>
                </a:extLst>
              </a:tr>
              <a:tr h="548640">
                <a:tc>
                  <a:txBody>
                    <a:bodyPr/>
                    <a:lstStyle/>
                    <a:p>
                      <a:r>
                        <a:rPr sz="1200" b="0">
                          <a:solidFill>
                            <a:srgbClr val="1F2937"/>
                          </a:solidFill>
                          <a:latin typeface="Arial"/>
                        </a:rPr>
                        <a:t>Findings and impression reveal the answer</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0">
                          <a:solidFill>
                            <a:srgbClr val="1F2937"/>
                          </a:solidFill>
                          <a:latin typeface="Arial"/>
                        </a:rPr>
                        <a:t>Input = indication only; labels from Problems</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1">
                          <a:solidFill>
                            <a:srgbClr val="193EB0"/>
                          </a:solidFill>
                          <a:latin typeface="Arial"/>
                        </a:rPr>
                        <a:t>Honest, deployable performance (no leakage)</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EAF0FD"/>
                    </a:solidFill>
                  </a:tcPr>
                </a:tc>
                <a:extLst>
                  <a:ext uri="{0D108BD9-81ED-4DB2-BD59-A6C34878D82A}">
                    <a16:rowId xmlns:a16="http://schemas.microsoft.com/office/drawing/2014/main" val="10003"/>
                  </a:ext>
                </a:extLst>
              </a:tr>
              <a:tr h="548640">
                <a:tc>
                  <a:txBody>
                    <a:bodyPr/>
                    <a:lstStyle/>
                    <a:p>
                      <a:r>
                        <a:rPr sz="1200" b="0">
                          <a:solidFill>
                            <a:srgbClr val="1F2937"/>
                          </a:solidFill>
                          <a:latin typeface="Arial"/>
                        </a:rPr>
                        <a:t>Several findings per patient</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0">
                          <a:solidFill>
                            <a:srgbClr val="1F2937"/>
                          </a:solidFill>
                          <a:latin typeface="Arial"/>
                        </a:rPr>
                        <a:t>Multi-label output (110 classes)</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1">
                          <a:solidFill>
                            <a:srgbClr val="193EB0"/>
                          </a:solidFill>
                          <a:latin typeface="Arial"/>
                        </a:rPr>
                        <a:t>Doctor sees the full picture</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EAF0FD"/>
                    </a:solidFill>
                  </a:tcPr>
                </a:tc>
                <a:extLst>
                  <a:ext uri="{0D108BD9-81ED-4DB2-BD59-A6C34878D82A}">
                    <a16:rowId xmlns:a16="http://schemas.microsoft.com/office/drawing/2014/main" val="10004"/>
                  </a:ext>
                </a:extLst>
              </a:tr>
              <a:tr h="548640">
                <a:tc>
                  <a:txBody>
                    <a:bodyPr/>
                    <a:lstStyle/>
                    <a:p>
                      <a:r>
                        <a:rPr sz="1200" b="0">
                          <a:solidFill>
                            <a:srgbClr val="1F2937"/>
                          </a:solidFill>
                          <a:latin typeface="Arial"/>
                        </a:rPr>
                        <a:t>1–5 views per patient, mixed image sizes</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0">
                          <a:solidFill>
                            <a:srgbClr val="1F2937"/>
                          </a:solidFill>
                          <a:latin typeface="Arial"/>
                        </a:rPr>
                        <a:t>Pad to 5 images; resize with padding to 224</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1">
                          <a:solidFill>
                            <a:srgbClr val="193EB0"/>
                          </a:solidFill>
                          <a:latin typeface="Arial"/>
                        </a:rPr>
                        <a:t>Works on any uploaded X-ray</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EAF0FD"/>
                    </a:solidFill>
                  </a:tcPr>
                </a:tc>
                <a:extLst>
                  <a:ext uri="{0D108BD9-81ED-4DB2-BD59-A6C34878D82A}">
                    <a16:rowId xmlns:a16="http://schemas.microsoft.com/office/drawing/2014/main" val="10005"/>
                  </a:ext>
                </a:extLst>
              </a:tr>
              <a:tr h="548640">
                <a:tc>
                  <a:txBody>
                    <a:bodyPr/>
                    <a:lstStyle/>
                    <a:p>
                      <a:r>
                        <a:rPr sz="1200" b="0">
                          <a:solidFill>
                            <a:srgbClr val="1F2937"/>
                          </a:solidFill>
                          <a:latin typeface="Arial"/>
                        </a:rPr>
                        <a:t>Duplicate images; multiple images per patient</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0">
                          <a:solidFill>
                            <a:srgbClr val="1F2937"/>
                          </a:solidFill>
                          <a:latin typeface="Arial"/>
                        </a:rPr>
                        <a:t>MD5 de-duplication; patient-level split</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FFFFFF"/>
                    </a:solidFill>
                  </a:tcPr>
                </a:tc>
                <a:tc>
                  <a:txBody>
                    <a:bodyPr/>
                    <a:lstStyle/>
                    <a:p>
                      <a:r>
                        <a:rPr sz="1200" b="1">
                          <a:solidFill>
                            <a:srgbClr val="193EB0"/>
                          </a:solidFill>
                          <a:latin typeface="Arial"/>
                        </a:rPr>
                        <a:t>Trustworthy test results</a:t>
                      </a:r>
                    </a:p>
                  </a:txBody>
                  <a:tcPr marT="36576" marB="36576" anchor="ctr">
                    <a:lnT w="9525" cap="flat" cmpd="sng" algn="ctr">
                      <a:solidFill>
                        <a:srgbClr val="C9D5F2"/>
                      </a:solidFill>
                      <a:prstDash val="solid"/>
                      <a:round/>
                      <a:headEnd type="none" w="med" len="med"/>
                      <a:tailEnd type="none" w="med" len="med"/>
                    </a:lnT>
                    <a:lnB w="9525">
                      <a:solidFill>
                        <a:srgbClr val="C9D5F2"/>
                      </a:solidFill>
                    </a:lnB>
                    <a:solidFill>
                      <a:srgbClr val="EAF0FD"/>
                    </a:solidFill>
                  </a:tcPr>
                </a:tc>
                <a:extLst>
                  <a:ext uri="{0D108BD9-81ED-4DB2-BD59-A6C34878D82A}">
                    <a16:rowId xmlns:a16="http://schemas.microsoft.com/office/drawing/2014/main" val="10006"/>
                  </a:ext>
                </a:extLst>
              </a:tr>
            </a:tbl>
          </a:graphicData>
        </a:graphic>
      </p:graphicFrame>
    </p:spTree>
  </p:cSld>
  <p:clrMapOvr>
    <a:masterClrMapping/>
  </p:clrMapOvr>
  <p:transition>
    <p:push/>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Text Model (NLP)</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Clinical-note model</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Three simple models read the note; together they predict the 110 findings</a:t>
            </a:r>
          </a:p>
        </p:txBody>
      </p:sp>
      <p:sp>
        <p:nvSpPr>
          <p:cNvPr id="8" name="Input box"/>
          <p:cNvSpPr/>
          <p:nvPr/>
        </p:nvSpPr>
        <p:spPr>
          <a:xfrm>
            <a:off x="457200" y="2331720"/>
            <a:ext cx="1737360" cy="1554480"/>
          </a:xfrm>
          <a:prstGeom prst="roundRect">
            <a:avLst>
              <a:gd name="adj" fmla="val 8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Indication</a:t>
            </a:r>
          </a:p>
          <a:p>
            <a:pPr algn="ctr"/>
            <a:r>
              <a:rPr sz="1200">
                <a:solidFill>
                  <a:srgbClr val="1F2937"/>
                </a:solidFill>
                <a:latin typeface="Arial"/>
              </a:rPr>
              <a:t>the reason for the X-ray. The radiologist's report is never used.</a:t>
            </a:r>
          </a:p>
        </p:txBody>
      </p:sp>
      <p:sp>
        <p:nvSpPr>
          <p:cNvPr id="9" name="Arrow input"/>
          <p:cNvSpPr/>
          <p:nvPr/>
        </p:nvSpPr>
        <p:spPr>
          <a:xfrm>
            <a:off x="2286000" y="2971800"/>
            <a:ext cx="365760" cy="274320"/>
          </a:xfrm>
          <a:prstGeom prst="rightArrow">
            <a:avLst/>
          </a:prstGeom>
          <a:solidFill>
            <a:srgbClr val="00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ranch 1"/>
          <p:cNvSpPr/>
          <p:nvPr/>
        </p:nvSpPr>
        <p:spPr>
          <a:xfrm>
            <a:off x="2743200" y="1920240"/>
            <a:ext cx="3017520" cy="777240"/>
          </a:xfrm>
          <a:prstGeom prst="roundRect">
            <a:avLst>
              <a:gd name="adj" fmla="val 8000"/>
            </a:avLst>
          </a:prstGeom>
          <a:solidFill>
            <a:srgbClr val="EAF0FD"/>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Fine-tuned transformer</a:t>
            </a:r>
          </a:p>
          <a:p>
            <a:pPr algn="ctr"/>
            <a:r>
              <a:rPr sz="1200">
                <a:solidFill>
                  <a:srgbClr val="1F2937"/>
                </a:solidFill>
                <a:latin typeface="Arial"/>
              </a:rPr>
              <a:t>understands the meaning; 5 copies averaged</a:t>
            </a:r>
          </a:p>
        </p:txBody>
      </p:sp>
      <p:sp>
        <p:nvSpPr>
          <p:cNvPr id="11" name="Branch 2"/>
          <p:cNvSpPr/>
          <p:nvPr/>
        </p:nvSpPr>
        <p:spPr>
          <a:xfrm>
            <a:off x="2743200" y="2807208"/>
            <a:ext cx="3017520" cy="777240"/>
          </a:xfrm>
          <a:prstGeom prst="roundRect">
            <a:avLst>
              <a:gd name="adj" fmla="val 8000"/>
            </a:avLst>
          </a:prstGeom>
          <a:solidFill>
            <a:srgbClr val="EAF0FD"/>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TF-IDF classifier</a:t>
            </a:r>
          </a:p>
          <a:p>
            <a:pPr algn="ctr"/>
            <a:r>
              <a:rPr sz="1200">
                <a:solidFill>
                  <a:srgbClr val="1F2937"/>
                </a:solidFill>
                <a:latin typeface="Arial"/>
              </a:rPr>
              <a:t>looks at the important words</a:t>
            </a:r>
          </a:p>
        </p:txBody>
      </p:sp>
      <p:sp>
        <p:nvSpPr>
          <p:cNvPr id="12" name="Branch 3"/>
          <p:cNvSpPr/>
          <p:nvPr/>
        </p:nvSpPr>
        <p:spPr>
          <a:xfrm>
            <a:off x="2743200" y="3694176"/>
            <a:ext cx="3017520" cy="777240"/>
          </a:xfrm>
          <a:prstGeom prst="roundRect">
            <a:avLst>
              <a:gd name="adj" fmla="val 8000"/>
            </a:avLst>
          </a:prstGeom>
          <a:solidFill>
            <a:srgbClr val="EAF0FD"/>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Frozen-encoder embeddings</a:t>
            </a:r>
          </a:p>
          <a:p>
            <a:pPr algn="ctr"/>
            <a:r>
              <a:rPr sz="1200">
                <a:solidFill>
                  <a:srgbClr val="1F2937"/>
                </a:solidFill>
                <a:latin typeface="Arial"/>
              </a:rPr>
              <a:t>turns the note into 768 numbers</a:t>
            </a:r>
          </a:p>
        </p:txBody>
      </p:sp>
      <p:sp>
        <p:nvSpPr>
          <p:cNvPr id="13" name="Arrow branches"/>
          <p:cNvSpPr/>
          <p:nvPr/>
        </p:nvSpPr>
        <p:spPr>
          <a:xfrm>
            <a:off x="5852160" y="2971800"/>
            <a:ext cx="365760" cy="274320"/>
          </a:xfrm>
          <a:prstGeom prst="rightArrow">
            <a:avLst/>
          </a:prstGeom>
          <a:solidFill>
            <a:srgbClr val="00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lend box"/>
          <p:cNvSpPr/>
          <p:nvPr/>
        </p:nvSpPr>
        <p:spPr>
          <a:xfrm>
            <a:off x="6309360" y="2514600"/>
            <a:ext cx="1371600" cy="1097280"/>
          </a:xfrm>
          <a:prstGeom prst="roundRect">
            <a:avLst>
              <a:gd name="adj" fmla="val 8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FFFFFF"/>
                </a:solidFill>
                <a:latin typeface="Arial"/>
              </a:rPr>
              <a:t>Weighted blend</a:t>
            </a:r>
          </a:p>
        </p:txBody>
      </p:sp>
      <p:sp>
        <p:nvSpPr>
          <p:cNvPr id="15" name="Arrow blend"/>
          <p:cNvSpPr/>
          <p:nvPr/>
        </p:nvSpPr>
        <p:spPr>
          <a:xfrm>
            <a:off x="7726679" y="2971800"/>
            <a:ext cx="320040" cy="274320"/>
          </a:xfrm>
          <a:prstGeom prst="rightArrow">
            <a:avLst/>
          </a:prstGeom>
          <a:solidFill>
            <a:srgbClr val="00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utput box"/>
          <p:cNvSpPr/>
          <p:nvPr/>
        </p:nvSpPr>
        <p:spPr>
          <a:xfrm>
            <a:off x="8092440" y="2240280"/>
            <a:ext cx="1325880" cy="1645920"/>
          </a:xfrm>
          <a:prstGeom prst="roundRect">
            <a:avLst>
              <a:gd name="adj" fmla="val 8000"/>
            </a:avLst>
          </a:prstGeom>
          <a:solidFill>
            <a:srgbClr val="EAF0FD"/>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Output</a:t>
            </a:r>
          </a:p>
          <a:p>
            <a:pPr algn="ctr"/>
            <a:r>
              <a:rPr sz="1200">
                <a:solidFill>
                  <a:srgbClr val="1F2937"/>
                </a:solidFill>
                <a:latin typeface="Arial"/>
              </a:rPr>
              <a:t>a chance (0-100%) for each of the 110 findings</a:t>
            </a:r>
          </a:p>
        </p:txBody>
      </p:sp>
      <p:sp>
        <p:nvSpPr>
          <p:cNvPr id="17" name="Thresholds line"/>
          <p:cNvSpPr txBox="1"/>
          <p:nvPr/>
        </p:nvSpPr>
        <p:spPr>
          <a:xfrm>
            <a:off x="457200" y="4617720"/>
            <a:ext cx="8961120" cy="365760"/>
          </a:xfrm>
          <a:prstGeom prst="rect">
            <a:avLst/>
          </a:prstGeom>
          <a:noFill/>
        </p:spPr>
        <p:txBody>
          <a:bodyPr wrap="square" lIns="0" rIns="0" tIns="0" bIns="0" anchor="t">
            <a:spAutoFit/>
          </a:bodyPr>
          <a:lstStyle/>
          <a:p>
            <a:pPr algn="l">
              <a:spcAft>
                <a:spcPts val="0"/>
              </a:spcAft>
            </a:pPr>
            <a:r>
              <a:rPr sz="1400" b="1" i="0">
                <a:solidFill>
                  <a:srgbClr val="193EB0"/>
                </a:solidFill>
                <a:latin typeface="Arial"/>
              </a:rPr>
              <a:t>Own cut-off per finding: </a:t>
            </a:r>
            <a:r>
              <a:rPr sz="1400" b="0" i="0">
                <a:solidFill>
                  <a:srgbClr val="1F2937"/>
                </a:solidFill>
                <a:latin typeface="Arial"/>
              </a:rPr>
              <a:t>a rare finding is not judged like a common one. Test score: 0.635 macro ROC-AUC.</a:t>
            </a:r>
          </a:p>
        </p:txBody>
      </p:sp>
      <p:sp>
        <p:nvSpPr>
          <p:cNvPr id="18" name="Business effect card"/>
          <p:cNvSpPr/>
          <p:nvPr/>
        </p:nvSpPr>
        <p:spPr>
          <a:xfrm>
            <a:off x="457200" y="5074920"/>
            <a:ext cx="8961120" cy="100584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usiness effect tag"/>
          <p:cNvSpPr/>
          <p:nvPr/>
        </p:nvSpPr>
        <p:spPr>
          <a:xfrm>
            <a:off x="640080" y="523036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20" name="Business effect text"/>
          <p:cNvSpPr txBox="1"/>
          <p:nvPr/>
        </p:nvSpPr>
        <p:spPr>
          <a:xfrm>
            <a:off x="640080" y="5605272"/>
            <a:ext cx="8595360" cy="36576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Three ways of reading a short note are more reliable than one, and the same 768 numbers feed the fusion model.</a:t>
            </a:r>
          </a:p>
        </p:txBody>
      </p:sp>
    </p:spTree>
  </p:cSld>
  <p:clrMapOvr>
    <a:masterClrMapping/>
  </p:clrMapOvr>
  <p:transition>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Cleaning the note</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The app cleans every note exactly like the training data</a:t>
            </a:r>
          </a:p>
        </p:txBody>
      </p:sp>
      <p:graphicFrame>
        <p:nvGraphicFramePr>
          <p:cNvPr id="8" name="Cleaning examples table"/>
          <p:cNvGraphicFramePr>
            <a:graphicFrameLocks noGrp="1"/>
          </p:cNvGraphicFramePr>
          <p:nvPr/>
        </p:nvGraphicFramePr>
        <p:xfrm>
          <a:off x="457200" y="1920240"/>
          <a:ext cx="8961120" cy="2194560"/>
        </p:xfrm>
        <a:graphic>
          <a:graphicData uri="http://schemas.openxmlformats.org/drawingml/2006/table">
            <a:tbl>
              <a:tblPr firstRow="1" bandRow="0"/>
              <a:tblGrid>
                <a:gridCol w="3383280"/>
                <a:gridCol w="3200400"/>
                <a:gridCol w="2377440"/>
              </a:tblGrid>
              <a:tr h="365760">
                <a:tc>
                  <a:txBody>
                    <a:bodyPr/>
                    <a:lstStyle/>
                    <a:p>
                      <a:r>
                        <a:rPr sz="1300" b="1">
                          <a:solidFill>
                            <a:srgbClr val="FFFFFF"/>
                          </a:solidFill>
                          <a:latin typeface="Arial"/>
                        </a:rPr>
                        <a:t>Raw note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After cleaning</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Result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r>
              <a:tr h="365760">
                <a:tc>
                  <a:txBody>
                    <a:bodyPr/>
                    <a:lstStyle/>
                    <a:p>
                      <a:r>
                        <a:rPr sz="1200">
                          <a:solidFill>
                            <a:srgbClr val="1F2937"/>
                          </a:solidFill>
                          <a:latin typeface="Arial"/>
                        </a:rPr>
                        <a:t>XXXX year-old male. Cough, fever x 3 days.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200">
                          <a:solidFill>
                            <a:srgbClr val="1F2937"/>
                          </a:solidFill>
                          <a:latin typeface="Arial"/>
                        </a:rPr>
                        <a:t>hidden yearold male cough fever x 3 days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200" b="1">
                          <a:solidFill>
                            <a:srgbClr val="193EB0"/>
                          </a:solidFill>
                          <a:latin typeface="Arial"/>
                        </a:rPr>
                        <a:t>Used</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365760">
                <a:tc>
                  <a:txBody>
                    <a:bodyPr/>
                    <a:lstStyle/>
                    <a:p>
                      <a:r>
                        <a:rPr sz="1200">
                          <a:solidFill>
                            <a:srgbClr val="1F2937"/>
                          </a:solidFill>
                          <a:latin typeface="Arial"/>
                        </a:rPr>
                        <a:t>chest pain and SOB</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200">
                          <a:solidFill>
                            <a:srgbClr val="1F2937"/>
                          </a:solidFill>
                          <a:latin typeface="Arial"/>
                        </a:rPr>
                        <a:t>chest pain and sob</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200" b="1">
                          <a:solidFill>
                            <a:srgbClr val="193EB0"/>
                          </a:solidFill>
                          <a:latin typeface="Arial"/>
                        </a:rPr>
                        <a:t>Used</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r h="365760">
                <a:tc>
                  <a:txBody>
                    <a:bodyPr/>
                    <a:lstStyle/>
                    <a:p>
                      <a:r>
                        <a:rPr sz="1200">
                          <a:solidFill>
                            <a:srgbClr val="1F2937"/>
                          </a:solidFill>
                          <a:latin typeface="Arial"/>
                        </a:rPr>
                        <a:t>None.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200">
                          <a:solidFill>
                            <a:srgbClr val="1F2937"/>
                          </a:solidFill>
                          <a:latin typeface="Arial"/>
                        </a:rPr>
                        <a:t>(empty)</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200" b="1">
                          <a:solidFill>
                            <a:srgbClr val="193EB0"/>
                          </a:solidFill>
                          <a:latin typeface="Arial"/>
                        </a:rPr>
                        <a:t>No usable note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365760">
                <a:tc>
                  <a:txBody>
                    <a:bodyPr/>
                    <a:lstStyle/>
                    <a:p>
                      <a:r>
                        <a:rPr sz="1200">
                          <a:solidFill>
                            <a:srgbClr val="1F2937"/>
                          </a:solidFill>
                          <a:latin typeface="Arial"/>
                        </a:rPr>
                        <a:t>XXXX-year-old male patient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200">
                          <a:solidFill>
                            <a:srgbClr val="1F2937"/>
                          </a:solidFill>
                          <a:latin typeface="Arial"/>
                        </a:rPr>
                        <a:t>(empty)</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200" b="1">
                          <a:solidFill>
                            <a:srgbClr val="193EB0"/>
                          </a:solidFill>
                          <a:latin typeface="Arial"/>
                        </a:rPr>
                        <a:t>No usable note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r h="365760">
                <a:tc>
                  <a:txBody>
                    <a:bodyPr/>
                    <a:lstStyle/>
                    <a:p>
                      <a:r>
                        <a:rPr sz="1200">
                          <a:solidFill>
                            <a:srgbClr val="1F2937"/>
                          </a:solidFill>
                          <a:latin typeface="Arial"/>
                        </a:rPr>
                        <a:t>XXXX, XXXX.</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200">
                          <a:solidFill>
                            <a:srgbClr val="1F2937"/>
                          </a:solidFill>
                          <a:latin typeface="Arial"/>
                        </a:rPr>
                        <a:t>(empty)</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200" b="1">
                          <a:solidFill>
                            <a:srgbClr val="193EB0"/>
                          </a:solidFill>
                          <a:latin typeface="Arial"/>
                        </a:rPr>
                        <a:t>No usable note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bl>
          </a:graphicData>
        </a:graphic>
      </p:graphicFrame>
      <p:sp>
        <p:nvSpPr>
          <p:cNvPr id="9" name="Stat value"/>
          <p:cNvSpPr txBox="1"/>
          <p:nvPr/>
        </p:nvSpPr>
        <p:spPr>
          <a:xfrm>
            <a:off x="457200" y="4434840"/>
            <a:ext cx="1280160" cy="640080"/>
          </a:xfrm>
          <a:prstGeom prst="rect">
            <a:avLst/>
          </a:prstGeom>
          <a:noFill/>
        </p:spPr>
        <p:txBody>
          <a:bodyPr wrap="square" lIns="0" rIns="0" tIns="0" bIns="0" anchor="ctr">
            <a:spAutoFit/>
          </a:bodyPr>
          <a:lstStyle/>
          <a:p>
            <a:pPr algn="l">
              <a:spcAft>
                <a:spcPts val="0"/>
              </a:spcAft>
            </a:pPr>
            <a:r>
              <a:rPr sz="3600" b="1" i="0">
                <a:solidFill>
                  <a:srgbClr val="193EB0"/>
                </a:solidFill>
                <a:latin typeface="Arial"/>
              </a:rPr>
              <a:t>423</a:t>
            </a:r>
          </a:p>
        </p:txBody>
      </p:sp>
      <p:sp>
        <p:nvSpPr>
          <p:cNvPr id="10" name="Stat label"/>
          <p:cNvSpPr txBox="1"/>
          <p:nvPr/>
        </p:nvSpPr>
        <p:spPr>
          <a:xfrm>
            <a:off x="1783080" y="4434840"/>
            <a:ext cx="2743200" cy="640080"/>
          </a:xfrm>
          <a:prstGeom prst="rect">
            <a:avLst/>
          </a:prstGeom>
          <a:noFill/>
        </p:spPr>
        <p:txBody>
          <a:bodyPr wrap="square" lIns="0" rIns="0" tIns="0" bIns="0" anchor="ctr">
            <a:spAutoFit/>
          </a:bodyPr>
          <a:lstStyle/>
          <a:p>
            <a:pPr algn="l">
              <a:spcAft>
                <a:spcPts val="0"/>
              </a:spcAft>
            </a:pPr>
            <a:r>
              <a:rPr sz="1400" b="0" i="0">
                <a:solidFill>
                  <a:srgbClr val="1F2937"/>
                </a:solidFill>
                <a:latin typeface="Arial"/>
              </a:rPr>
              <a:t>of 3,851 patients (11%) have no usable note</a:t>
            </a:r>
          </a:p>
        </p:txBody>
      </p:sp>
      <p:sp>
        <p:nvSpPr>
          <p:cNvPr id="11" name="Missing note handling"/>
          <p:cNvSpPr txBox="1"/>
          <p:nvPr/>
        </p:nvSpPr>
        <p:spPr>
          <a:xfrm>
            <a:off x="4846320" y="4434840"/>
            <a:ext cx="4572000" cy="731520"/>
          </a:xfrm>
          <a:prstGeom prst="rect">
            <a:avLst/>
          </a:prstGeom>
          <a:noFill/>
        </p:spPr>
        <p:txBody>
          <a:bodyPr wrap="square" lIns="0" rIns="0" tIns="0" bIns="0" anchor="ctr">
            <a:spAutoFit/>
          </a:bodyPr>
          <a:lstStyle/>
          <a:p>
            <a:pPr algn="l">
              <a:spcAft>
                <a:spcPts val="0"/>
              </a:spcAft>
            </a:pPr>
            <a:r>
              <a:rPr sz="1400" b="1" i="0">
                <a:solidFill>
                  <a:srgbClr val="193EB0"/>
                </a:solidFill>
                <a:latin typeface="Arial"/>
              </a:rPr>
              <a:t>No usable note: </a:t>
            </a:r>
            <a:r>
              <a:rPr sz="1400" b="0" i="0">
                <a:solidFill>
                  <a:srgbClr val="1F2937"/>
                </a:solidFill>
                <a:latin typeface="Arial"/>
              </a:rPr>
              <a:t>the system uses the X-ray only, and the summary says so.</a:t>
            </a:r>
          </a:p>
        </p:txBody>
      </p:sp>
      <p:sp>
        <p:nvSpPr>
          <p:cNvPr id="12" name="Business effect card"/>
          <p:cNvSpPr/>
          <p:nvPr/>
        </p:nvSpPr>
        <p:spPr>
          <a:xfrm>
            <a:off x="457200" y="5193792"/>
            <a:ext cx="8961120" cy="91440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usiness effect tag"/>
          <p:cNvSpPr/>
          <p:nvPr/>
        </p:nvSpPr>
        <p:spPr>
          <a:xfrm>
            <a:off x="640080" y="5349240"/>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4" name="Business effect text"/>
          <p:cNvSpPr txBox="1"/>
          <p:nvPr/>
        </p:nvSpPr>
        <p:spPr>
          <a:xfrm>
            <a:off x="640080" y="5724144"/>
            <a:ext cx="8595360" cy="27432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A missing or empty note never stops the system: the case is still scored from the X-ray.</a:t>
            </a:r>
          </a:p>
        </p:txBody>
      </p:sp>
    </p:spTree>
  </p:cSld>
  <p:clrMapOvr>
    <a:masterClrMapping/>
  </p:clrMapOvr>
  <p:transition>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Explaining the note</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We show which words made the model think of a finding</a:t>
            </a:r>
          </a:p>
        </p:txBody>
      </p:sp>
      <p:sp>
        <p:nvSpPr>
          <p:cNvPr id="8" name="Explain row 1"/>
          <p:cNvSpPr/>
          <p:nvPr/>
        </p:nvSpPr>
        <p:spPr>
          <a:xfrm>
            <a:off x="457200" y="1920240"/>
            <a:ext cx="8961120" cy="621792"/>
          </a:xfrm>
          <a:prstGeom prst="roundRect">
            <a:avLst>
              <a:gd name="adj" fmla="val 12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xplain number 1"/>
          <p:cNvSpPr/>
          <p:nvPr/>
        </p:nvSpPr>
        <p:spPr>
          <a:xfrm>
            <a:off x="594360" y="2048256"/>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1</a:t>
            </a:r>
          </a:p>
        </p:txBody>
      </p:sp>
      <p:sp>
        <p:nvSpPr>
          <p:cNvPr id="10" name="Explain title 1"/>
          <p:cNvSpPr txBox="1"/>
          <p:nvPr/>
        </p:nvSpPr>
        <p:spPr>
          <a:xfrm>
            <a:off x="1143000" y="1920240"/>
            <a:ext cx="2286000" cy="621792"/>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Pick a finding</a:t>
            </a:r>
          </a:p>
        </p:txBody>
      </p:sp>
      <p:sp>
        <p:nvSpPr>
          <p:cNvPr id="11" name="Explain text 1"/>
          <p:cNvSpPr txBox="1"/>
          <p:nvPr/>
        </p:nvSpPr>
        <p:spPr>
          <a:xfrm>
            <a:off x="3474720" y="1920240"/>
            <a:ext cx="5806440" cy="621792"/>
          </a:xfrm>
          <a:prstGeom prst="rect">
            <a:avLst/>
          </a:prstGeom>
          <a:noFill/>
        </p:spPr>
        <p:txBody>
          <a:bodyPr wrap="square" lIns="0" rIns="0" tIns="0" bIns="0" anchor="ctr">
            <a:spAutoFit/>
          </a:bodyPr>
          <a:lstStyle/>
          <a:p>
            <a:pPr algn="l">
              <a:spcAft>
                <a:spcPts val="0"/>
              </a:spcAft>
            </a:pPr>
            <a:r>
              <a:rPr sz="1300" b="0" i="0">
                <a:solidFill>
                  <a:srgbClr val="1F2937"/>
                </a:solidFill>
                <a:latin typeface="Arial"/>
              </a:rPr>
              <a:t>Usually the most likely finding (not “normal”).</a:t>
            </a:r>
          </a:p>
        </p:txBody>
      </p:sp>
      <p:sp>
        <p:nvSpPr>
          <p:cNvPr id="12" name="Explain row 2"/>
          <p:cNvSpPr/>
          <p:nvPr/>
        </p:nvSpPr>
        <p:spPr>
          <a:xfrm>
            <a:off x="457200" y="2633472"/>
            <a:ext cx="8961120" cy="621792"/>
          </a:xfrm>
          <a:prstGeom prst="roundRect">
            <a:avLst>
              <a:gd name="adj" fmla="val 12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xplain number 2"/>
          <p:cNvSpPr/>
          <p:nvPr/>
        </p:nvSpPr>
        <p:spPr>
          <a:xfrm>
            <a:off x="594360" y="2761488"/>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2</a:t>
            </a:r>
          </a:p>
        </p:txBody>
      </p:sp>
      <p:sp>
        <p:nvSpPr>
          <p:cNvPr id="14" name="Explain title 2"/>
          <p:cNvSpPr txBox="1"/>
          <p:nvPr/>
        </p:nvSpPr>
        <p:spPr>
          <a:xfrm>
            <a:off x="1143000" y="2633472"/>
            <a:ext cx="2286000" cy="621792"/>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Compare with a blank note</a:t>
            </a:r>
          </a:p>
        </p:txBody>
      </p:sp>
      <p:sp>
        <p:nvSpPr>
          <p:cNvPr id="15" name="Explain text 2"/>
          <p:cNvSpPr txBox="1"/>
          <p:nvPr/>
        </p:nvSpPr>
        <p:spPr>
          <a:xfrm>
            <a:off x="3474720" y="2633472"/>
            <a:ext cx="5806440" cy="621792"/>
          </a:xfrm>
          <a:prstGeom prst="rect">
            <a:avLst/>
          </a:prstGeom>
          <a:noFill/>
        </p:spPr>
        <p:txBody>
          <a:bodyPr wrap="square" lIns="0" rIns="0" tIns="0" bIns="0" anchor="ctr">
            <a:spAutoFit/>
          </a:bodyPr>
          <a:lstStyle/>
          <a:p>
            <a:pPr algn="l">
              <a:spcAft>
                <a:spcPts val="0"/>
              </a:spcAft>
            </a:pPr>
            <a:r>
              <a:rPr sz="1300" b="0" i="0">
                <a:solidFill>
                  <a:srgbClr val="1F2937"/>
                </a:solidFill>
                <a:latin typeface="Arial"/>
              </a:rPr>
              <a:t>Integrated Gradients compares the real note with an empty one, step by step.</a:t>
            </a:r>
          </a:p>
        </p:txBody>
      </p:sp>
      <p:sp>
        <p:nvSpPr>
          <p:cNvPr id="16" name="Explain row 3"/>
          <p:cNvSpPr/>
          <p:nvPr/>
        </p:nvSpPr>
        <p:spPr>
          <a:xfrm>
            <a:off x="457200" y="3346704"/>
            <a:ext cx="8961120" cy="621792"/>
          </a:xfrm>
          <a:prstGeom prst="roundRect">
            <a:avLst>
              <a:gd name="adj" fmla="val 12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xplain number 3"/>
          <p:cNvSpPr/>
          <p:nvPr/>
        </p:nvSpPr>
        <p:spPr>
          <a:xfrm>
            <a:off x="594360" y="34747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3</a:t>
            </a:r>
          </a:p>
        </p:txBody>
      </p:sp>
      <p:sp>
        <p:nvSpPr>
          <p:cNvPr id="18" name="Explain title 3"/>
          <p:cNvSpPr txBox="1"/>
          <p:nvPr/>
        </p:nvSpPr>
        <p:spPr>
          <a:xfrm>
            <a:off x="1143000" y="3346704"/>
            <a:ext cx="2286000" cy="621792"/>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Score every word</a:t>
            </a:r>
          </a:p>
        </p:txBody>
      </p:sp>
      <p:sp>
        <p:nvSpPr>
          <p:cNvPr id="19" name="Explain text 3"/>
          <p:cNvSpPr txBox="1"/>
          <p:nvPr/>
        </p:nvSpPr>
        <p:spPr>
          <a:xfrm>
            <a:off x="3474720" y="3346704"/>
            <a:ext cx="5806440" cy="621792"/>
          </a:xfrm>
          <a:prstGeom prst="rect">
            <a:avLst/>
          </a:prstGeom>
          <a:noFill/>
        </p:spPr>
        <p:txBody>
          <a:bodyPr wrap="square" lIns="0" rIns="0" tIns="0" bIns="0" anchor="ctr">
            <a:spAutoFit/>
          </a:bodyPr>
          <a:lstStyle/>
          <a:p>
            <a:pPr algn="l">
              <a:spcAft>
                <a:spcPts val="0"/>
              </a:spcAft>
            </a:pPr>
            <a:r>
              <a:rPr sz="1300" b="0" i="0">
                <a:solidFill>
                  <a:srgbClr val="1F2937"/>
                </a:solidFill>
                <a:latin typeface="Arial"/>
              </a:rPr>
              <a:t>Each word gets a score from −1 (against) to +1 (for the finding).</a:t>
            </a:r>
          </a:p>
        </p:txBody>
      </p:sp>
      <p:sp>
        <p:nvSpPr>
          <p:cNvPr id="20" name="Explain row 4"/>
          <p:cNvSpPr/>
          <p:nvPr/>
        </p:nvSpPr>
        <p:spPr>
          <a:xfrm>
            <a:off x="457200" y="4059935"/>
            <a:ext cx="8961120" cy="621792"/>
          </a:xfrm>
          <a:prstGeom prst="roundRect">
            <a:avLst>
              <a:gd name="adj" fmla="val 12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Explain number 4"/>
          <p:cNvSpPr/>
          <p:nvPr/>
        </p:nvSpPr>
        <p:spPr>
          <a:xfrm>
            <a:off x="594360" y="4187951"/>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4</a:t>
            </a:r>
          </a:p>
        </p:txBody>
      </p:sp>
      <p:sp>
        <p:nvSpPr>
          <p:cNvPr id="22" name="Explain title 4"/>
          <p:cNvSpPr txBox="1"/>
          <p:nvPr/>
        </p:nvSpPr>
        <p:spPr>
          <a:xfrm>
            <a:off x="1143000" y="4059935"/>
            <a:ext cx="2286000" cy="621792"/>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Highlight in the app</a:t>
            </a:r>
          </a:p>
        </p:txBody>
      </p:sp>
      <p:sp>
        <p:nvSpPr>
          <p:cNvPr id="23" name="Explain text 4"/>
          <p:cNvSpPr txBox="1"/>
          <p:nvPr/>
        </p:nvSpPr>
        <p:spPr>
          <a:xfrm>
            <a:off x="3474720" y="4059935"/>
            <a:ext cx="5806440" cy="621792"/>
          </a:xfrm>
          <a:prstGeom prst="rect">
            <a:avLst/>
          </a:prstGeom>
          <a:noFill/>
        </p:spPr>
        <p:txBody>
          <a:bodyPr wrap="square" lIns="0" rIns="0" tIns="0" bIns="0" anchor="ctr">
            <a:spAutoFit/>
          </a:bodyPr>
          <a:lstStyle/>
          <a:p>
            <a:pPr algn="l">
              <a:spcAft>
                <a:spcPts val="0"/>
              </a:spcAft>
            </a:pPr>
            <a:r>
              <a:rPr sz="1300" b="0" i="0">
                <a:solidFill>
                  <a:srgbClr val="1F2937"/>
                </a:solidFill>
                <a:latin typeface="Arial"/>
              </a:rPr>
              <a:t>Red words push the finding up, blue words push it down.</a:t>
            </a:r>
          </a:p>
        </p:txBody>
      </p:sp>
      <p:sp>
        <p:nvSpPr>
          <p:cNvPr id="24" name="Legend up"/>
          <p:cNvSpPr/>
          <p:nvPr/>
        </p:nvSpPr>
        <p:spPr>
          <a:xfrm>
            <a:off x="457200" y="4800600"/>
            <a:ext cx="2651760" cy="27432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pushes the finding UP</a:t>
            </a:r>
          </a:p>
        </p:txBody>
      </p:sp>
      <p:sp>
        <p:nvSpPr>
          <p:cNvPr id="25" name="Legend down"/>
          <p:cNvSpPr/>
          <p:nvPr/>
        </p:nvSpPr>
        <p:spPr>
          <a:xfrm>
            <a:off x="3291840" y="4800600"/>
            <a:ext cx="2651760" cy="27432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pushes the finding DOWN</a:t>
            </a:r>
          </a:p>
        </p:txBody>
      </p:sp>
      <p:sp>
        <p:nvSpPr>
          <p:cNvPr id="26" name="Business effect card"/>
          <p:cNvSpPr/>
          <p:nvPr/>
        </p:nvSpPr>
        <p:spPr>
          <a:xfrm>
            <a:off x="457200" y="5166360"/>
            <a:ext cx="8961120" cy="91440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usiness effect tag"/>
          <p:cNvSpPr/>
          <p:nvPr/>
        </p:nvSpPr>
        <p:spPr>
          <a:xfrm>
            <a:off x="640080" y="532180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28" name="Business effect text"/>
          <p:cNvSpPr txBox="1"/>
          <p:nvPr/>
        </p:nvSpPr>
        <p:spPr>
          <a:xfrm>
            <a:off x="640080" y="5696712"/>
            <a:ext cx="8595360" cy="27432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A nurse sees which words drove the result and can reject it when they make no sense.</a:t>
            </a:r>
          </a:p>
        </p:txBody>
      </p:sp>
    </p:spTree>
  </p:cSld>
  <p:clrMapOvr>
    <a:masterClrMapping/>
  </p:clrMapOvr>
  <p:transition>
    <p:push/>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Clinical Summary</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Reading the note</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Three clinical-NLP stages turn free text into structured facts</a:t>
            </a:r>
          </a:p>
        </p:txBody>
      </p:sp>
      <p:sp>
        <p:nvSpPr>
          <p:cNvPr id="8" name="Stage card 1"/>
          <p:cNvSpPr/>
          <p:nvPr/>
        </p:nvSpPr>
        <p:spPr>
          <a:xfrm>
            <a:off x="457200" y="1920240"/>
            <a:ext cx="2834640" cy="2560320"/>
          </a:xfrm>
          <a:prstGeom prst="roundRect">
            <a:avLst>
              <a:gd name="adj" fmla="val 5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ge number 1"/>
          <p:cNvSpPr/>
          <p:nvPr/>
        </p:nvSpPr>
        <p:spPr>
          <a:xfrm>
            <a:off x="640080" y="2084831"/>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1</a:t>
            </a:r>
          </a:p>
        </p:txBody>
      </p:sp>
      <p:sp>
        <p:nvSpPr>
          <p:cNvPr id="10" name="Stage title 1"/>
          <p:cNvSpPr txBox="1"/>
          <p:nvPr/>
        </p:nvSpPr>
        <p:spPr>
          <a:xfrm>
            <a:off x="1143000" y="2084831"/>
            <a:ext cx="201168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Entity recognition</a:t>
            </a:r>
          </a:p>
        </p:txBody>
      </p:sp>
      <p:sp>
        <p:nvSpPr>
          <p:cNvPr id="11" name="Stage text 1"/>
          <p:cNvSpPr txBox="1"/>
          <p:nvPr/>
        </p:nvSpPr>
        <p:spPr>
          <a:xfrm>
            <a:off x="640080" y="2606040"/>
            <a:ext cx="2468880" cy="1188720"/>
          </a:xfrm>
          <a:prstGeom prst="rect">
            <a:avLst/>
          </a:prstGeom>
          <a:noFill/>
        </p:spPr>
        <p:txBody>
          <a:bodyPr wrap="square" lIns="0" rIns="0" tIns="0" bIns="0" anchor="t">
            <a:spAutoFit/>
          </a:bodyPr>
          <a:lstStyle/>
          <a:p>
            <a:pPr algn="l">
              <a:spcAft>
                <a:spcPts val="0"/>
              </a:spcAft>
            </a:pPr>
            <a:r>
              <a:rPr sz="1300" b="0" i="0">
                <a:solidFill>
                  <a:srgbClr val="1F2937"/>
                </a:solidFill>
                <a:latin typeface="Arial"/>
              </a:rPr>
              <a:t>A biomedical NER model (d4data/biomedical-ner-all) finds symptoms, diseases, history, duration, age and sex.</a:t>
            </a:r>
          </a:p>
        </p:txBody>
      </p:sp>
      <p:sp>
        <p:nvSpPr>
          <p:cNvPr id="12" name="Stage example 1"/>
          <p:cNvSpPr/>
          <p:nvPr/>
        </p:nvSpPr>
        <p:spPr>
          <a:xfrm>
            <a:off x="640080" y="3840480"/>
            <a:ext cx="2468880" cy="457200"/>
          </a:xfrm>
          <a:prstGeom prst="roundRect">
            <a:avLst>
              <a:gd name="adj" fmla="val 20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193EB0"/>
                </a:solidFill>
                <a:latin typeface="Arial"/>
              </a:rPr>
              <a:t>“productive cough x 5 days”</a:t>
            </a:r>
          </a:p>
        </p:txBody>
      </p:sp>
      <p:sp>
        <p:nvSpPr>
          <p:cNvPr id="13" name="Stage card 2"/>
          <p:cNvSpPr/>
          <p:nvPr/>
        </p:nvSpPr>
        <p:spPr>
          <a:xfrm>
            <a:off x="3520440" y="1920240"/>
            <a:ext cx="2834640" cy="2560320"/>
          </a:xfrm>
          <a:prstGeom prst="roundRect">
            <a:avLst>
              <a:gd name="adj" fmla="val 5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ge number 2"/>
          <p:cNvSpPr/>
          <p:nvPr/>
        </p:nvSpPr>
        <p:spPr>
          <a:xfrm>
            <a:off x="3703320" y="2084831"/>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2</a:t>
            </a:r>
          </a:p>
        </p:txBody>
      </p:sp>
      <p:sp>
        <p:nvSpPr>
          <p:cNvPr id="15" name="Stage title 2"/>
          <p:cNvSpPr txBox="1"/>
          <p:nvPr/>
        </p:nvSpPr>
        <p:spPr>
          <a:xfrm>
            <a:off x="4206240" y="2084831"/>
            <a:ext cx="201168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Concept matching</a:t>
            </a:r>
          </a:p>
        </p:txBody>
      </p:sp>
      <p:sp>
        <p:nvSpPr>
          <p:cNvPr id="16" name="Stage text 2"/>
          <p:cNvSpPr txBox="1"/>
          <p:nvPr/>
        </p:nvSpPr>
        <p:spPr>
          <a:xfrm>
            <a:off x="3703320" y="2606040"/>
            <a:ext cx="2468880" cy="1188720"/>
          </a:xfrm>
          <a:prstGeom prst="rect">
            <a:avLst/>
          </a:prstGeom>
          <a:noFill/>
        </p:spPr>
        <p:txBody>
          <a:bodyPr wrap="square" lIns="0" rIns="0" tIns="0" bIns="0" anchor="t">
            <a:spAutoFit/>
          </a:bodyPr>
          <a:lstStyle/>
          <a:p>
            <a:pPr algn="l">
              <a:spcAft>
                <a:spcPts val="0"/>
              </a:spcAft>
            </a:pPr>
            <a:r>
              <a:rPr sz="1300" b="0" i="0">
                <a:solidFill>
                  <a:srgbClr val="1F2937"/>
                </a:solidFill>
                <a:latin typeface="Arial"/>
              </a:rPr>
              <a:t>A medspaCy lexicon expands abbreviations and merges synonyms into one concept name.</a:t>
            </a:r>
          </a:p>
        </p:txBody>
      </p:sp>
      <p:sp>
        <p:nvSpPr>
          <p:cNvPr id="17" name="Stage example 2"/>
          <p:cNvSpPr/>
          <p:nvPr/>
        </p:nvSpPr>
        <p:spPr>
          <a:xfrm>
            <a:off x="3703320" y="3840480"/>
            <a:ext cx="2468880" cy="457200"/>
          </a:xfrm>
          <a:prstGeom prst="roundRect">
            <a:avLst>
              <a:gd name="adj" fmla="val 20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193EB0"/>
                </a:solidFill>
                <a:latin typeface="Arial"/>
              </a:rPr>
              <a:t>SOB → shortness of breath</a:t>
            </a:r>
          </a:p>
        </p:txBody>
      </p:sp>
      <p:sp>
        <p:nvSpPr>
          <p:cNvPr id="18" name="Stage card 3"/>
          <p:cNvSpPr/>
          <p:nvPr/>
        </p:nvSpPr>
        <p:spPr>
          <a:xfrm>
            <a:off x="6583680" y="1920240"/>
            <a:ext cx="2834640" cy="2560320"/>
          </a:xfrm>
          <a:prstGeom prst="roundRect">
            <a:avLst>
              <a:gd name="adj" fmla="val 5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age number 3"/>
          <p:cNvSpPr/>
          <p:nvPr/>
        </p:nvSpPr>
        <p:spPr>
          <a:xfrm>
            <a:off x="6766560" y="2084831"/>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3</a:t>
            </a:r>
          </a:p>
        </p:txBody>
      </p:sp>
      <p:sp>
        <p:nvSpPr>
          <p:cNvPr id="20" name="Stage title 3"/>
          <p:cNvSpPr txBox="1"/>
          <p:nvPr/>
        </p:nvSpPr>
        <p:spPr>
          <a:xfrm>
            <a:off x="7269480" y="2084831"/>
            <a:ext cx="201168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ConText rules</a:t>
            </a:r>
          </a:p>
        </p:txBody>
      </p:sp>
      <p:sp>
        <p:nvSpPr>
          <p:cNvPr id="21" name="Stage text 3"/>
          <p:cNvSpPr txBox="1"/>
          <p:nvPr/>
        </p:nvSpPr>
        <p:spPr>
          <a:xfrm>
            <a:off x="6766560" y="2606040"/>
            <a:ext cx="2468880" cy="1188720"/>
          </a:xfrm>
          <a:prstGeom prst="rect">
            <a:avLst/>
          </a:prstGeom>
          <a:noFill/>
        </p:spPr>
        <p:txBody>
          <a:bodyPr wrap="square" lIns="0" rIns="0" tIns="0" bIns="0" anchor="t">
            <a:spAutoFit/>
          </a:bodyPr>
          <a:lstStyle/>
          <a:p>
            <a:pPr algn="l">
              <a:spcAft>
                <a:spcPts val="0"/>
              </a:spcAft>
            </a:pPr>
            <a:r>
              <a:rPr sz="1300" b="0" i="0">
                <a:solidFill>
                  <a:srgbClr val="1F2937"/>
                </a:solidFill>
                <a:latin typeface="Arial"/>
              </a:rPr>
              <a:t>Decide whether each term is negated, historical, possible or about a family member.</a:t>
            </a:r>
          </a:p>
        </p:txBody>
      </p:sp>
      <p:sp>
        <p:nvSpPr>
          <p:cNvPr id="22" name="Stage example 3"/>
          <p:cNvSpPr/>
          <p:nvPr/>
        </p:nvSpPr>
        <p:spPr>
          <a:xfrm>
            <a:off x="6766560" y="3840480"/>
            <a:ext cx="2468880" cy="457200"/>
          </a:xfrm>
          <a:prstGeom prst="roundRect">
            <a:avLst>
              <a:gd name="adj" fmla="val 20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193EB0"/>
                </a:solidFill>
                <a:latin typeface="Arial"/>
              </a:rPr>
              <a:t>“no fever” → denied</a:t>
            </a:r>
          </a:p>
        </p:txBody>
      </p:sp>
      <p:sp>
        <p:nvSpPr>
          <p:cNvPr id="23" name="Modes line"/>
          <p:cNvSpPr txBox="1"/>
          <p:nvPr/>
        </p:nvSpPr>
        <p:spPr>
          <a:xfrm>
            <a:off x="457200" y="4617720"/>
            <a:ext cx="8961120" cy="365760"/>
          </a:xfrm>
          <a:prstGeom prst="rect">
            <a:avLst/>
          </a:prstGeom>
          <a:noFill/>
        </p:spPr>
        <p:txBody>
          <a:bodyPr wrap="square" lIns="0" rIns="0" tIns="0" bIns="0" anchor="t">
            <a:spAutoFit/>
          </a:bodyPr>
          <a:lstStyle/>
          <a:p>
            <a:pPr algn="l">
              <a:spcAft>
                <a:spcPts val="0"/>
              </a:spcAft>
            </a:pPr>
            <a:r>
              <a:rPr sz="1400" b="1" i="0">
                <a:solidFill>
                  <a:srgbClr val="193EB0"/>
                </a:solidFill>
                <a:latin typeface="Arial"/>
              </a:rPr>
              <a:t>Three modes: </a:t>
            </a:r>
            <a:r>
              <a:rPr sz="1400" b="0" i="0">
                <a:solidFill>
                  <a:srgbClr val="1F2937"/>
                </a:solidFill>
                <a:latin typeface="Arial"/>
              </a:rPr>
              <a:t>rules (2 + 3), ner (1 + 3) and hybrid (1 + 2 + 3, the default).</a:t>
            </a:r>
          </a:p>
        </p:txBody>
      </p:sp>
      <p:sp>
        <p:nvSpPr>
          <p:cNvPr id="24" name="Business effect card"/>
          <p:cNvSpPr/>
          <p:nvPr/>
        </p:nvSpPr>
        <p:spPr>
          <a:xfrm>
            <a:off x="457200" y="5074920"/>
            <a:ext cx="8961120" cy="100584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siness effect tag"/>
          <p:cNvSpPr/>
          <p:nvPr/>
        </p:nvSpPr>
        <p:spPr>
          <a:xfrm>
            <a:off x="640080" y="523036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26" name="Business effect text"/>
          <p:cNvSpPr txBox="1"/>
          <p:nvPr/>
        </p:nvSpPr>
        <p:spPr>
          <a:xfrm>
            <a:off x="640080" y="5605272"/>
            <a:ext cx="8595360" cy="36576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Referral notes are full of abbreviations and negations. Reading them correctly stops “no fever” from being reported as fever.</a:t>
            </a:r>
          </a:p>
        </p:txBody>
      </p:sp>
    </p:spTree>
  </p:cSld>
  <p:clrMapOvr>
    <a:masterClrMapping/>
  </p:clrMapOvr>
  <p:transition>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From note to summary</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The doctor reads a few clear lines instead of a free-text note</a:t>
            </a:r>
          </a:p>
        </p:txBody>
      </p:sp>
      <p:graphicFrame>
        <p:nvGraphicFramePr>
          <p:cNvPr id="8" name="Summary examples table"/>
          <p:cNvGraphicFramePr>
            <a:graphicFrameLocks noGrp="1"/>
          </p:cNvGraphicFramePr>
          <p:nvPr/>
        </p:nvGraphicFramePr>
        <p:xfrm>
          <a:off x="457200" y="1920240"/>
          <a:ext cx="8961119" cy="2505456"/>
        </p:xfrm>
        <a:graphic>
          <a:graphicData uri="http://schemas.openxmlformats.org/drawingml/2006/table">
            <a:tbl>
              <a:tblPr firstRow="1" bandRow="0"/>
              <a:tblGrid>
                <a:gridCol w="3749039"/>
                <a:gridCol w="5212080"/>
              </a:tblGrid>
              <a:tr h="365760">
                <a:tc>
                  <a:txBody>
                    <a:bodyPr/>
                    <a:lstStyle/>
                    <a:p>
                      <a:r>
                        <a:rPr sz="1300" b="1">
                          <a:solidFill>
                            <a:srgbClr val="FFFFFF"/>
                          </a:solidFill>
                          <a:latin typeface="Arial"/>
                        </a:rPr>
                        <a:t>Clinical note (input)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Summary lines (output)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r>
              <a:tr h="713232">
                <a:tc>
                  <a:txBody>
                    <a:bodyPr/>
                    <a:lstStyle/>
                    <a:p>
                      <a:r>
                        <a:rPr sz="1200">
                          <a:solidFill>
                            <a:srgbClr val="1F2937"/>
                          </a:solidFill>
                          <a:latin typeface="Arial"/>
                        </a:rPr>
                        <a:t>65 year old male with SOB and productive cough x 5 days, no fever, h/o COPD, smoker</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200">
                          <a:solidFill>
                            <a:srgbClr val="1F2937"/>
                          </a:solidFill>
                          <a:latin typeface="Arial"/>
                        </a:rPr>
                        <a:t>65-year-old male patient presenting with shortness of breath and cough with sputum for 5 days. History: COPD / emphysema and smoker. Denies / no: fever.</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713232">
                <a:tc>
                  <a:txBody>
                    <a:bodyPr/>
                    <a:lstStyle/>
                    <a:p>
                      <a:r>
                        <a:rPr sz="1200">
                          <a:solidFill>
                            <a:srgbClr val="1F2937"/>
                          </a:solidFill>
                          <a:latin typeface="Arial"/>
                        </a:rPr>
                        <a:t>female with chest pain, rule out pneumonia</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200">
                          <a:solidFill>
                            <a:srgbClr val="1F2937"/>
                          </a:solidFill>
                          <a:latin typeface="Arial"/>
                        </a:rPr>
                        <a:t>Female patient presenting with chest pain. Reason for exam: possible pneumonia.</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r h="713232">
                <a:tc>
                  <a:txBody>
                    <a:bodyPr/>
                    <a:lstStyle/>
                    <a:p>
                      <a:r>
                        <a:rPr sz="1200">
                          <a:solidFill>
                            <a:srgbClr val="1F2937"/>
                          </a:solidFill>
                          <a:latin typeface="Arial"/>
                        </a:rPr>
                        <a:t>pre-op eval, history of hypertension and diabetes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200">
                          <a:solidFill>
                            <a:srgbClr val="1F2937"/>
                          </a:solidFill>
                          <a:latin typeface="Arial"/>
                        </a:rPr>
                        <a:t>Patient with no symptoms stated in the note. Reason for exam: pre-operative check. History: high blood pressure and diabetes.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bl>
          </a:graphicData>
        </a:graphic>
      </p:graphicFrame>
      <p:sp>
        <p:nvSpPr>
          <p:cNvPr id="9" name="Example caption"/>
          <p:cNvSpPr txBox="1"/>
          <p:nvPr/>
        </p:nvSpPr>
        <p:spPr>
          <a:xfrm>
            <a:off x="457200" y="4572000"/>
            <a:ext cx="8961120" cy="274320"/>
          </a:xfrm>
          <a:prstGeom prst="rect">
            <a:avLst/>
          </a:prstGeom>
          <a:noFill/>
        </p:spPr>
        <p:txBody>
          <a:bodyPr wrap="square" lIns="0" rIns="0" tIns="0" bIns="0" anchor="t">
            <a:spAutoFit/>
          </a:bodyPr>
          <a:lstStyle/>
          <a:p>
            <a:pPr algn="l">
              <a:spcAft>
                <a:spcPts val="0"/>
              </a:spcAft>
            </a:pPr>
            <a:r>
              <a:rPr sz="1100" b="0" i="0">
                <a:solidFill>
                  <a:srgbClr val="555F73"/>
                </a:solidFill>
                <a:latin typeface="Arial"/>
              </a:rPr>
              <a:t>Real outputs of the lexicon + ConText stages. The full summary also adds model findings, key words and priority.</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Abbreviations are expanded and negations are kept, so the doctor gets the case in seconds.</a:t>
            </a:r>
          </a:p>
        </p:txBody>
      </p:sp>
    </p:spTree>
  </p:cSld>
  <p:clrMapOvr>
    <a:masterClrMapping/>
  </p:clrMapOvr>
  <p:transition>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Summary guardrails</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Every sentence in the summary can be traced to its source</a:t>
            </a:r>
          </a:p>
        </p:txBody>
      </p:sp>
      <p:sp>
        <p:nvSpPr>
          <p:cNvPr id="8" name="Reads card"/>
          <p:cNvSpPr/>
          <p:nvPr/>
        </p:nvSpPr>
        <p:spPr>
          <a:xfrm>
            <a:off x="457200" y="1920240"/>
            <a:ext cx="4389120" cy="3017520"/>
          </a:xfrm>
          <a:prstGeom prst="roundRect">
            <a:avLst>
              <a:gd name="adj" fmla="val 5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ction label"/>
          <p:cNvSpPr txBox="1"/>
          <p:nvPr/>
        </p:nvSpPr>
        <p:spPr>
          <a:xfrm>
            <a:off x="685800" y="2057400"/>
            <a:ext cx="3931920" cy="228600"/>
          </a:xfrm>
          <a:prstGeom prst="rect">
            <a:avLst/>
          </a:prstGeom>
          <a:noFill/>
        </p:spPr>
        <p:txBody>
          <a:bodyPr wrap="square" lIns="0" rIns="0" tIns="0" bIns="0" anchor="t">
            <a:spAutoFit/>
          </a:bodyPr>
          <a:lstStyle/>
          <a:p>
            <a:pPr algn="l">
              <a:spcAft>
                <a:spcPts val="600"/>
              </a:spcAft>
            </a:pPr>
            <a:r>
              <a:rPr sz="1200" b="1" i="0">
                <a:solidFill>
                  <a:srgbClr val="009BD6"/>
                </a:solidFill>
                <a:latin typeface="Arial"/>
              </a:rPr>
              <a:t>WHAT THE DOCTOR READS</a:t>
            </a:r>
          </a:p>
        </p:txBody>
      </p:sp>
      <p:sp>
        <p:nvSpPr>
          <p:cNvPr id="10" name="Summary order"/>
          <p:cNvSpPr txBox="1"/>
          <p:nvPr/>
        </p:nvSpPr>
        <p:spPr>
          <a:xfrm>
            <a:off x="685800" y="2377440"/>
            <a:ext cx="3931920" cy="2468880"/>
          </a:xfrm>
          <a:prstGeom prst="rect">
            <a:avLst/>
          </a:prstGeom>
          <a:noFill/>
        </p:spPr>
        <p:txBody>
          <a:bodyPr wrap="square" lIns="0" rIns="0" tIns="0" bIns="0" anchor="t">
            <a:spAutoFit/>
          </a:bodyPr>
          <a:lstStyle/>
          <a:p>
            <a:pPr algn="l">
              <a:spcAft>
                <a:spcPts val="800"/>
              </a:spcAft>
            </a:pPr>
            <a:r>
              <a:rPr sz="1400" b="0" i="0">
                <a:solidFill>
                  <a:srgbClr val="1F2937"/>
                </a:solidFill>
                <a:latin typeface="Arial"/>
              </a:rPr>
              <a:t>1  Who, symptoms and duration</a:t>
            </a:r>
          </a:p>
          <a:p>
            <a:pPr algn="l">
              <a:spcAft>
                <a:spcPts val="800"/>
              </a:spcAft>
            </a:pPr>
            <a:r>
              <a:rPr sz="1400" b="0" i="0">
                <a:solidFill>
                  <a:srgbClr val="1F2937"/>
                </a:solidFill>
                <a:latin typeface="Arial"/>
              </a:rPr>
              <a:t>2  Reason for exam and history</a:t>
            </a:r>
          </a:p>
          <a:p>
            <a:pPr algn="l">
              <a:spcAft>
                <a:spcPts val="800"/>
              </a:spcAft>
            </a:pPr>
            <a:r>
              <a:rPr sz="1400" b="0" i="0">
                <a:solidFill>
                  <a:srgbClr val="1F2937"/>
                </a:solidFill>
                <a:latin typeface="Arial"/>
              </a:rPr>
              <a:t>3  Denied symptoms</a:t>
            </a:r>
          </a:p>
          <a:p>
            <a:pPr algn="l">
              <a:spcAft>
                <a:spcPts val="800"/>
              </a:spcAft>
            </a:pPr>
            <a:r>
              <a:rPr sz="1400" b="0" i="0">
                <a:solidFill>
                  <a:srgbClr val="1F2937"/>
                </a:solidFill>
                <a:latin typeface="Arial"/>
              </a:rPr>
              <a:t>4  Image and combined assessment</a:t>
            </a:r>
          </a:p>
          <a:p>
            <a:pPr algn="l">
              <a:spcAft>
                <a:spcPts val="800"/>
              </a:spcAft>
            </a:pPr>
            <a:r>
              <a:rPr sz="1400" b="0" i="0">
                <a:solidFill>
                  <a:srgbClr val="1F2937"/>
                </a:solidFill>
                <a:latin typeface="Arial"/>
              </a:rPr>
              <a:t>5  Note-only result and key words</a:t>
            </a:r>
          </a:p>
          <a:p>
            <a:pPr algn="l">
              <a:spcAft>
                <a:spcPts val="800"/>
              </a:spcAft>
            </a:pPr>
            <a:r>
              <a:rPr sz="1400" b="0" i="0">
                <a:solidFill>
                  <a:srgbClr val="1F2937"/>
                </a:solidFill>
                <a:latin typeface="Arial"/>
              </a:rPr>
              <a:t>6  Priority and next step</a:t>
            </a:r>
          </a:p>
          <a:p>
            <a:pPr algn="l">
              <a:spcAft>
                <a:spcPts val="800"/>
              </a:spcAft>
            </a:pPr>
            <a:r>
              <a:rPr sz="1400" b="0" i="0">
                <a:solidFill>
                  <a:srgbClr val="1F2937"/>
                </a:solidFill>
                <a:latin typeface="Arial"/>
              </a:rPr>
              <a:t>7  Disclaimer: the doctor decides</a:t>
            </a:r>
          </a:p>
        </p:txBody>
      </p:sp>
      <p:sp>
        <p:nvSpPr>
          <p:cNvPr id="11" name="Checks card"/>
          <p:cNvSpPr/>
          <p:nvPr/>
        </p:nvSpPr>
        <p:spPr>
          <a:xfrm>
            <a:off x="5029200" y="1920240"/>
            <a:ext cx="4389120" cy="3017520"/>
          </a:xfrm>
          <a:prstGeom prst="roundRect">
            <a:avLst>
              <a:gd name="adj" fmla="val 5000"/>
            </a:avLst>
          </a:prstGeom>
          <a:solidFill>
            <a:srgbClr val="FFFFFF"/>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ction label"/>
          <p:cNvSpPr txBox="1"/>
          <p:nvPr/>
        </p:nvSpPr>
        <p:spPr>
          <a:xfrm>
            <a:off x="5257800" y="2057400"/>
            <a:ext cx="3931920" cy="228600"/>
          </a:xfrm>
          <a:prstGeom prst="rect">
            <a:avLst/>
          </a:prstGeom>
          <a:noFill/>
        </p:spPr>
        <p:txBody>
          <a:bodyPr wrap="square" lIns="0" rIns="0" tIns="0" bIns="0" anchor="t">
            <a:spAutoFit/>
          </a:bodyPr>
          <a:lstStyle/>
          <a:p>
            <a:pPr algn="l">
              <a:spcAft>
                <a:spcPts val="600"/>
              </a:spcAft>
            </a:pPr>
            <a:r>
              <a:rPr sz="1200" b="1" i="0">
                <a:solidFill>
                  <a:srgbClr val="009BD6"/>
                </a:solidFill>
                <a:latin typeface="Arial"/>
              </a:rPr>
              <a:t>WHAT THE CHECKER VERIFIES</a:t>
            </a:r>
          </a:p>
        </p:txBody>
      </p:sp>
      <p:sp>
        <p:nvSpPr>
          <p:cNvPr id="13" name="Checks list"/>
          <p:cNvSpPr txBox="1"/>
          <p:nvPr/>
        </p:nvSpPr>
        <p:spPr>
          <a:xfrm>
            <a:off x="5257800" y="2377440"/>
            <a:ext cx="3931920" cy="2468880"/>
          </a:xfrm>
          <a:prstGeom prst="rect">
            <a:avLst/>
          </a:prstGeom>
          <a:noFill/>
        </p:spPr>
        <p:txBody>
          <a:bodyPr wrap="square" lIns="0" rIns="0" tIns="0" bIns="0" anchor="t">
            <a:spAutoFit/>
          </a:bodyPr>
          <a:lstStyle/>
          <a:p>
            <a:pPr algn="l" marL="201168" indent="-201168">
              <a:spcAft>
                <a:spcPts val="1400"/>
              </a:spcAft>
              <a:buClr>
                <a:srgbClr val="193EB0"/>
              </a:buClr>
              <a:buChar char="•"/>
            </a:pPr>
            <a:r>
              <a:rPr sz="1500" b="1" i="0">
                <a:solidFill>
                  <a:srgbClr val="193EB0"/>
                </a:solidFill>
                <a:latin typeface="Arial"/>
              </a:rPr>
              <a:t>Every term </a:t>
            </a:r>
            <a:r>
              <a:rPr sz="1500" b="0" i="0">
                <a:solidFill>
                  <a:srgbClr val="1F2937"/>
                </a:solidFill>
                <a:latin typeface="Arial"/>
              </a:rPr>
              <a:t>appears in the clinical note</a:t>
            </a:r>
          </a:p>
          <a:p>
            <a:pPr algn="l" marL="201168" indent="-201168">
              <a:spcAft>
                <a:spcPts val="1400"/>
              </a:spcAft>
              <a:buClr>
                <a:srgbClr val="193EB0"/>
              </a:buClr>
              <a:buChar char="•"/>
            </a:pPr>
            <a:r>
              <a:rPr sz="1500" b="1" i="0">
                <a:solidFill>
                  <a:srgbClr val="193EB0"/>
                </a:solidFill>
                <a:latin typeface="Arial"/>
              </a:rPr>
              <a:t>Every finding </a:t>
            </a:r>
            <a:r>
              <a:rPr sz="1500" b="0" i="0">
                <a:solidFill>
                  <a:srgbClr val="1F2937"/>
                </a:solidFill>
                <a:latin typeface="Arial"/>
              </a:rPr>
              <a:t>was predicted by a model</a:t>
            </a:r>
          </a:p>
          <a:p>
            <a:pPr algn="l" marL="201168" indent="-201168">
              <a:spcAft>
                <a:spcPts val="1400"/>
              </a:spcAft>
              <a:buClr>
                <a:srgbClr val="193EB0"/>
              </a:buClr>
              <a:buChar char="•"/>
            </a:pPr>
            <a:r>
              <a:rPr sz="1500" b="1" i="0">
                <a:solidFill>
                  <a:srgbClr val="193EB0"/>
                </a:solidFill>
                <a:latin typeface="Arial"/>
              </a:rPr>
              <a:t>No term </a:t>
            </a:r>
            <a:r>
              <a:rPr sz="1500" b="0" i="0">
                <a:solidFill>
                  <a:srgbClr val="1F2937"/>
                </a:solidFill>
                <a:latin typeface="Arial"/>
              </a:rPr>
              <a:t>is both present and denied</a:t>
            </a:r>
          </a:p>
          <a:p>
            <a:pPr algn="l" marL="201168" indent="-201168">
              <a:spcAft>
                <a:spcPts val="1400"/>
              </a:spcAft>
              <a:buClr>
                <a:srgbClr val="193EB0"/>
              </a:buClr>
              <a:buChar char="•"/>
            </a:pPr>
            <a:r>
              <a:rPr sz="1500" b="1" i="0">
                <a:solidFill>
                  <a:srgbClr val="193EB0"/>
                </a:solidFill>
                <a:latin typeface="Arial"/>
              </a:rPr>
              <a:t>Radiologist's report </a:t>
            </a:r>
            <a:r>
              <a:rPr sz="1500" b="0" i="0">
                <a:solidFill>
                  <a:srgbClr val="1F2937"/>
                </a:solidFill>
                <a:latin typeface="Arial"/>
              </a:rPr>
              <a:t>is never used as a source</a:t>
            </a:r>
          </a:p>
        </p:txBody>
      </p:sp>
      <p:sp>
        <p:nvSpPr>
          <p:cNvPr id="14"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6"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No invented facts: a clinical tool is only useful if the doctor can trust every line.</a:t>
            </a:r>
          </a:p>
        </p:txBody>
      </p:sp>
    </p:spTree>
  </p:cSld>
  <p:clrMapOvr>
    <a:masterClrMapping/>
  </p:clrMapOvr>
  <p:transition>
    <p:push/>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Multimodal Fusion</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Fusion model</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Image and note features are combined, with a flag for missing notes</a:t>
            </a:r>
          </a:p>
        </p:txBody>
      </p:sp>
      <p:sp>
        <p:nvSpPr>
          <p:cNvPr id="8" name="Image box"/>
          <p:cNvSpPr/>
          <p:nvPr/>
        </p:nvSpPr>
        <p:spPr>
          <a:xfrm>
            <a:off x="457200" y="1965960"/>
            <a:ext cx="2468880" cy="914400"/>
          </a:xfrm>
          <a:prstGeom prst="roundRect">
            <a:avLst>
              <a:gd name="adj" fmla="val 8000"/>
            </a:avLst>
          </a:prstGeom>
          <a:solidFill>
            <a:srgbClr val="EAF0FD"/>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Image embeddings</a:t>
            </a:r>
          </a:p>
          <a:p>
            <a:pPr algn="ctr"/>
            <a:r>
              <a:rPr sz="1200">
                <a:solidFill>
                  <a:srgbClr val="1F2937"/>
                </a:solidFill>
                <a:latin typeface="Arial"/>
              </a:rPr>
              <a:t>1,024 features per patient</a:t>
            </a:r>
          </a:p>
        </p:txBody>
      </p:sp>
      <p:sp>
        <p:nvSpPr>
          <p:cNvPr id="9" name="Note box"/>
          <p:cNvSpPr/>
          <p:nvPr/>
        </p:nvSpPr>
        <p:spPr>
          <a:xfrm>
            <a:off x="457200" y="3108960"/>
            <a:ext cx="2468880" cy="1005840"/>
          </a:xfrm>
          <a:prstGeom prst="roundRect">
            <a:avLst>
              <a:gd name="adj" fmla="val 8000"/>
            </a:avLst>
          </a:prstGeom>
          <a:solidFill>
            <a:srgbClr val="EAF0FD"/>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Note embeddings</a:t>
            </a:r>
          </a:p>
          <a:p>
            <a:pPr algn="ctr"/>
            <a:r>
              <a:rPr sz="1200">
                <a:solidFill>
                  <a:srgbClr val="1F2937"/>
                </a:solidFill>
                <a:latin typeface="Arial"/>
              </a:rPr>
              <a:t>768 features × has_note flag</a:t>
            </a:r>
          </a:p>
        </p:txBody>
      </p:sp>
      <p:sp>
        <p:nvSpPr>
          <p:cNvPr id="10" name="Arrow in"/>
          <p:cNvSpPr/>
          <p:nvPr/>
        </p:nvSpPr>
        <p:spPr>
          <a:xfrm>
            <a:off x="3017520" y="2788920"/>
            <a:ext cx="365760" cy="274320"/>
          </a:xfrm>
          <a:prstGeom prst="rightArrow">
            <a:avLst/>
          </a:prstGeom>
          <a:solidFill>
            <a:srgbClr val="00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ncat box"/>
          <p:cNvSpPr/>
          <p:nvPr/>
        </p:nvSpPr>
        <p:spPr>
          <a:xfrm>
            <a:off x="3474720" y="2194560"/>
            <a:ext cx="1828800" cy="1691640"/>
          </a:xfrm>
          <a:prstGeom prst="roundRect">
            <a:avLst>
              <a:gd name="adj" fmla="val 8000"/>
            </a:avLst>
          </a:prstGeom>
          <a:solidFill>
            <a:srgbClr val="EAF0FD"/>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Concatenate and scale</a:t>
            </a:r>
          </a:p>
          <a:p>
            <a:pPr algn="ctr"/>
            <a:r>
              <a:rPr sz="1200">
                <a:solidFill>
                  <a:srgbClr val="1F2937"/>
                </a:solidFill>
                <a:latin typeface="Arial"/>
              </a:rPr>
              <a:t>1,793 inputs; scaler fitted on train only</a:t>
            </a:r>
          </a:p>
        </p:txBody>
      </p:sp>
      <p:sp>
        <p:nvSpPr>
          <p:cNvPr id="12" name="Arrow mid"/>
          <p:cNvSpPr/>
          <p:nvPr/>
        </p:nvSpPr>
        <p:spPr>
          <a:xfrm>
            <a:off x="5394960" y="2788920"/>
            <a:ext cx="365760" cy="274320"/>
          </a:xfrm>
          <a:prstGeom prst="rightArrow">
            <a:avLst/>
          </a:prstGeom>
          <a:solidFill>
            <a:srgbClr val="00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eads box"/>
          <p:cNvSpPr/>
          <p:nvPr/>
        </p:nvSpPr>
        <p:spPr>
          <a:xfrm>
            <a:off x="5852160" y="2194560"/>
            <a:ext cx="1920240" cy="1691640"/>
          </a:xfrm>
          <a:prstGeom prst="roundRect">
            <a:avLst>
              <a:gd name="adj" fmla="val 8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FFFFFF"/>
                </a:solidFill>
                <a:latin typeface="Arial"/>
              </a:rPr>
              <a:t>Fusion heads</a:t>
            </a:r>
          </a:p>
          <a:p>
            <a:pPr algn="ctr"/>
            <a:r>
              <a:rPr sz="1200">
                <a:solidFill>
                  <a:srgbClr val="FFFFFF"/>
                </a:solidFill>
                <a:latin typeface="Arial"/>
              </a:rPr>
              <a:t>Linear · Random Forest · MLP</a:t>
            </a:r>
          </a:p>
        </p:txBody>
      </p:sp>
      <p:sp>
        <p:nvSpPr>
          <p:cNvPr id="14" name="Arrow out"/>
          <p:cNvSpPr/>
          <p:nvPr/>
        </p:nvSpPr>
        <p:spPr>
          <a:xfrm>
            <a:off x="7863840" y="2788920"/>
            <a:ext cx="320040" cy="274320"/>
          </a:xfrm>
          <a:prstGeom prst="rightArrow">
            <a:avLst/>
          </a:prstGeom>
          <a:solidFill>
            <a:srgbClr val="009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usion output box"/>
          <p:cNvSpPr/>
          <p:nvPr/>
        </p:nvSpPr>
        <p:spPr>
          <a:xfrm>
            <a:off x="8229600" y="2194560"/>
            <a:ext cx="1188720" cy="1691640"/>
          </a:xfrm>
          <a:prstGeom prst="roundRect">
            <a:avLst>
              <a:gd name="adj" fmla="val 8000"/>
            </a:avLst>
          </a:prstGeom>
          <a:solidFill>
            <a:srgbClr val="EAF0FD"/>
          </a:solidFill>
          <a:ln w="12700">
            <a:solidFill>
              <a:srgbClr val="C9D5F2"/>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1400" b="1">
                <a:solidFill>
                  <a:srgbClr val="193EB0"/>
                </a:solidFill>
                <a:latin typeface="Arial"/>
              </a:rPr>
              <a:t>Output</a:t>
            </a:r>
          </a:p>
          <a:p>
            <a:pPr algn="ctr"/>
            <a:r>
              <a:rPr sz="1200">
                <a:solidFill>
                  <a:srgbClr val="1F2937"/>
                </a:solidFill>
                <a:latin typeface="Arial"/>
              </a:rPr>
              <a:t>110 findings</a:t>
            </a:r>
          </a:p>
        </p:txBody>
      </p:sp>
      <p:sp>
        <p:nvSpPr>
          <p:cNvPr id="16" name="Compared models"/>
          <p:cNvSpPr txBox="1"/>
          <p:nvPr/>
        </p:nvSpPr>
        <p:spPr>
          <a:xfrm>
            <a:off x="457200" y="4297680"/>
            <a:ext cx="8961120" cy="594360"/>
          </a:xfrm>
          <a:prstGeom prst="rect">
            <a:avLst/>
          </a:prstGeom>
          <a:noFill/>
        </p:spPr>
        <p:txBody>
          <a:bodyPr wrap="square" lIns="0" rIns="0" tIns="0" bIns="0" anchor="t">
            <a:spAutoFit/>
          </a:bodyPr>
          <a:lstStyle/>
          <a:p>
            <a:pPr algn="l">
              <a:spcAft>
                <a:spcPts val="0"/>
              </a:spcAft>
            </a:pPr>
            <a:r>
              <a:rPr sz="1400" b="1" i="0">
                <a:solidFill>
                  <a:srgbClr val="193EB0"/>
                </a:solidFill>
                <a:latin typeface="Arial"/>
              </a:rPr>
              <a:t>Also compared: </a:t>
            </a:r>
            <a:r>
              <a:rPr sz="1400" b="0" i="0">
                <a:solidFill>
                  <a:srgbClr val="1F2937"/>
                </a:solidFill>
                <a:latin typeface="Arial"/>
              </a:rPr>
              <a:t>late fusion (weighted average, image weight 0.9), image-only MLP and text-only MLP.</a:t>
            </a:r>
          </a:p>
        </p:txBody>
      </p:sp>
      <p:sp>
        <p:nvSpPr>
          <p:cNvPr id="17" name="Business effect card"/>
          <p:cNvSpPr/>
          <p:nvPr/>
        </p:nvSpPr>
        <p:spPr>
          <a:xfrm>
            <a:off x="457200" y="5029200"/>
            <a:ext cx="8961120" cy="10515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usiness effect tag"/>
          <p:cNvSpPr/>
          <p:nvPr/>
        </p:nvSpPr>
        <p:spPr>
          <a:xfrm>
            <a:off x="640080" y="518464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9" name="Business effect text"/>
          <p:cNvSpPr txBox="1"/>
          <p:nvPr/>
        </p:nvSpPr>
        <p:spPr>
          <a:xfrm>
            <a:off x="640080" y="5559552"/>
            <a:ext cx="8595360" cy="411479"/>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A missing note is a normal case: its text part is switched off, not guessed, so the system still works with only an X-ray.</a:t>
            </a:r>
          </a:p>
        </p:txBody>
      </p:sp>
    </p:spTree>
  </p:cSld>
  <p:clrMapOvr>
    <a:masterClrMapping/>
  </p:clrMapOvr>
  <p:transition>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Validation and tuning</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The winner was picked on validation; the test set was opened once</a:t>
            </a:r>
          </a:p>
        </p:txBody>
      </p:sp>
      <p:graphicFrame>
        <p:nvGraphicFramePr>
          <p:cNvPr id="8" name="Validation chart"/>
          <p:cNvGraphicFramePr>
            <a:graphicFrameLocks noGrp="1"/>
          </p:cNvGraphicFramePr>
          <p:nvPr/>
        </p:nvGraphicFramePr>
        <p:xfrm>
          <a:off x="457200" y="1920240"/>
          <a:ext cx="4572000" cy="3063240"/>
        </p:xfrm>
        <a:graphic>
          <a:graphicData uri="http://schemas.openxmlformats.org/drawingml/2006/chart">
            <c:chart xmlns:c="http://schemas.openxmlformats.org/drawingml/2006/chart" r:id="rId2"/>
          </a:graphicData>
        </a:graphic>
      </p:graphicFrame>
      <p:sp>
        <p:nvSpPr>
          <p:cNvPr id="9" name="Section label"/>
          <p:cNvSpPr txBox="1"/>
          <p:nvPr/>
        </p:nvSpPr>
        <p:spPr>
          <a:xfrm>
            <a:off x="5303520" y="1965960"/>
            <a:ext cx="2743200" cy="228600"/>
          </a:xfrm>
          <a:prstGeom prst="rect">
            <a:avLst/>
          </a:prstGeom>
          <a:noFill/>
        </p:spPr>
        <p:txBody>
          <a:bodyPr wrap="square" lIns="0" rIns="0" tIns="0" bIns="0" anchor="t">
            <a:spAutoFit/>
          </a:bodyPr>
          <a:lstStyle/>
          <a:p>
            <a:pPr algn="l">
              <a:spcAft>
                <a:spcPts val="600"/>
              </a:spcAft>
            </a:pPr>
            <a:r>
              <a:rPr sz="1200" b="1" i="0">
                <a:solidFill>
                  <a:srgbClr val="009BD6"/>
                </a:solidFill>
                <a:latin typeface="Arial"/>
              </a:rPr>
              <a:t>HOW WE CHOSE</a:t>
            </a:r>
          </a:p>
        </p:txBody>
      </p:sp>
      <p:sp>
        <p:nvSpPr>
          <p:cNvPr id="10" name="Choice bullets"/>
          <p:cNvSpPr txBox="1"/>
          <p:nvPr/>
        </p:nvSpPr>
        <p:spPr>
          <a:xfrm>
            <a:off x="5303520" y="2286000"/>
            <a:ext cx="4114800" cy="2743200"/>
          </a:xfrm>
          <a:prstGeom prst="rect">
            <a:avLst/>
          </a:prstGeom>
          <a:noFill/>
        </p:spPr>
        <p:txBody>
          <a:bodyPr wrap="square" lIns="0" rIns="0" tIns="0" bIns="0" anchor="t">
            <a:spAutoFit/>
          </a:bodyPr>
          <a:lstStyle/>
          <a:p>
            <a:pPr algn="l" marL="201168" indent="-201168">
              <a:spcAft>
                <a:spcPts val="700"/>
              </a:spcAft>
              <a:buClr>
                <a:srgbClr val="193EB0"/>
              </a:buClr>
              <a:buChar char="•"/>
            </a:pPr>
            <a:r>
              <a:rPr sz="1400" b="1" i="0">
                <a:solidFill>
                  <a:srgbClr val="193EB0"/>
                </a:solidFill>
                <a:latin typeface="Arial"/>
              </a:rPr>
              <a:t>Winner: Linear fusion </a:t>
            </a:r>
            <a:r>
              <a:rPr sz="1400" b="0" i="0">
                <a:solidFill>
                  <a:srgbClr val="1F2937"/>
                </a:solidFill>
                <a:latin typeface="Arial"/>
              </a:rPr>
              <a:t>on validation macro PR-AUC (0.066).</a:t>
            </a:r>
          </a:p>
          <a:p>
            <a:pPr algn="l" marL="201168" indent="-201168">
              <a:spcAft>
                <a:spcPts val="700"/>
              </a:spcAft>
              <a:buClr>
                <a:srgbClr val="193EB0"/>
              </a:buClr>
              <a:buChar char="•"/>
            </a:pPr>
            <a:r>
              <a:rPr sz="1400" b="1" i="0">
                <a:solidFill>
                  <a:srgbClr val="193EB0"/>
                </a:solidFill>
                <a:latin typeface="Arial"/>
              </a:rPr>
              <a:t>Optuna </a:t>
            </a:r>
            <a:r>
              <a:rPr sz="1400" b="0" i="0">
                <a:solidFill>
                  <a:srgbClr val="1F2937"/>
                </a:solidFill>
                <a:latin typeface="Arial"/>
              </a:rPr>
              <a:t>tuned the linear model's regularisation (3 trials, 2-fold CV).</a:t>
            </a:r>
          </a:p>
          <a:p>
            <a:pPr algn="l" marL="201168" indent="-201168">
              <a:spcAft>
                <a:spcPts val="700"/>
              </a:spcAft>
              <a:buClr>
                <a:srgbClr val="193EB0"/>
              </a:buClr>
              <a:buChar char="•"/>
            </a:pPr>
            <a:r>
              <a:rPr sz="1400" b="1" i="0">
                <a:solidFill>
                  <a:srgbClr val="193EB0"/>
                </a:solidFill>
                <a:latin typeface="Arial"/>
              </a:rPr>
              <a:t>Safe split: </a:t>
            </a:r>
            <a:r>
              <a:rPr sz="1400" b="0" i="0">
                <a:solidFill>
                  <a:srgbClr val="1F2937"/>
                </a:solidFill>
                <a:latin typeface="Arial"/>
              </a:rPr>
              <a:t>test IDs must match in every source, or the code stops.</a:t>
            </a:r>
          </a:p>
          <a:p>
            <a:pPr algn="l" marL="201168" indent="-201168">
              <a:spcAft>
                <a:spcPts val="700"/>
              </a:spcAft>
              <a:buClr>
                <a:srgbClr val="193EB0"/>
              </a:buClr>
              <a:buChar char="•"/>
            </a:pPr>
            <a:r>
              <a:rPr sz="1400" b="1" i="0">
                <a:solidFill>
                  <a:srgbClr val="193EB0"/>
                </a:solidFill>
                <a:latin typeface="Arial"/>
              </a:rPr>
              <a:t>On test, </a:t>
            </a:r>
            <a:r>
              <a:rPr sz="1400" b="0" i="0">
                <a:solidFill>
                  <a:srgbClr val="1F2937"/>
                </a:solidFill>
                <a:latin typeface="Arial"/>
              </a:rPr>
              <a:t>MLP fusion edged ahead (0.056 vs 0.053): small validation sets make rare-label metrics unstable.</a:t>
            </a:r>
          </a:p>
        </p:txBody>
      </p:sp>
      <p:sp>
        <p:nvSpPr>
          <p:cNvPr id="11"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3"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Choosing on validation keeps test numbers honest; every run is logged in MLflow.</a:t>
            </a:r>
          </a:p>
        </p:txBody>
      </p:sp>
    </p:spTree>
  </p:cSld>
  <p:clrMapOvr>
    <a:masterClrMapping/>
  </p:clrMapOvr>
  <p:transition>
    <p:push/>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Results &amp; Evaluation</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Fusion vs single modality</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Fusion beats image-only and text-only models</a:t>
            </a:r>
          </a:p>
        </p:txBody>
      </p:sp>
      <p:graphicFrame>
        <p:nvGraphicFramePr>
          <p:cNvPr id="8" name="Fusion comparison chart"/>
          <p:cNvGraphicFramePr>
            <a:graphicFrameLocks noGrp="1"/>
          </p:cNvGraphicFramePr>
          <p:nvPr/>
        </p:nvGraphicFramePr>
        <p:xfrm>
          <a:off x="457200" y="1920240"/>
          <a:ext cx="5212080" cy="3108960"/>
        </p:xfrm>
        <a:graphic>
          <a:graphicData uri="http://schemas.openxmlformats.org/drawingml/2006/chart">
            <c:chart xmlns:c="http://schemas.openxmlformats.org/drawingml/2006/chart" r:id="rId2"/>
          </a:graphicData>
        </a:graphic>
      </p:graphicFrame>
      <p:sp>
        <p:nvSpPr>
          <p:cNvPr id="9" name="Comparison bullets"/>
          <p:cNvSpPr txBox="1"/>
          <p:nvPr/>
        </p:nvSpPr>
        <p:spPr>
          <a:xfrm>
            <a:off x="5943600" y="2011680"/>
            <a:ext cx="3474720" cy="3017520"/>
          </a:xfrm>
          <a:prstGeom prst="rect">
            <a:avLst/>
          </a:prstGeom>
          <a:noFill/>
        </p:spPr>
        <p:txBody>
          <a:bodyPr wrap="square" lIns="0" rIns="0" tIns="0" bIns="0" anchor="t">
            <a:spAutoFit/>
          </a:bodyPr>
          <a:lstStyle/>
          <a:p>
            <a:pPr algn="l" marL="201168" indent="-201168">
              <a:spcAft>
                <a:spcPts val="800"/>
              </a:spcAft>
              <a:buClr>
                <a:srgbClr val="193EB0"/>
              </a:buClr>
              <a:buChar char="•"/>
            </a:pPr>
            <a:r>
              <a:rPr sz="1400" b="1" i="0">
                <a:solidFill>
                  <a:srgbClr val="193EB0"/>
                </a:solidFill>
                <a:latin typeface="Arial"/>
              </a:rPr>
              <a:t>MLP fusion 0.056 </a:t>
            </a:r>
            <a:r>
              <a:rPr sz="1400" b="0" i="0">
                <a:solidFill>
                  <a:srgbClr val="1F2937"/>
                </a:solidFill>
                <a:latin typeface="Arial"/>
              </a:rPr>
              <a:t>vs image-only 0.035 (+62%) and text-only 0.027 (2.1×).</a:t>
            </a:r>
          </a:p>
          <a:p>
            <a:pPr algn="l" marL="201168" indent="-201168">
              <a:spcAft>
                <a:spcPts val="800"/>
              </a:spcAft>
              <a:buClr>
                <a:srgbClr val="193EB0"/>
              </a:buClr>
              <a:buChar char="•"/>
            </a:pPr>
            <a:r>
              <a:rPr sz="1400" b="1" i="0">
                <a:solidFill>
                  <a:srgbClr val="193EB0"/>
                </a:solidFill>
                <a:latin typeface="Arial"/>
              </a:rPr>
              <a:t>Linear and forest fusion </a:t>
            </a:r>
            <a:r>
              <a:rPr sz="1400" b="0" i="0">
                <a:solidFill>
                  <a:srgbClr val="1F2937"/>
                </a:solidFill>
                <a:latin typeface="Arial"/>
              </a:rPr>
              <a:t>also beat both single-modality models.</a:t>
            </a:r>
          </a:p>
          <a:p>
            <a:pPr algn="l" marL="201168" indent="-201168">
              <a:spcAft>
                <a:spcPts val="800"/>
              </a:spcAft>
              <a:buClr>
                <a:srgbClr val="193EB0"/>
              </a:buClr>
              <a:buChar char="•"/>
            </a:pPr>
            <a:r>
              <a:rPr sz="1400" b="1" i="0">
                <a:solidFill>
                  <a:srgbClr val="193EB0"/>
                </a:solidFill>
                <a:latin typeface="Arial"/>
              </a:rPr>
              <a:t>Late fusion </a:t>
            </a:r>
            <a:r>
              <a:rPr sz="1400" b="0" i="0">
                <a:solidFill>
                  <a:srgbClr val="1F2937"/>
                </a:solidFill>
                <a:latin typeface="Arial"/>
              </a:rPr>
              <a:t>stays level with image-only (0.035).</a:t>
            </a:r>
          </a:p>
          <a:p>
            <a:pPr algn="l" marL="201168" indent="-201168">
              <a:spcAft>
                <a:spcPts val="800"/>
              </a:spcAft>
              <a:buClr>
                <a:srgbClr val="193EB0"/>
              </a:buClr>
              <a:buChar char="•"/>
            </a:pPr>
            <a:r>
              <a:rPr sz="1400" b="1" i="0">
                <a:solidFill>
                  <a:srgbClr val="193EB0"/>
                </a:solidFill>
                <a:latin typeface="Arial"/>
              </a:rPr>
              <a:t>A hard task: </a:t>
            </a:r>
            <a:r>
              <a:rPr sz="1400" b="0" i="0">
                <a:solidFill>
                  <a:srgbClr val="1F2937"/>
                </a:solidFill>
                <a:latin typeface="Arial"/>
              </a:rPr>
              <a:t>87 different findings are scored, many of them rare.</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Confirms our value hypothesis: the note adds information the X-ray alone does not carry.</a:t>
            </a:r>
          </a:p>
        </p:txBody>
      </p:sp>
    </p:spTree>
  </p:cSld>
  <p:clrMapOvr>
    <a:masterClrMapping/>
  </p:clrMapOvr>
  <p:transition>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Full test metrics</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Early-fusion models lead on every ranking metric</a:t>
            </a:r>
          </a:p>
        </p:txBody>
      </p:sp>
      <p:graphicFrame>
        <p:nvGraphicFramePr>
          <p:cNvPr id="8" name="Test metrics table"/>
          <p:cNvGraphicFramePr>
            <a:graphicFrameLocks noGrp="1"/>
          </p:cNvGraphicFramePr>
          <p:nvPr/>
        </p:nvGraphicFramePr>
        <p:xfrm>
          <a:off x="457200" y="1920240"/>
          <a:ext cx="8961120" cy="2560320"/>
        </p:xfrm>
        <a:graphic>
          <a:graphicData uri="http://schemas.openxmlformats.org/drawingml/2006/table">
            <a:tbl>
              <a:tblPr firstRow="1" bandRow="0"/>
              <a:tblGrid>
                <a:gridCol w="2011680"/>
                <a:gridCol w="1371600"/>
                <a:gridCol w="1371600"/>
                <a:gridCol w="1463040"/>
                <a:gridCol w="1463040"/>
                <a:gridCol w="1280160"/>
              </a:tblGrid>
              <a:tr h="365760">
                <a:tc>
                  <a:txBody>
                    <a:bodyPr/>
                    <a:lstStyle/>
                    <a:p>
                      <a:r>
                        <a:rPr sz="1200" b="1">
                          <a:solidFill>
                            <a:srgbClr val="FFFFFF"/>
                          </a:solidFill>
                          <a:latin typeface="Arial"/>
                        </a:rPr>
                        <a:t>Model</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pPr algn="r"/>
                      <a:r>
                        <a:rPr sz="1200" b="1">
                          <a:solidFill>
                            <a:srgbClr val="FFFFFF"/>
                          </a:solidFill>
                          <a:latin typeface="Arial"/>
                        </a:rPr>
                        <a:t>PR-AUC macro</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pPr algn="r"/>
                      <a:r>
                        <a:rPr sz="1200" b="1">
                          <a:solidFill>
                            <a:srgbClr val="FFFFFF"/>
                          </a:solidFill>
                          <a:latin typeface="Arial"/>
                        </a:rPr>
                        <a:t>PR-AUC micro</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pPr algn="r"/>
                      <a:r>
                        <a:rPr sz="1200" b="1">
                          <a:solidFill>
                            <a:srgbClr val="FFFFFF"/>
                          </a:solidFill>
                          <a:latin typeface="Arial"/>
                        </a:rPr>
                        <a:t>ROC-AUC macro</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pPr algn="r"/>
                      <a:r>
                        <a:rPr sz="1200" b="1">
                          <a:solidFill>
                            <a:srgbClr val="FFFFFF"/>
                          </a:solidFill>
                          <a:latin typeface="Arial"/>
                        </a:rPr>
                        <a:t>ROC-AUC micro</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pPr algn="r"/>
                      <a:r>
                        <a:rPr sz="1200" b="1">
                          <a:solidFill>
                            <a:srgbClr val="FFFFFF"/>
                          </a:solidFill>
                          <a:latin typeface="Arial"/>
                        </a:rPr>
                        <a:t>F1 micro</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r>
              <a:tr h="365760">
                <a:tc>
                  <a:txBody>
                    <a:bodyPr/>
                    <a:lstStyle/>
                    <a:p>
                      <a:r>
                        <a:rPr sz="1300" b="1">
                          <a:solidFill>
                            <a:srgbClr val="1F2937"/>
                          </a:solidFill>
                          <a:latin typeface="Arial"/>
                        </a:rPr>
                        <a:t>MLP fusion</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1">
                          <a:solidFill>
                            <a:srgbClr val="193EB0"/>
                          </a:solidFill>
                          <a:latin typeface="Arial"/>
                        </a:rPr>
                        <a:t>0.056</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0.173</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0.577</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0.837</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0.163</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365760">
                <a:tc>
                  <a:txBody>
                    <a:bodyPr/>
                    <a:lstStyle/>
                    <a:p>
                      <a:r>
                        <a:rPr sz="1300" b="1">
                          <a:solidFill>
                            <a:srgbClr val="1F2937"/>
                          </a:solidFill>
                          <a:latin typeface="Arial"/>
                        </a:rPr>
                        <a:t>Linear fusion</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0.053</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0.119</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1">
                          <a:solidFill>
                            <a:srgbClr val="193EB0"/>
                          </a:solidFill>
                          <a:latin typeface="Arial"/>
                        </a:rPr>
                        <a:t>0.610</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0.841</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1">
                          <a:solidFill>
                            <a:srgbClr val="193EB0"/>
                          </a:solidFill>
                          <a:latin typeface="Arial"/>
                        </a:rPr>
                        <a:t>0.169</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r h="365760">
                <a:tc>
                  <a:txBody>
                    <a:bodyPr/>
                    <a:lstStyle/>
                    <a:p>
                      <a:r>
                        <a:rPr sz="1300" b="1">
                          <a:solidFill>
                            <a:srgbClr val="1F2937"/>
                          </a:solidFill>
                          <a:latin typeface="Arial"/>
                        </a:rPr>
                        <a:t>Forest fusion</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0.049</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1">
                          <a:solidFill>
                            <a:srgbClr val="193EB0"/>
                          </a:solidFill>
                          <a:latin typeface="Arial"/>
                        </a:rPr>
                        <a:t>0.186</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0.585</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1">
                          <a:solidFill>
                            <a:srgbClr val="193EB0"/>
                          </a:solidFill>
                          <a:latin typeface="Arial"/>
                        </a:rPr>
                        <a:t>0.867</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0.041</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365760">
                <a:tc>
                  <a:txBody>
                    <a:bodyPr/>
                    <a:lstStyle/>
                    <a:p>
                      <a:r>
                        <a:rPr sz="1300" b="1">
                          <a:solidFill>
                            <a:srgbClr val="1F2937"/>
                          </a:solidFill>
                          <a:latin typeface="Arial"/>
                        </a:rPr>
                        <a:t>Late fusion</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0.035</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0.115</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0.544</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0.756</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0.109</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r h="365760">
                <a:tc>
                  <a:txBody>
                    <a:bodyPr/>
                    <a:lstStyle/>
                    <a:p>
                      <a:r>
                        <a:rPr sz="1300" b="1">
                          <a:solidFill>
                            <a:srgbClr val="1F2937"/>
                          </a:solidFill>
                          <a:latin typeface="Arial"/>
                        </a:rPr>
                        <a:t>Image only</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0.035</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0.109</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0.538</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0.720</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pPr algn="r"/>
                      <a:r>
                        <a:rPr sz="1300" b="0">
                          <a:solidFill>
                            <a:srgbClr val="1F2937"/>
                          </a:solidFill>
                          <a:latin typeface="Arial"/>
                        </a:rPr>
                        <a:t>0.114</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365760">
                <a:tc>
                  <a:txBody>
                    <a:bodyPr/>
                    <a:lstStyle/>
                    <a:p>
                      <a:r>
                        <a:rPr sz="1300" b="1">
                          <a:solidFill>
                            <a:srgbClr val="1F2937"/>
                          </a:solidFill>
                          <a:latin typeface="Arial"/>
                        </a:rPr>
                        <a:t>Text only</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0.027</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0.071</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0.534</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0.772</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pPr algn="r"/>
                      <a:r>
                        <a:rPr sz="1300" b="0">
                          <a:solidFill>
                            <a:srgbClr val="1F2937"/>
                          </a:solidFill>
                          <a:latin typeface="Arial"/>
                        </a:rPr>
                        <a:t>0.065</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bl>
          </a:graphicData>
        </a:graphic>
      </p:graphicFrame>
      <p:sp>
        <p:nvSpPr>
          <p:cNvPr id="9" name="Table note"/>
          <p:cNvSpPr txBox="1"/>
          <p:nvPr/>
        </p:nvSpPr>
        <p:spPr>
          <a:xfrm>
            <a:off x="457200" y="4572000"/>
            <a:ext cx="8961120" cy="457200"/>
          </a:xfrm>
          <a:prstGeom prst="rect">
            <a:avLst/>
          </a:prstGeom>
          <a:noFill/>
        </p:spPr>
        <p:txBody>
          <a:bodyPr wrap="square" lIns="0" rIns="0" tIns="0" bIns="0" anchor="t">
            <a:spAutoFit/>
          </a:bodyPr>
          <a:lstStyle/>
          <a:p>
            <a:pPr algn="l">
              <a:spcAft>
                <a:spcPts val="0"/>
              </a:spcAft>
            </a:pPr>
            <a:r>
              <a:rPr sz="1400" b="1" i="0">
                <a:solidFill>
                  <a:srgbClr val="193EB0"/>
                </a:solidFill>
                <a:latin typeface="Arial"/>
              </a:rPr>
              <a:t>Best per column in blue. </a:t>
            </a:r>
            <a:r>
              <a:rPr sz="1400" b="0" i="0">
                <a:solidFill>
                  <a:srgbClr val="1F2937"/>
                </a:solidFill>
                <a:latin typeface="Arial"/>
              </a:rPr>
              <a:t>Per-finding thresholds turn these scores into clear flags.</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A ranked queue only needs good ordering of cases, and fusion orders them better than either source alone.</a:t>
            </a:r>
          </a:p>
        </p:txBody>
      </p:sp>
    </p:spTree>
  </p:cSld>
  <p:clrMapOvr>
    <a:masterClrMapping/>
  </p:clrMapOvr>
  <p:transition>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Normal vs abnormal</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The model separates normal from abnormal patients</a:t>
            </a:r>
          </a:p>
        </p:txBody>
      </p:sp>
      <p:pic>
        <p:nvPicPr>
          <p:cNvPr id="8" name="Confusion matrices chart" descr="c27_0.png"/>
          <p:cNvPicPr>
            <a:picLocks noChangeAspect="1"/>
          </p:cNvPicPr>
          <p:nvPr/>
        </p:nvPicPr>
        <p:blipFill>
          <a:blip r:embed="rId2"/>
          <a:stretch>
            <a:fillRect/>
          </a:stretch>
        </p:blipFill>
        <p:spPr>
          <a:xfrm>
            <a:off x="457200" y="1920240"/>
            <a:ext cx="4880791" cy="3063240"/>
          </a:xfrm>
          <a:prstGeom prst="rect">
            <a:avLst/>
          </a:prstGeom>
        </p:spPr>
      </p:pic>
      <p:sp>
        <p:nvSpPr>
          <p:cNvPr id="9" name="Confusion bullets"/>
          <p:cNvSpPr txBox="1"/>
          <p:nvPr/>
        </p:nvSpPr>
        <p:spPr>
          <a:xfrm>
            <a:off x="5669280" y="2011680"/>
            <a:ext cx="3749039" cy="3017520"/>
          </a:xfrm>
          <a:prstGeom prst="rect">
            <a:avLst/>
          </a:prstGeom>
          <a:noFill/>
        </p:spPr>
        <p:txBody>
          <a:bodyPr wrap="square" lIns="0" rIns="0" tIns="0" bIns="0" anchor="t">
            <a:spAutoFit/>
          </a:bodyPr>
          <a:lstStyle/>
          <a:p>
            <a:pPr algn="l" marL="201168" indent="-201168">
              <a:spcAft>
                <a:spcPts val="800"/>
              </a:spcAft>
              <a:buClr>
                <a:srgbClr val="193EB0"/>
              </a:buClr>
              <a:buChar char="•"/>
            </a:pPr>
            <a:r>
              <a:rPr sz="1400" b="1" i="0">
                <a:solidFill>
                  <a:srgbClr val="193EB0"/>
                </a:solidFill>
                <a:latin typeface="Arial"/>
              </a:rPr>
              <a:t>Normal vs abnormal: </a:t>
            </a:r>
            <a:r>
              <a:rPr sz="1400" b="0" i="0">
                <a:solidFill>
                  <a:srgbClr val="1F2937"/>
                </a:solidFill>
                <a:latin typeface="Arial"/>
              </a:rPr>
              <a:t>347 of 495 abnormal patients flagged (70% recall, 69% precision).</a:t>
            </a:r>
          </a:p>
          <a:p>
            <a:pPr algn="l" marL="201168" indent="-201168">
              <a:spcAft>
                <a:spcPts val="800"/>
              </a:spcAft>
              <a:buClr>
                <a:srgbClr val="193EB0"/>
              </a:buClr>
              <a:buChar char="•"/>
            </a:pPr>
            <a:r>
              <a:rPr sz="1400" b="1" i="0">
                <a:solidFill>
                  <a:srgbClr val="193EB0"/>
                </a:solidFill>
                <a:latin typeface="Arial"/>
              </a:rPr>
              <a:t>Most frequent findings: </a:t>
            </a:r>
            <a:r>
              <a:rPr sz="1400" b="0" i="0">
                <a:solidFill>
                  <a:srgbClr val="1F2937"/>
                </a:solidFill>
                <a:latin typeface="Arial"/>
              </a:rPr>
              <a:t>lung (105 test cases) and opacity (87 test cases).</a:t>
            </a:r>
          </a:p>
          <a:p>
            <a:pPr algn="l" marL="201168" indent="-201168">
              <a:spcAft>
                <a:spcPts val="800"/>
              </a:spcAft>
              <a:buClr>
                <a:srgbClr val="193EB0"/>
              </a:buClr>
              <a:buChar char="•"/>
            </a:pPr>
            <a:r>
              <a:rPr sz="1400" b="1" i="0">
                <a:solidFill>
                  <a:srgbClr val="193EB0"/>
                </a:solidFill>
                <a:latin typeface="Arial"/>
              </a:rPr>
              <a:t>Model: </a:t>
            </a:r>
            <a:r>
              <a:rPr sz="1400" b="0" i="0">
                <a:solidFill>
                  <a:srgbClr val="1F2937"/>
                </a:solidFill>
                <a:latin typeface="Arial"/>
              </a:rPr>
              <a:t>Linear fusion, threshold 0.50, six most frequent test labels.</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7 in 10 abnormal patients are flagged at the default cut-off; a lower cut-off catches even more.</a:t>
            </a:r>
          </a:p>
        </p:txBody>
      </p:sp>
    </p:spTree>
  </p:cSld>
  <p:clrMapOvr>
    <a:masterClrMapping/>
  </p:clrMapOvr>
  <p:transition>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Per-finding scores</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Common, distinct findings score best</a:t>
            </a:r>
          </a:p>
        </p:txBody>
      </p:sp>
      <p:pic>
        <p:nvPicPr>
          <p:cNvPr id="8" name="F1 per finding chart" descr="c29_0.png"/>
          <p:cNvPicPr>
            <a:picLocks noChangeAspect="1"/>
          </p:cNvPicPr>
          <p:nvPr/>
        </p:nvPicPr>
        <p:blipFill>
          <a:blip r:embed="rId2"/>
          <a:stretch>
            <a:fillRect/>
          </a:stretch>
        </p:blipFill>
        <p:spPr>
          <a:xfrm>
            <a:off x="457200" y="1920240"/>
            <a:ext cx="4572000" cy="3034285"/>
          </a:xfrm>
          <a:prstGeom prst="rect">
            <a:avLst/>
          </a:prstGeom>
        </p:spPr>
      </p:pic>
      <p:sp>
        <p:nvSpPr>
          <p:cNvPr id="9" name="F1 bullets"/>
          <p:cNvSpPr txBox="1"/>
          <p:nvPr/>
        </p:nvSpPr>
        <p:spPr>
          <a:xfrm>
            <a:off x="5303520" y="2011680"/>
            <a:ext cx="4114800" cy="3017520"/>
          </a:xfrm>
          <a:prstGeom prst="rect">
            <a:avLst/>
          </a:prstGeom>
          <a:noFill/>
        </p:spPr>
        <p:txBody>
          <a:bodyPr wrap="square" lIns="0" rIns="0" tIns="0" bIns="0" anchor="t">
            <a:spAutoFit/>
          </a:bodyPr>
          <a:lstStyle/>
          <a:p>
            <a:pPr algn="l" marL="201168" indent="-201168">
              <a:spcAft>
                <a:spcPts val="800"/>
              </a:spcAft>
              <a:buClr>
                <a:srgbClr val="193EB0"/>
              </a:buClr>
              <a:buChar char="•"/>
            </a:pPr>
            <a:r>
              <a:rPr sz="1400" b="1" i="0">
                <a:solidFill>
                  <a:srgbClr val="193EB0"/>
                </a:solidFill>
                <a:latin typeface="Arial"/>
              </a:rPr>
              <a:t>Best F1: </a:t>
            </a:r>
            <a:r>
              <a:rPr sz="1400" b="0" i="0">
                <a:solidFill>
                  <a:srgbClr val="1F2937"/>
                </a:solidFill>
                <a:latin typeface="Arial"/>
              </a:rPr>
              <a:t>normal 0.45, cardiomegaly 0.30, atelectasis 0.24.</a:t>
            </a:r>
          </a:p>
          <a:p>
            <a:pPr algn="l" marL="201168" indent="-201168">
              <a:spcAft>
                <a:spcPts val="800"/>
              </a:spcAft>
              <a:buClr>
                <a:srgbClr val="193EB0"/>
              </a:buClr>
              <a:buChar char="•"/>
            </a:pPr>
            <a:r>
              <a:rPr sz="1400" b="1" i="0">
                <a:solidFill>
                  <a:srgbClr val="193EB0"/>
                </a:solidFill>
                <a:latin typeface="Arial"/>
              </a:rPr>
              <a:t>Harder findings: </a:t>
            </a:r>
            <a:r>
              <a:rPr sz="1400" b="0" i="0">
                <a:solidFill>
                  <a:srgbClr val="1F2937"/>
                </a:solidFill>
                <a:latin typeface="Arial"/>
              </a:rPr>
              <a:t>thoracic vertebrae 0.02, calcified granuloma 0.06, spine 0.07.</a:t>
            </a:r>
          </a:p>
          <a:p>
            <a:pPr algn="l" marL="201168" indent="-201168">
              <a:spcAft>
                <a:spcPts val="800"/>
              </a:spcAft>
              <a:buClr>
                <a:srgbClr val="193EB0"/>
              </a:buClr>
              <a:buChar char="•"/>
            </a:pPr>
            <a:r>
              <a:rPr sz="1400" b="1" i="0">
                <a:solidFill>
                  <a:srgbClr val="193EB0"/>
                </a:solidFill>
                <a:latin typeface="Arial"/>
              </a:rPr>
              <a:t>Scope: </a:t>
            </a:r>
            <a:r>
              <a:rPr sz="1400" b="0" i="0">
                <a:solidFill>
                  <a:srgbClr val="1F2937"/>
                </a:solidFill>
                <a:latin typeface="Arial"/>
              </a:rPr>
              <a:t>F1 at threshold 0.50 for the 12 most frequent test labels.</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Trust the tool first on common findings; for rare ones it should show evidence to the doctor, not a verdict.</a:t>
            </a:r>
          </a:p>
        </p:txBody>
      </p:sp>
    </p:spTree>
  </p:cSld>
  <p:clrMapOvr>
    <a:masterClrMapping/>
  </p:clrMapOvr>
  <p:transition>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Image vs note influence</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Both sources shape the prediction: the note is not decoration</a:t>
            </a:r>
          </a:p>
        </p:txBody>
      </p:sp>
      <p:pic>
        <p:nvPicPr>
          <p:cNvPr id="8" name="Modality attribution chart" descr="c39_0.png"/>
          <p:cNvPicPr>
            <a:picLocks noChangeAspect="1"/>
          </p:cNvPicPr>
          <p:nvPr/>
        </p:nvPicPr>
        <p:blipFill>
          <a:blip r:embed="rId2"/>
          <a:stretch>
            <a:fillRect/>
          </a:stretch>
        </p:blipFill>
        <p:spPr>
          <a:xfrm>
            <a:off x="457200" y="1920240"/>
            <a:ext cx="4480560" cy="2651760"/>
          </a:xfrm>
          <a:prstGeom prst="rect">
            <a:avLst/>
          </a:prstGeom>
        </p:spPr>
      </p:pic>
      <p:sp>
        <p:nvSpPr>
          <p:cNvPr id="9" name="Attribution bullets"/>
          <p:cNvSpPr txBox="1"/>
          <p:nvPr/>
        </p:nvSpPr>
        <p:spPr>
          <a:xfrm>
            <a:off x="5303520" y="2011680"/>
            <a:ext cx="4114800" cy="3017520"/>
          </a:xfrm>
          <a:prstGeom prst="rect">
            <a:avLst/>
          </a:prstGeom>
          <a:noFill/>
        </p:spPr>
        <p:txBody>
          <a:bodyPr wrap="square" lIns="0" rIns="0" tIns="0" bIns="0" anchor="t">
            <a:spAutoFit/>
          </a:bodyPr>
          <a:lstStyle/>
          <a:p>
            <a:pPr algn="l" marL="201168" indent="-201168">
              <a:spcAft>
                <a:spcPts val="800"/>
              </a:spcAft>
              <a:buClr>
                <a:srgbClr val="193EB0"/>
              </a:buClr>
              <a:buChar char="•"/>
            </a:pPr>
            <a:r>
              <a:rPr sz="1400" b="1" i="0">
                <a:solidFill>
                  <a:srgbClr val="193EB0"/>
                </a:solidFill>
                <a:latin typeface="Arial"/>
              </a:rPr>
              <a:t>Mean attribution: </a:t>
            </a:r>
            <a:r>
              <a:rPr sz="1400" b="0" i="0">
                <a:solidFill>
                  <a:srgbClr val="1F2937"/>
                </a:solidFill>
                <a:latin typeface="Arial"/>
              </a:rPr>
              <a:t>image 13.7, text 9.6 (Integrated Gradients, MLP fusion).</a:t>
            </a:r>
          </a:p>
          <a:p>
            <a:pPr algn="l" marL="201168" indent="-201168">
              <a:spcAft>
                <a:spcPts val="800"/>
              </a:spcAft>
              <a:buClr>
                <a:srgbClr val="193EB0"/>
              </a:buClr>
              <a:buChar char="•"/>
            </a:pPr>
            <a:r>
              <a:rPr sz="1400" b="1" i="0">
                <a:solidFill>
                  <a:srgbClr val="193EB0"/>
                </a:solidFill>
                <a:latin typeface="Arial"/>
              </a:rPr>
              <a:t>About 59% image and 41% text </a:t>
            </a:r>
            <a:r>
              <a:rPr sz="1400" b="0" i="0">
                <a:solidFill>
                  <a:srgbClr val="1F2937"/>
                </a:solidFill>
                <a:latin typeface="Arial"/>
              </a:rPr>
              <a:t>of the total attribution.</a:t>
            </a:r>
          </a:p>
          <a:p>
            <a:pPr algn="l" marL="201168" indent="-201168">
              <a:spcAft>
                <a:spcPts val="800"/>
              </a:spcAft>
              <a:buClr>
                <a:srgbClr val="193EB0"/>
              </a:buClr>
              <a:buChar char="•"/>
            </a:pPr>
            <a:r>
              <a:rPr sz="1400" b="1" i="0">
                <a:solidFill>
                  <a:srgbClr val="193EB0"/>
                </a:solidFill>
                <a:latin typeface="Arial"/>
              </a:rPr>
              <a:t>Based on 30 sampled test patients: </a:t>
            </a:r>
            <a:r>
              <a:rPr sz="1400" b="0" i="0">
                <a:solidFill>
                  <a:srgbClr val="1F2937"/>
                </a:solidFill>
                <a:latin typeface="Arial"/>
              </a:rPr>
              <a:t>a directional check, not an exact split.</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The note carries about 40% of the model's evidence, so the app must capture it well.</a:t>
            </a:r>
          </a:p>
        </p:txBody>
      </p:sp>
    </p:spTree>
  </p:cSld>
  <p:clrMapOvr>
    <a:masterClrMapping/>
  </p:clrMapOvr>
  <p:transition>
    <p:push/>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8229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Challenges &amp; Solutions</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Challenges: data</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Four data problems that could have made our results meaningless</a:t>
            </a:r>
          </a:p>
        </p:txBody>
      </p:sp>
      <p:graphicFrame>
        <p:nvGraphicFramePr>
          <p:cNvPr id="8" name="Data challenges table"/>
          <p:cNvGraphicFramePr>
            <a:graphicFrameLocks noGrp="1"/>
          </p:cNvGraphicFramePr>
          <p:nvPr/>
        </p:nvGraphicFramePr>
        <p:xfrm>
          <a:off x="457200" y="1920240"/>
          <a:ext cx="8961120" cy="3657600"/>
        </p:xfrm>
        <a:graphic>
          <a:graphicData uri="http://schemas.openxmlformats.org/drawingml/2006/table">
            <a:tbl>
              <a:tblPr firstRow="1" bandRow="0"/>
              <a:tblGrid>
                <a:gridCol w="3108960"/>
                <a:gridCol w="3474720"/>
                <a:gridCol w="2377440"/>
              </a:tblGrid>
              <a:tr h="365760">
                <a:tc>
                  <a:txBody>
                    <a:bodyPr/>
                    <a:lstStyle/>
                    <a:p>
                      <a:r>
                        <a:rPr sz="1300" b="1">
                          <a:solidFill>
                            <a:srgbClr val="FFFFFF"/>
                          </a:solidFill>
                          <a:latin typeface="Arial"/>
                        </a:rPr>
                        <a:t>Challenge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How we solved it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Business effect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r>
              <a:tr h="822960">
                <a:tc>
                  <a:txBody>
                    <a:bodyPr/>
                    <a:lstStyle/>
                    <a:p>
                      <a:r>
                        <a:rPr sz="1300">
                          <a:solidFill>
                            <a:srgbClr val="1F2937"/>
                          </a:solidFill>
                          <a:latin typeface="Arial"/>
                        </a:rPr>
                        <a:t>Findings and impression describe the X-ray result, so they give the answer away</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a:solidFill>
                            <a:srgbClr val="1F2937"/>
                          </a:solidFill>
                          <a:latin typeface="Arial"/>
                        </a:rPr>
                        <a:t>Model input is the indication only; labels come from the Problems field</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b="1">
                          <a:solidFill>
                            <a:srgbClr val="193EB0"/>
                          </a:solidFill>
                          <a:latin typeface="Arial"/>
                        </a:rPr>
                        <a:t>Accuracy that still holds when no report exists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822960">
                <a:tc>
                  <a:txBody>
                    <a:bodyPr/>
                    <a:lstStyle/>
                    <a:p>
                      <a:r>
                        <a:rPr sz="1300">
                          <a:solidFill>
                            <a:srgbClr val="1F2937"/>
                          </a:solidFill>
                          <a:latin typeface="Arial"/>
                        </a:rPr>
                        <a:t>Image and text feature extractors were trained on different train / validation IDs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a:solidFill>
                            <a:srgbClr val="1F2937"/>
                          </a:solidFill>
                          <a:latin typeface="Arial"/>
                        </a:rPr>
                        <a:t>Fusion split rule: test IDs must match in every source (the code stops if not)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b="1">
                          <a:solidFill>
                            <a:srgbClr val="193EB0"/>
                          </a:solidFill>
                          <a:latin typeface="Arial"/>
                        </a:rPr>
                        <a:t>No hidden leakage into the fusion model</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r h="822960">
                <a:tc>
                  <a:txBody>
                    <a:bodyPr/>
                    <a:lstStyle/>
                    <a:p>
                      <a:r>
                        <a:rPr sz="1300">
                          <a:solidFill>
                            <a:srgbClr val="1F2937"/>
                          </a:solidFill>
                          <a:latin typeface="Arial"/>
                        </a:rPr>
                        <a:t>Missing values hidden as text (none, n/a, XXXX); 11% of patients without a usable note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a:solidFill>
                            <a:srgbClr val="1F2937"/>
                          </a:solidFill>
                          <a:latin typeface="Arial"/>
                        </a:rPr>
                        <a:t>One missing marker, a has_note flag and text features switched off</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b="1">
                          <a:solidFill>
                            <a:srgbClr val="193EB0"/>
                          </a:solidFill>
                          <a:latin typeface="Arial"/>
                        </a:rPr>
                        <a:t>Every patient is still scored</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822960">
                <a:tc>
                  <a:txBody>
                    <a:bodyPr/>
                    <a:lstStyle/>
                    <a:p>
                      <a:r>
                        <a:rPr sz="1300">
                          <a:solidFill>
                            <a:srgbClr val="1F2937"/>
                          </a:solidFill>
                          <a:latin typeface="Arial"/>
                        </a:rPr>
                        <a:t>Duplicate images and several images per patient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a:solidFill>
                            <a:srgbClr val="1F2937"/>
                          </a:solidFill>
                          <a:latin typeface="Arial"/>
                        </a:rPr>
                        <a:t>MD5 de-duplication, patient-level split, padding to 5 images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b="1">
                          <a:solidFill>
                            <a:srgbClr val="193EB0"/>
                          </a:solidFill>
                          <a:latin typeface="Arial"/>
                        </a:rPr>
                        <a:t>Trustworthy test results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bl>
          </a:graphicData>
        </a:graphic>
      </p:graphicFrame>
    </p:spTree>
  </p:cSld>
  <p:clrMapOvr>
    <a:masterClrMapping/>
  </p:clrMapOvr>
  <p:transition>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Challenges: modelling</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Four modelling problems and how we handled them</a:t>
            </a:r>
          </a:p>
        </p:txBody>
      </p:sp>
      <p:graphicFrame>
        <p:nvGraphicFramePr>
          <p:cNvPr id="8" name="Modelling challenges table"/>
          <p:cNvGraphicFramePr>
            <a:graphicFrameLocks noGrp="1"/>
          </p:cNvGraphicFramePr>
          <p:nvPr/>
        </p:nvGraphicFramePr>
        <p:xfrm>
          <a:off x="457200" y="1920240"/>
          <a:ext cx="8961120" cy="3657600"/>
        </p:xfrm>
        <a:graphic>
          <a:graphicData uri="http://schemas.openxmlformats.org/drawingml/2006/table">
            <a:tbl>
              <a:tblPr firstRow="1" bandRow="0"/>
              <a:tblGrid>
                <a:gridCol w="3108960"/>
                <a:gridCol w="3474720"/>
                <a:gridCol w="2377440"/>
              </a:tblGrid>
              <a:tr h="365760">
                <a:tc>
                  <a:txBody>
                    <a:bodyPr/>
                    <a:lstStyle/>
                    <a:p>
                      <a:r>
                        <a:rPr sz="1300" b="1">
                          <a:solidFill>
                            <a:srgbClr val="FFFFFF"/>
                          </a:solidFill>
                          <a:latin typeface="Arial"/>
                        </a:rPr>
                        <a:t>Challenge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How we solved it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Business effect</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r>
              <a:tr h="822960">
                <a:tc>
                  <a:txBody>
                    <a:bodyPr/>
                    <a:lstStyle/>
                    <a:p>
                      <a:r>
                        <a:rPr sz="1300">
                          <a:solidFill>
                            <a:srgbClr val="1F2937"/>
                          </a:solidFill>
                          <a:latin typeface="Arial"/>
                        </a:rPr>
                        <a:t>110 labels, most of them rare: accuracy alone would hide misses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a:solidFill>
                            <a:srgbClr val="1F2937"/>
                          </a:solidFill>
                          <a:latin typeface="Arial"/>
                        </a:rPr>
                        <a:t>Macro PR-AUC on the 87 labels in test, per-finding thresholds, confusion matrices, class-weighted baseline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b="1">
                          <a:solidFill>
                            <a:srgbClr val="193EB0"/>
                          </a:solidFill>
                          <a:latin typeface="Arial"/>
                        </a:rPr>
                        <a:t>A clear view of what the tool detects well</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822960">
                <a:tc>
                  <a:txBody>
                    <a:bodyPr/>
                    <a:lstStyle/>
                    <a:p>
                      <a:r>
                        <a:rPr sz="1300">
                          <a:solidFill>
                            <a:srgbClr val="1F2937"/>
                          </a:solidFill>
                          <a:latin typeface="Arial"/>
                        </a:rPr>
                        <a:t>Short notes with abbreviations and negation (“no fever”, “h/o COPD”)</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a:solidFill>
                            <a:srgbClr val="1F2937"/>
                          </a:solidFill>
                          <a:latin typeface="Arial"/>
                        </a:rPr>
                        <a:t>medspaCy lexicon, ConText rules tuned for run-on notes, biomedical NER</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b="1">
                          <a:solidFill>
                            <a:srgbClr val="193EB0"/>
                          </a:solidFill>
                          <a:latin typeface="Arial"/>
                        </a:rPr>
                        <a:t>Absent or past conditions are not shown as current symptoms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r h="822960">
                <a:tc>
                  <a:txBody>
                    <a:bodyPr/>
                    <a:lstStyle/>
                    <a:p>
                      <a:r>
                        <a:rPr sz="1300">
                          <a:solidFill>
                            <a:srgbClr val="1F2937"/>
                          </a:solidFill>
                          <a:latin typeface="Arial"/>
                        </a:rPr>
                        <a:t>A generated summary could invent facts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a:solidFill>
                            <a:srgbClr val="1F2937"/>
                          </a:solidFill>
                          <a:latin typeface="Arial"/>
                        </a:rPr>
                        <a:t>Rule-based summary from the note and model outputs, plus a traceability checker</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b="1">
                          <a:solidFill>
                            <a:srgbClr val="193EB0"/>
                          </a:solidFill>
                          <a:latin typeface="Arial"/>
                        </a:rPr>
                        <a:t>The doctor can trust every line</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822960">
                <a:tc>
                  <a:txBody>
                    <a:bodyPr/>
                    <a:lstStyle/>
                    <a:p>
                      <a:r>
                        <a:rPr sz="1300">
                          <a:solidFill>
                            <a:srgbClr val="1F2937"/>
                          </a:solidFill>
                          <a:latin typeface="Arial"/>
                        </a:rPr>
                        <a:t>Limited compute: free GPU quotas and no GPU in a hospital</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a:solidFill>
                            <a:srgbClr val="1F2937"/>
                          </a:solidFill>
                          <a:latin typeface="Arial"/>
                        </a:rPr>
                        <a:t>Small sklearn heads on frozen embeddings, trained locally on CPU</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b="1">
                          <a:solidFill>
                            <a:srgbClr val="193EB0"/>
                          </a:solidFill>
                          <a:latin typeface="Arial"/>
                        </a:rPr>
                        <a:t>Cheap to retrain and to run</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bl>
          </a:graphicData>
        </a:graphic>
      </p:graphicFrame>
    </p:spTree>
  </p:cSld>
  <p:clrMapOvr>
    <a:masterClrMapping/>
  </p:clrMapOvr>
  <p:transition>
    <p:push/>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7008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Deployment</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7008600" cy="685800"/>
          </a:xfrm>
          <a:prstGeom prst="rect">
            <a:avLst/>
          </a:prstGeom>
        </p:spPr>
        <p:txBody>
          <a:bodyPr lIns="0" tIns="0" rIns="0" bIns="0" rtlCol="0" anchor="t">
            <a:spAutoFit/>
          </a:bodyPr>
          <a:lstStyle/>
          <a:p>
            <a:pPr algn="l">
              <a:lnSpc>
                <a:spcPts val="5280"/>
              </a:lnSpc>
            </a:pPr>
            <a:r>
              <a:rPr lang="en-US" sz="4400">
                <a:solidFill>
                  <a:srgbClr val="FFFFFF"/>
                </a:solidFill>
                <a:latin typeface="Arimo"/>
                <a:ea typeface="Arimo"/>
                <a:cs typeface="Arimo"/>
                <a:sym typeface="Arimo"/>
              </a:rPr>
              <a:t>Limitations &amp; Future Work</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US"/>
          </a:p>
        </p:txBody>
      </p:sp>
    </p:spTree>
  </p:cSld>
  <p:clrMapOvr>
    <a:masterClrMapping/>
  </p:clrMapOvr>
  <p:transition>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US"/>
          </a:p>
        </p:txBody>
      </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Future Enhancements</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Next steps to make PulmoTriage stronger</a:t>
            </a:r>
          </a:p>
        </p:txBody>
      </p:sp>
      <p:sp>
        <p:nvSpPr>
          <p:cNvPr id="8" name="Future card 1"/>
          <p:cNvSpPr/>
          <p:nvPr/>
        </p:nvSpPr>
        <p:spPr>
          <a:xfrm>
            <a:off x="457200" y="192024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uture number 1"/>
          <p:cNvSpPr/>
          <p:nvPr/>
        </p:nvSpPr>
        <p:spPr>
          <a:xfrm>
            <a:off x="640080" y="21031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1</a:t>
            </a:r>
          </a:p>
        </p:txBody>
      </p:sp>
      <p:sp>
        <p:nvSpPr>
          <p:cNvPr id="10" name="Future title 1"/>
          <p:cNvSpPr txBox="1"/>
          <p:nvPr/>
        </p:nvSpPr>
        <p:spPr>
          <a:xfrm>
            <a:off x="1143000" y="210312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More data for rare findings</a:t>
            </a:r>
          </a:p>
        </p:txBody>
      </p:sp>
      <p:sp>
        <p:nvSpPr>
          <p:cNvPr id="11" name="Future text 1"/>
          <p:cNvSpPr txBox="1"/>
          <p:nvPr/>
        </p:nvSpPr>
        <p:spPr>
          <a:xfrm>
            <a:off x="685800" y="260604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More labelled cases, or grouping similar rare findings, will make the rare findings easier to detect.</a:t>
            </a:r>
          </a:p>
        </p:txBody>
      </p:sp>
      <p:sp>
        <p:nvSpPr>
          <p:cNvPr id="12" name="Future card 2"/>
          <p:cNvSpPr/>
          <p:nvPr/>
        </p:nvSpPr>
        <p:spPr>
          <a:xfrm>
            <a:off x="5029200" y="192024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uture number 2"/>
          <p:cNvSpPr/>
          <p:nvPr/>
        </p:nvSpPr>
        <p:spPr>
          <a:xfrm>
            <a:off x="5212080" y="21031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2</a:t>
            </a:r>
          </a:p>
        </p:txBody>
      </p:sp>
      <p:sp>
        <p:nvSpPr>
          <p:cNvPr id="14" name="Future title 2"/>
          <p:cNvSpPr txBox="1"/>
          <p:nvPr/>
        </p:nvSpPr>
        <p:spPr>
          <a:xfrm>
            <a:off x="5715000" y="210312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Threshold set by cost</a:t>
            </a:r>
          </a:p>
        </p:txBody>
      </p:sp>
      <p:sp>
        <p:nvSpPr>
          <p:cNvPr id="15" name="Future text 2"/>
          <p:cNvSpPr txBox="1"/>
          <p:nvPr/>
        </p:nvSpPr>
        <p:spPr>
          <a:xfrm>
            <a:off x="5257800" y="260604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Pick the cut-off by weighing a missed case against an extra review, and calibrate the probabilities.</a:t>
            </a:r>
          </a:p>
        </p:txBody>
      </p:sp>
      <p:sp>
        <p:nvSpPr>
          <p:cNvPr id="16" name="Future card 3"/>
          <p:cNvSpPr/>
          <p:nvPr/>
        </p:nvSpPr>
        <p:spPr>
          <a:xfrm>
            <a:off x="457200" y="384048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uture number 3"/>
          <p:cNvSpPr/>
          <p:nvPr/>
        </p:nvSpPr>
        <p:spPr>
          <a:xfrm>
            <a:off x="640080" y="402336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3</a:t>
            </a:r>
          </a:p>
        </p:txBody>
      </p:sp>
      <p:sp>
        <p:nvSpPr>
          <p:cNvPr id="18" name="Future title 3"/>
          <p:cNvSpPr txBox="1"/>
          <p:nvPr/>
        </p:nvSpPr>
        <p:spPr>
          <a:xfrm>
            <a:off x="1143000" y="402336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End-to-end fusion training</a:t>
            </a:r>
          </a:p>
        </p:txBody>
      </p:sp>
      <p:sp>
        <p:nvSpPr>
          <p:cNvPr id="19" name="Future text 3"/>
          <p:cNvSpPr txBox="1"/>
          <p:nvPr/>
        </p:nvSpPr>
        <p:spPr>
          <a:xfrm>
            <a:off x="685800" y="452628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Fusion learns on frozen embeddings today. Fine-tuning vision and text together on GPU could let the two sources interact earlier.</a:t>
            </a:r>
          </a:p>
        </p:txBody>
      </p:sp>
      <p:sp>
        <p:nvSpPr>
          <p:cNvPr id="20" name="Future card 4"/>
          <p:cNvSpPr/>
          <p:nvPr/>
        </p:nvSpPr>
        <p:spPr>
          <a:xfrm>
            <a:off x="5029200" y="384048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uture number 4"/>
          <p:cNvSpPr/>
          <p:nvPr/>
        </p:nvSpPr>
        <p:spPr>
          <a:xfrm>
            <a:off x="5212080" y="402336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4</a:t>
            </a:r>
          </a:p>
        </p:txBody>
      </p:sp>
      <p:sp>
        <p:nvSpPr>
          <p:cNvPr id="22" name="Future title 4"/>
          <p:cNvSpPr txBox="1"/>
          <p:nvPr/>
        </p:nvSpPr>
        <p:spPr>
          <a:xfrm>
            <a:off x="5715000" y="402336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Clinical validation</a:t>
            </a:r>
          </a:p>
        </p:txBody>
      </p:sp>
      <p:sp>
        <p:nvSpPr>
          <p:cNvPr id="23" name="Future text 4"/>
          <p:cNvSpPr txBox="1"/>
          <p:nvPr/>
        </p:nvSpPr>
        <p:spPr>
          <a:xfrm>
            <a:off x="5257800" y="452628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Test on another hospital's data and let radiologists judge the heatmaps and highlighted words before any real use.</a:t>
            </a:r>
          </a:p>
        </p:txBody>
      </p:sp>
    </p:spTree>
  </p:cSld>
  <p:clrMapOvr>
    <a:masterClrMapping/>
  </p:clrMapOvr>
  <p:transition>
    <p:push/>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92977" y="5602466"/>
            <a:ext cx="9309848" cy="759544"/>
          </a:xfrm>
          <a:prstGeom prst="rect">
            <a:avLst/>
          </a:prstGeom>
        </p:spPr>
        <p:txBody>
          <a:bodyPr lIns="0" tIns="0" rIns="0" bIns="0" rtlCol="0" anchor="t">
            <a:spAutoFit/>
          </a:bodyPr>
          <a:lstStyle/>
          <a:p>
            <a:pPr algn="l">
              <a:lnSpc>
                <a:spcPts val="1200"/>
              </a:lnSpc>
            </a:pPr>
            <a:r>
              <a:rPr lang="en-US" sz="1000">
                <a:solidFill>
                  <a:srgbClr val="FFFFFF"/>
                </a:solidFill>
                <a:latin typeface="Arial MT Pro"/>
                <a:ea typeface="Arial MT Pro"/>
                <a:cs typeface="Arial MT Pro"/>
                <a:sym typeface="Arial MT Pro"/>
              </a:rPr>
              <a:t>ⓒ2020 SAMSUNG. All rights reserved.</a:t>
            </a:r>
          </a:p>
          <a:p>
            <a:pPr algn="l">
              <a:lnSpc>
                <a:spcPts val="1200"/>
              </a:lnSpc>
            </a:pPr>
            <a:r>
              <a:rPr lang="en-US" sz="1000">
                <a:solidFill>
                  <a:srgbClr val="FFFFFF"/>
                </a:solidFill>
                <a:latin typeface="Arial MT Pro"/>
                <a:ea typeface="Arial MT Pro"/>
                <a:cs typeface="Arial MT Pro"/>
                <a:sym typeface="Arial MT Pro"/>
              </a:rPr>
              <a:t>Samsung Electronics Corporate Citizenship Office holds the copyright of book.</a:t>
            </a:r>
          </a:p>
          <a:p>
            <a:pPr algn="l">
              <a:lnSpc>
                <a:spcPts val="1200"/>
              </a:lnSpc>
            </a:pPr>
            <a:r>
              <a:rPr lang="en-US" sz="1000">
                <a:solidFill>
                  <a:srgbClr val="FFFFFF"/>
                </a:solidFill>
                <a:latin typeface="Arial MT Pro"/>
                <a:ea typeface="Arial MT Pro"/>
                <a:cs typeface="Arial MT Pro"/>
                <a:sym typeface="Arial MT Pro"/>
              </a:rPr>
              <a:t>This book is a literary property protected by copyright law so reprint and reproduction without permission are prohibited. </a:t>
            </a:r>
          </a:p>
          <a:p>
            <a:pPr algn="l">
              <a:lnSpc>
                <a:spcPts val="1200"/>
              </a:lnSpc>
            </a:pPr>
            <a:r>
              <a:rPr lang="en-US" sz="1000">
                <a:solidFill>
                  <a:srgbClr val="FFFFFF"/>
                </a:solidFill>
                <a:latin typeface="Arial MT Pro"/>
                <a:ea typeface="Arial MT Pro"/>
                <a:cs typeface="Arial MT Pro"/>
                <a:sym typeface="Arial MT Pro"/>
              </a:rPr>
              <a:t>To use this book other than the curriculum of Samsung innovation Campus or to use the entire or part of this book, you must receive written consent from copyright holder.</a:t>
            </a:r>
          </a:p>
        </p:txBody>
      </p:sp>
      <p:sp>
        <p:nvSpPr>
          <p:cNvPr id="3" name="Freeform 3"/>
          <p:cNvSpPr/>
          <p:nvPr/>
        </p:nvSpPr>
        <p:spPr>
          <a:xfrm>
            <a:off x="8066554" y="403958"/>
            <a:ext cx="1360963" cy="210192"/>
          </a:xfrm>
          <a:custGeom>
            <a:avLst/>
            <a:gdLst/>
            <a:ahLst/>
            <a:cxnLst/>
            <a:rect l="l" t="t" r="r" b="b"/>
            <a:pathLst>
              <a:path w="1360963" h="210192">
                <a:moveTo>
                  <a:pt x="0" y="0"/>
                </a:moveTo>
                <a:lnTo>
                  <a:pt x="1360963" y="0"/>
                </a:lnTo>
                <a:lnTo>
                  <a:pt x="1360963" y="210192"/>
                </a:lnTo>
                <a:lnTo>
                  <a:pt x="0" y="2101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3271258" y="2628879"/>
            <a:ext cx="3360308" cy="1102138"/>
          </a:xfrm>
          <a:custGeom>
            <a:avLst/>
            <a:gdLst/>
            <a:ahLst/>
            <a:cxnLst/>
            <a:rect l="l" t="t" r="r" b="b"/>
            <a:pathLst>
              <a:path w="3360308" h="1102138">
                <a:moveTo>
                  <a:pt x="0" y="0"/>
                </a:moveTo>
                <a:lnTo>
                  <a:pt x="3360308" y="0"/>
                </a:lnTo>
                <a:lnTo>
                  <a:pt x="3360308" y="1102138"/>
                </a:lnTo>
                <a:lnTo>
                  <a:pt x="0" y="1102138"/>
                </a:lnTo>
                <a:lnTo>
                  <a:pt x="0" y="0"/>
                </a:lnTo>
                <a:close/>
              </a:path>
            </a:pathLst>
          </a:custGeom>
          <a:blipFill>
            <a:blip r:embed="rId5"/>
            <a:stretch>
              <a:fillRect/>
            </a:stretch>
          </a:blipFill>
        </p:spPr>
        <p:txBody>
          <a:bodyPr/>
          <a:lstStyle/>
          <a:p>
            <a:endParaRPr lang="en-US"/>
          </a:p>
        </p:txBody>
      </p:sp>
    </p:spTree>
  </p:cSld>
  <p:clrMapOvr>
    <a:masterClrMapping/>
  </p:clrMapOvr>
  <p:transition>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Deployment: how it is built</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Two parts: an API that runs the models and an app for the doctor</a:t>
            </a:r>
          </a:p>
        </p:txBody>
      </p:sp>
      <p:pic>
        <p:nvPicPr>
          <p:cNvPr id="8" name="App screenshot" descr="PulmoTriage app: upload the X-ray and the clinical note"/>
          <p:cNvPicPr>
            <a:picLocks noChangeAspect="1"/>
          </p:cNvPicPr>
          <p:nvPr/>
        </p:nvPicPr>
        <p:blipFill>
          <a:blip r:embed="rId2"/>
          <a:stretch>
            <a:fillRect/>
          </a:stretch>
        </p:blipFill>
        <p:spPr>
          <a:xfrm>
            <a:off x="457200" y="2231111"/>
            <a:ext cx="5303520" cy="2447778"/>
          </a:xfrm>
          <a:prstGeom prst="rect">
            <a:avLst/>
          </a:prstGeom>
        </p:spPr>
      </p:pic>
      <p:sp>
        <p:nvSpPr>
          <p:cNvPr id="9" name="Attribution bullets"/>
          <p:cNvSpPr txBox="1"/>
          <p:nvPr/>
        </p:nvSpPr>
        <p:spPr>
          <a:xfrm>
            <a:off x="5943600" y="2011680"/>
            <a:ext cx="3520440" cy="3017520"/>
          </a:xfrm>
          <a:prstGeom prst="rect">
            <a:avLst/>
          </a:prstGeom>
          <a:noFill/>
        </p:spPr>
        <p:txBody>
          <a:bodyPr wrap="square" lIns="0" rIns="0" tIns="0" bIns="0" anchor="t">
            <a:spAutoFit/>
          </a:bodyPr>
          <a:lstStyle/>
          <a:p>
            <a:pPr algn="l" marL="201168" indent="-201168">
              <a:spcAft>
                <a:spcPts val="800"/>
              </a:spcAft>
              <a:buClr>
                <a:srgbClr val="193EB0"/>
              </a:buClr>
              <a:buChar char="•"/>
            </a:pPr>
            <a:r>
              <a:rPr sz="1400" b="1" i="0">
                <a:solidFill>
                  <a:srgbClr val="193EB0"/>
                </a:solidFill>
                <a:latin typeface="Arial"/>
              </a:rPr>
              <a:t>FastAPI backend: </a:t>
            </a:r>
            <a:r>
              <a:rPr sz="1400" b="0" i="0">
                <a:solidFill>
                  <a:srgbClr val="1F2937"/>
                </a:solidFill>
                <a:latin typeface="Arial"/>
              </a:rPr>
              <a:t>loads the text, vision and fusion models once; /predict and /explain endpoints.</a:t>
            </a:r>
          </a:p>
          <a:p>
            <a:pPr algn="l" marL="201168" indent="-201168">
              <a:spcAft>
                <a:spcPts val="800"/>
              </a:spcAft>
              <a:buClr>
                <a:srgbClr val="193EB0"/>
              </a:buClr>
              <a:buChar char="•"/>
            </a:pPr>
            <a:r>
              <a:rPr sz="1400" b="1" i="0">
                <a:solidFill>
                  <a:srgbClr val="193EB0"/>
                </a:solidFill>
                <a:latin typeface="Arial"/>
              </a:rPr>
              <a:t>Streamlit app: </a:t>
            </a:r>
            <a:r>
              <a:rPr sz="1400" b="0" i="0">
                <a:solidFill>
                  <a:srgbClr val="1F2937"/>
                </a:solidFill>
                <a:latin typeface="Arial"/>
              </a:rPr>
              <a:t>upload 1 to 5 X-ray views and an optional note, or try an example note.</a:t>
            </a:r>
          </a:p>
          <a:p>
            <a:pPr algn="l" marL="201168" indent="-201168">
              <a:spcAft>
                <a:spcPts val="800"/>
              </a:spcAft>
              <a:buClr>
                <a:srgbClr val="193EB0"/>
              </a:buClr>
              <a:buChar char="•"/>
            </a:pPr>
            <a:r>
              <a:rPr sz="1400" b="1" i="0">
                <a:solidFill>
                  <a:srgbClr val="193EB0"/>
                </a:solidFill>
                <a:latin typeface="Arial"/>
              </a:rPr>
              <a:t>Runs locally: </a:t>
            </a:r>
            <a:r>
              <a:rPr sz="1400" b="0" i="0">
                <a:solidFill>
                  <a:srgbClr val="1F2937"/>
                </a:solidFill>
                <a:latin typeface="Arial"/>
              </a:rPr>
              <a:t>on port 8001, so patient data stays on the hospital's machine.</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One API serves the models, so the same service can feed this app or a hospital system.</a:t>
            </a:r>
          </a:p>
        </p:txBody>
      </p:sp>
    </p:spTree>
  </p:cSld>
  <p:clrMapOvr>
    <a:masterClrMapping/>
  </p:clrMapOvr>
  <p:transition>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Deployment: the result</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The doctor sees the priority first, then the evidence behind it</a:t>
            </a:r>
          </a:p>
        </p:txBody>
      </p:sp>
      <p:pic>
        <p:nvPicPr>
          <p:cNvPr id="8" name="App screenshot" descr="PulmoTriage result: priority banner and highlighted note words"/>
          <p:cNvPicPr>
            <a:picLocks noChangeAspect="1"/>
          </p:cNvPicPr>
          <p:nvPr/>
        </p:nvPicPr>
        <p:blipFill>
          <a:blip r:embed="rId2"/>
          <a:stretch>
            <a:fillRect/>
          </a:stretch>
        </p:blipFill>
        <p:spPr>
          <a:xfrm>
            <a:off x="457200" y="2253775"/>
            <a:ext cx="5303520" cy="2402449"/>
          </a:xfrm>
          <a:prstGeom prst="rect">
            <a:avLst/>
          </a:prstGeom>
        </p:spPr>
      </p:pic>
      <p:sp>
        <p:nvSpPr>
          <p:cNvPr id="9" name="Attribution bullets"/>
          <p:cNvSpPr txBox="1"/>
          <p:nvPr/>
        </p:nvSpPr>
        <p:spPr>
          <a:xfrm>
            <a:off x="5943600" y="2011680"/>
            <a:ext cx="3520440" cy="3017520"/>
          </a:xfrm>
          <a:prstGeom prst="rect">
            <a:avLst/>
          </a:prstGeom>
          <a:noFill/>
        </p:spPr>
        <p:txBody>
          <a:bodyPr wrap="square" lIns="0" rIns="0" tIns="0" bIns="0" anchor="t">
            <a:spAutoFit/>
          </a:bodyPr>
          <a:lstStyle/>
          <a:p>
            <a:pPr algn="l" marL="201168" indent="-201168">
              <a:spcAft>
                <a:spcPts val="800"/>
              </a:spcAft>
              <a:buClr>
                <a:srgbClr val="193EB0"/>
              </a:buClr>
              <a:buChar char="•"/>
            </a:pPr>
            <a:r>
              <a:rPr sz="1400" b="1" i="0">
                <a:solidFill>
                  <a:srgbClr val="193EB0"/>
                </a:solidFill>
                <a:latin typeface="Arial"/>
              </a:rPr>
              <a:t>Priority banner: </a:t>
            </a:r>
            <a:r>
              <a:rPr sz="1400" b="0" i="0">
                <a:solidFill>
                  <a:srgbClr val="1F2937"/>
                </a:solidFill>
                <a:latin typeface="Arial"/>
              </a:rPr>
              <a:t>High, Medium or Low, with the next step (review first, today, routine).</a:t>
            </a:r>
          </a:p>
          <a:p>
            <a:pPr algn="l" marL="201168" indent="-201168">
              <a:spcAft>
                <a:spcPts val="800"/>
              </a:spcAft>
              <a:buClr>
                <a:srgbClr val="193EB0"/>
              </a:buClr>
              <a:buChar char="•"/>
            </a:pPr>
            <a:r>
              <a:rPr sz="1400" b="1" i="0">
                <a:solidFill>
                  <a:srgbClr val="193EB0"/>
                </a:solidFill>
                <a:latin typeface="Arial"/>
              </a:rPr>
              <a:t>Tabs: </a:t>
            </a:r>
            <a:r>
              <a:rPr sz="1400" b="0" i="0">
                <a:solidFill>
                  <a:srgbClr val="1F2937"/>
                </a:solidFill>
                <a:latin typeface="Arial"/>
              </a:rPr>
              <a:t>summary, findings, heatmap on the X-ray, and note words.</a:t>
            </a:r>
          </a:p>
          <a:p>
            <a:pPr algn="l" marL="201168" indent="-201168">
              <a:spcAft>
                <a:spcPts val="800"/>
              </a:spcAft>
              <a:buClr>
                <a:srgbClr val="193EB0"/>
              </a:buClr>
              <a:buChar char="•"/>
            </a:pPr>
            <a:r>
              <a:rPr sz="1400" b="1" i="0">
                <a:solidFill>
                  <a:srgbClr val="193EB0"/>
                </a:solidFill>
                <a:latin typeface="Arial"/>
              </a:rPr>
              <a:t>Note words: </a:t>
            </a:r>
            <a:r>
              <a:rPr sz="1400" b="0" i="0">
                <a:solidFill>
                  <a:srgbClr val="1F2937"/>
                </a:solidFill>
                <a:latin typeface="Arial"/>
              </a:rPr>
              <a:t>red words push the finding up, blue words push it down.</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Decision and reason on one screen, so the doctor can confirm or reject it in seconds.</a:t>
            </a:r>
          </a:p>
        </p:txBody>
      </p:sp>
    </p:spTree>
  </p:cSld>
  <p:clrMapOvr>
    <a:masterClrMapping/>
  </p:clrMapOvr>
  <p:transition>
    <p:push/>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Deployment: deep explanation</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On demand, SHAP shows which words and which X-ray area support a finding</a:t>
            </a:r>
          </a:p>
        </p:txBody>
      </p:sp>
      <p:pic>
        <p:nvPicPr>
          <p:cNvPr id="8" name="App screenshot" descr="Deep explanation tab: SHAP words, X-ray area and a short LLM sentence"/>
          <p:cNvPicPr>
            <a:picLocks noChangeAspect="1"/>
          </p:cNvPicPr>
          <p:nvPr/>
        </p:nvPicPr>
        <p:blipFill>
          <a:blip r:embed="rId2"/>
          <a:stretch>
            <a:fillRect/>
          </a:stretch>
        </p:blipFill>
        <p:spPr>
          <a:xfrm>
            <a:off x="457200" y="2441892"/>
            <a:ext cx="5303520" cy="2026216"/>
          </a:xfrm>
          <a:prstGeom prst="rect">
            <a:avLst/>
          </a:prstGeom>
        </p:spPr>
      </p:pic>
      <p:sp>
        <p:nvSpPr>
          <p:cNvPr id="9" name="Attribution bullets"/>
          <p:cNvSpPr txBox="1"/>
          <p:nvPr/>
        </p:nvSpPr>
        <p:spPr>
          <a:xfrm>
            <a:off x="5943600" y="2011680"/>
            <a:ext cx="3520440" cy="3017520"/>
          </a:xfrm>
          <a:prstGeom prst="rect">
            <a:avLst/>
          </a:prstGeom>
          <a:noFill/>
        </p:spPr>
        <p:txBody>
          <a:bodyPr wrap="square" lIns="0" rIns="0" tIns="0" bIns="0" anchor="t">
            <a:spAutoFit/>
          </a:bodyPr>
          <a:lstStyle/>
          <a:p>
            <a:pPr algn="l" marL="201168" indent="-201168">
              <a:spcAft>
                <a:spcPts val="800"/>
              </a:spcAft>
              <a:buClr>
                <a:srgbClr val="193EB0"/>
              </a:buClr>
              <a:buChar char="•"/>
            </a:pPr>
            <a:r>
              <a:rPr sz="1400" b="1" i="0">
                <a:solidFill>
                  <a:srgbClr val="193EB0"/>
                </a:solidFill>
                <a:latin typeface="Arial"/>
              </a:rPr>
              <a:t>SHAP: </a:t>
            </a:r>
            <a:r>
              <a:rPr sz="1400" b="0" i="0">
                <a:solidFill>
                  <a:srgbClr val="1F2937"/>
                </a:solidFill>
                <a:latin typeface="Arial"/>
              </a:rPr>
              <a:t>explains the combined image + note model for the finding the doctor picks.</a:t>
            </a:r>
          </a:p>
          <a:p>
            <a:pPr algn="l" marL="201168" indent="-201168">
              <a:spcAft>
                <a:spcPts val="800"/>
              </a:spcAft>
              <a:buClr>
                <a:srgbClr val="193EB0"/>
              </a:buClr>
              <a:buChar char="•"/>
            </a:pPr>
            <a:r>
              <a:rPr sz="1400" b="1" i="0">
                <a:solidFill>
                  <a:srgbClr val="193EB0"/>
                </a:solidFill>
                <a:latin typeface="Arial"/>
              </a:rPr>
              <a:t>Optional LLM sentence: </a:t>
            </a:r>
            <a:r>
              <a:rPr sz="1400" b="0" i="0">
                <a:solidFill>
                  <a:srgbClr val="1F2937"/>
                </a:solidFill>
                <a:latin typeface="Arial"/>
              </a:rPr>
              <a:t>rewrites only the listed facts; it adds no diagnosis.</a:t>
            </a:r>
          </a:p>
          <a:p>
            <a:pPr algn="l" marL="201168" indent="-201168">
              <a:spcAft>
                <a:spcPts val="800"/>
              </a:spcAft>
              <a:buClr>
                <a:srgbClr val="193EB0"/>
              </a:buClr>
              <a:buChar char="•"/>
            </a:pPr>
            <a:r>
              <a:rPr sz="1400" b="1" i="0">
                <a:solidFill>
                  <a:srgbClr val="193EB0"/>
                </a:solidFill>
                <a:latin typeface="Arial"/>
              </a:rPr>
              <a:t>Sensitivity setting: </a:t>
            </a:r>
            <a:r>
              <a:rPr sz="1400" b="0" i="0">
                <a:solidFill>
                  <a:srgbClr val="1F2937"/>
                </a:solidFill>
                <a:latin typeface="Arial"/>
              </a:rPr>
              <a:t>model-tuned thresholds or one threshold for all findings.</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Slow explanations run only when asked, so the normal workflow stays fast.</a:t>
            </a:r>
          </a:p>
        </p:txBody>
      </p:sp>
    </p:spTree>
  </p:cSld>
  <p:clrMapOvr>
    <a:masterClrMapping/>
  </p:clrMapOvr>
  <p:transition>
    <p:pu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Deployment: heatmap</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Grad-CAM shows where on the X-ray the model found its evidence</a:t>
            </a:r>
          </a:p>
        </p:txBody>
      </p:sp>
      <p:pic>
        <p:nvPicPr>
          <p:cNvPr id="8" name="Heatmap screenshot" descr="Chest X-ray and the same X-ray with the Grad-CAM heatmap in red"/>
          <p:cNvPicPr>
            <a:picLocks noChangeAspect="1"/>
          </p:cNvPicPr>
          <p:nvPr/>
        </p:nvPicPr>
        <p:blipFill>
          <a:blip r:embed="rId2"/>
          <a:stretch>
            <a:fillRect/>
          </a:stretch>
        </p:blipFill>
        <p:spPr>
          <a:xfrm>
            <a:off x="457200" y="1958857"/>
            <a:ext cx="5303520" cy="2992286"/>
          </a:xfrm>
          <a:prstGeom prst="rect">
            <a:avLst/>
          </a:prstGeom>
        </p:spPr>
      </p:pic>
      <p:sp>
        <p:nvSpPr>
          <p:cNvPr id="9" name="Attribution bullets"/>
          <p:cNvSpPr txBox="1"/>
          <p:nvPr/>
        </p:nvSpPr>
        <p:spPr>
          <a:xfrm>
            <a:off x="5943600" y="2011680"/>
            <a:ext cx="3520440" cy="3017520"/>
          </a:xfrm>
          <a:prstGeom prst="rect">
            <a:avLst/>
          </a:prstGeom>
          <a:noFill/>
        </p:spPr>
        <p:txBody>
          <a:bodyPr wrap="square" lIns="0" rIns="0" tIns="0" bIns="0" anchor="t">
            <a:spAutoFit/>
          </a:bodyPr>
          <a:lstStyle/>
          <a:p>
            <a:pPr algn="l" marL="201168" indent="-201168">
              <a:spcAft>
                <a:spcPts val="800"/>
              </a:spcAft>
              <a:buClr>
                <a:srgbClr val="193EB0"/>
              </a:buClr>
              <a:buChar char="•"/>
            </a:pPr>
            <a:r>
              <a:rPr sz="1400" b="1" i="0">
                <a:solidFill>
                  <a:srgbClr val="193EB0"/>
                </a:solidFill>
                <a:latin typeface="Arial"/>
              </a:rPr>
              <a:t>Side by side: </a:t>
            </a:r>
            <a:r>
              <a:rPr sz="1400" b="0" i="0">
                <a:solidFill>
                  <a:srgbClr val="1F2937"/>
                </a:solidFill>
                <a:latin typeface="Arial"/>
              </a:rPr>
              <a:t>the original X-ray and the same X-ray with the model's attention in red.</a:t>
            </a:r>
          </a:p>
          <a:p>
            <a:pPr algn="l" marL="201168" indent="-201168">
              <a:spcAft>
                <a:spcPts val="800"/>
              </a:spcAft>
              <a:buClr>
                <a:srgbClr val="193EB0"/>
              </a:buClr>
              <a:buChar char="•"/>
            </a:pPr>
            <a:r>
              <a:rPr sz="1400" b="1" i="0">
                <a:solidFill>
                  <a:srgbClr val="193EB0"/>
                </a:solidFill>
                <a:latin typeface="Arial"/>
              </a:rPr>
              <a:t>Region name: </a:t>
            </a:r>
            <a:r>
              <a:rPr sz="1400" b="0" i="0">
                <a:solidFill>
                  <a:srgbClr val="1F2937"/>
                </a:solidFill>
                <a:latin typeface="Arial"/>
              </a:rPr>
              <a:t>the app names the strongest area, e.g. left upper zone (front view).</a:t>
            </a:r>
          </a:p>
          <a:p>
            <a:pPr algn="l" marL="201168" indent="-201168">
              <a:spcAft>
                <a:spcPts val="800"/>
              </a:spcAft>
              <a:buClr>
                <a:srgbClr val="193EB0"/>
              </a:buClr>
              <a:buChar char="•"/>
            </a:pPr>
            <a:r>
              <a:rPr sz="1400" b="1" i="0">
                <a:solidFill>
                  <a:srgbClr val="193EB0"/>
                </a:solidFill>
                <a:latin typeface="Arial"/>
              </a:rPr>
              <a:t>A pointer, not a diagnosis: </a:t>
            </a:r>
            <a:r>
              <a:rPr sz="1400" b="0" i="0">
                <a:solidFill>
                  <a:srgbClr val="1F2937"/>
                </a:solidFill>
                <a:latin typeface="Arial"/>
              </a:rPr>
              <a:t>the radiologist checks if the red area makes clinical sense.</a:t>
            </a:r>
          </a:p>
        </p:txBody>
      </p:sp>
      <p:sp>
        <p:nvSpPr>
          <p:cNvPr id="10" name="Business effect card"/>
          <p:cNvSpPr/>
          <p:nvPr/>
        </p:nvSpPr>
        <p:spPr>
          <a:xfrm>
            <a:off x="457200" y="5120640"/>
            <a:ext cx="8961120" cy="96012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siness effect tag"/>
          <p:cNvSpPr/>
          <p:nvPr/>
        </p:nvSpPr>
        <p:spPr>
          <a:xfrm>
            <a:off x="640080" y="5276088"/>
            <a:ext cx="1691640" cy="274320"/>
          </a:xfrm>
          <a:prstGeom prst="roundRect">
            <a:avLst>
              <a:gd name="adj" fmla="val 50000"/>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00" b="1">
                <a:solidFill>
                  <a:srgbClr val="FFFFFF"/>
                </a:solidFill>
                <a:latin typeface="Arial"/>
              </a:rPr>
              <a:t>BUSINESS EFFECT</a:t>
            </a:r>
          </a:p>
        </p:txBody>
      </p:sp>
      <p:sp>
        <p:nvSpPr>
          <p:cNvPr id="12" name="Business effect text"/>
          <p:cNvSpPr txBox="1"/>
          <p:nvPr/>
        </p:nvSpPr>
        <p:spPr>
          <a:xfrm>
            <a:off x="640080" y="5650992"/>
            <a:ext cx="8595360" cy="3200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The doctor knows where to look first, which saves time on every case.</a:t>
            </a:r>
          </a:p>
        </p:txBody>
      </p:sp>
    </p:spTree>
  </p:cSld>
  <p:clrMapOvr>
    <a:masterClrMapping/>
  </p:clrMapOvr>
  <p:transition>
    <p:pu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US"/>
          </a:p>
        </p:txBody>
      </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Limitations</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What the system cannot do yet, said honestly</a:t>
            </a:r>
          </a:p>
        </p:txBody>
      </p:sp>
      <p:sp>
        <p:nvSpPr>
          <p:cNvPr id="8" name="Future card 1"/>
          <p:cNvSpPr/>
          <p:nvPr/>
        </p:nvSpPr>
        <p:spPr>
          <a:xfrm>
            <a:off x="457200" y="192024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uture number 1"/>
          <p:cNvSpPr/>
          <p:nvPr/>
        </p:nvSpPr>
        <p:spPr>
          <a:xfrm>
            <a:off x="640080" y="21031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1</a:t>
            </a:r>
          </a:p>
        </p:txBody>
      </p:sp>
      <p:sp>
        <p:nvSpPr>
          <p:cNvPr id="10" name="Future title 1"/>
          <p:cNvSpPr txBox="1"/>
          <p:nvPr/>
        </p:nvSpPr>
        <p:spPr>
          <a:xfrm>
            <a:off x="1143000" y="210312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Short, masked notes</a:t>
            </a:r>
          </a:p>
        </p:txBody>
      </p:sp>
      <p:sp>
        <p:nvSpPr>
          <p:cNvPr id="11" name="Future text 1"/>
          <p:cNvSpPr txBox="1"/>
          <p:nvPr/>
        </p:nvSpPr>
        <p:spPr>
          <a:xfrm>
            <a:off x="685800" y="260604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Notes are only 4 to 9 words and parts are hidden (XXXX), so the note alone reaches 0.635 macro ROC-AUC.</a:t>
            </a:r>
          </a:p>
        </p:txBody>
      </p:sp>
      <p:sp>
        <p:nvSpPr>
          <p:cNvPr id="12" name="Future card 2"/>
          <p:cNvSpPr/>
          <p:nvPr/>
        </p:nvSpPr>
        <p:spPr>
          <a:xfrm>
            <a:off x="5029200" y="192024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uture number 2"/>
          <p:cNvSpPr/>
          <p:nvPr/>
        </p:nvSpPr>
        <p:spPr>
          <a:xfrm>
            <a:off x="5212080" y="21031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2</a:t>
            </a:r>
          </a:p>
        </p:txBody>
      </p:sp>
      <p:sp>
        <p:nvSpPr>
          <p:cNvPr id="14" name="Future title 2"/>
          <p:cNvSpPr txBox="1"/>
          <p:nvPr/>
        </p:nvSpPr>
        <p:spPr>
          <a:xfrm>
            <a:off x="5715000" y="210312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Rare findings</a:t>
            </a:r>
          </a:p>
        </p:txBody>
      </p:sp>
      <p:sp>
        <p:nvSpPr>
          <p:cNvPr id="15" name="Future text 2"/>
          <p:cNvSpPr txBox="1"/>
          <p:nvPr/>
        </p:nvSpPr>
        <p:spPr>
          <a:xfrm>
            <a:off x="5257800" y="260604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Most of the 110 findings have only a few cases, so they are hard to learn and their scores are less stable.</a:t>
            </a:r>
          </a:p>
        </p:txBody>
      </p:sp>
      <p:sp>
        <p:nvSpPr>
          <p:cNvPr id="16" name="Future card 3"/>
          <p:cNvSpPr/>
          <p:nvPr/>
        </p:nvSpPr>
        <p:spPr>
          <a:xfrm>
            <a:off x="457200" y="384048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uture number 3"/>
          <p:cNvSpPr/>
          <p:nvPr/>
        </p:nvSpPr>
        <p:spPr>
          <a:xfrm>
            <a:off x="640080" y="402336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3</a:t>
            </a:r>
          </a:p>
        </p:txBody>
      </p:sp>
      <p:sp>
        <p:nvSpPr>
          <p:cNvPr id="18" name="Future title 3"/>
          <p:cNvSpPr txBox="1"/>
          <p:nvPr/>
        </p:nvSpPr>
        <p:spPr>
          <a:xfrm>
            <a:off x="1143000" y="402336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One hospital's data</a:t>
            </a:r>
          </a:p>
        </p:txBody>
      </p:sp>
      <p:sp>
        <p:nvSpPr>
          <p:cNvPr id="19" name="Future text 3"/>
          <p:cNvSpPr txBox="1"/>
          <p:nvPr/>
        </p:nvSpPr>
        <p:spPr>
          <a:xfrm>
            <a:off x="685800" y="452628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All data comes from Indiana University. The models are not yet tested on X-rays from other hospitals or machines.</a:t>
            </a:r>
          </a:p>
        </p:txBody>
      </p:sp>
      <p:sp>
        <p:nvSpPr>
          <p:cNvPr id="20" name="Future card 4"/>
          <p:cNvSpPr/>
          <p:nvPr/>
        </p:nvSpPr>
        <p:spPr>
          <a:xfrm>
            <a:off x="5029200" y="384048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uture number 4"/>
          <p:cNvSpPr/>
          <p:nvPr/>
        </p:nvSpPr>
        <p:spPr>
          <a:xfrm>
            <a:off x="5212080" y="402336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4</a:t>
            </a:r>
          </a:p>
        </p:txBody>
      </p:sp>
      <p:sp>
        <p:nvSpPr>
          <p:cNvPr id="22" name="Future title 4"/>
          <p:cNvSpPr txBox="1"/>
          <p:nvPr/>
        </p:nvSpPr>
        <p:spPr>
          <a:xfrm>
            <a:off x="5715000" y="402336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Support, not diagnosis</a:t>
            </a:r>
          </a:p>
        </p:txBody>
      </p:sp>
      <p:sp>
        <p:nvSpPr>
          <p:cNvPr id="23" name="Future text 4"/>
          <p:cNvSpPr txBox="1"/>
          <p:nvPr/>
        </p:nvSpPr>
        <p:spPr>
          <a:xfrm>
            <a:off x="5257800" y="452628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Heatmap regions assume a front view and the summary test set was written by the team. A doctor always decides.</a:t>
            </a:r>
          </a:p>
        </p:txBody>
      </p:sp>
    </p:spTree>
  </p:cSld>
  <p:clrMapOvr>
    <a:masterClrMapping/>
  </p:clrMapOvr>
  <p:transition>
    <p:pu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US"/>
          </a:p>
        </p:txBody>
      </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The three text models</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Each model reads the short note in a different way</a:t>
            </a:r>
          </a:p>
        </p:txBody>
      </p:sp>
      <p:sp>
        <p:nvSpPr>
          <p:cNvPr id="8" name="Future card 1"/>
          <p:cNvSpPr/>
          <p:nvPr/>
        </p:nvSpPr>
        <p:spPr>
          <a:xfrm>
            <a:off x="457200" y="192024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uture number 1"/>
          <p:cNvSpPr/>
          <p:nvPr/>
        </p:nvSpPr>
        <p:spPr>
          <a:xfrm>
            <a:off x="640080" y="21031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1</a:t>
            </a:r>
          </a:p>
        </p:txBody>
      </p:sp>
      <p:sp>
        <p:nvSpPr>
          <p:cNvPr id="10" name="Future title 1"/>
          <p:cNvSpPr txBox="1"/>
          <p:nvPr/>
        </p:nvSpPr>
        <p:spPr>
          <a:xfrm>
            <a:off x="1143000" y="210312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TF-IDF + logistic regression</a:t>
            </a:r>
          </a:p>
        </p:txBody>
      </p:sp>
      <p:sp>
        <p:nvSpPr>
          <p:cNvPr id="11" name="Future text 1"/>
          <p:cNvSpPr txBox="1"/>
          <p:nvPr/>
        </p:nvSpPr>
        <p:spPr>
          <a:xfrm>
            <a:off x="685800" y="260604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Counts which words and letter groups appear (so typos and short forms like 'sob' still count) and learns one simple classifier per finding.</a:t>
            </a:r>
          </a:p>
        </p:txBody>
      </p:sp>
      <p:sp>
        <p:nvSpPr>
          <p:cNvPr id="12" name="Future card 2"/>
          <p:cNvSpPr/>
          <p:nvPr/>
        </p:nvSpPr>
        <p:spPr>
          <a:xfrm>
            <a:off x="5029200" y="192024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uture number 2"/>
          <p:cNvSpPr/>
          <p:nvPr/>
        </p:nvSpPr>
        <p:spPr>
          <a:xfrm>
            <a:off x="5212080" y="21031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2</a:t>
            </a:r>
          </a:p>
        </p:txBody>
      </p:sp>
      <p:sp>
        <p:nvSpPr>
          <p:cNvPr id="14" name="Future title 2"/>
          <p:cNvSpPr txBox="1"/>
          <p:nvPr/>
        </p:nvSpPr>
        <p:spPr>
          <a:xfrm>
            <a:off x="5715000" y="210312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Fine-tuned DistilBERT</a:t>
            </a:r>
          </a:p>
        </p:txBody>
      </p:sp>
      <p:sp>
        <p:nvSpPr>
          <p:cNvPr id="15" name="Future text 2"/>
          <p:cNvSpPr txBox="1"/>
          <p:nvPr/>
        </p:nvSpPr>
        <p:spPr>
          <a:xfrm>
            <a:off x="5257800" y="260604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A language model that understands the meaning of the sentence. We trained 5 copies on different parts of the data and average their answers.</a:t>
            </a:r>
          </a:p>
        </p:txBody>
      </p:sp>
      <p:sp>
        <p:nvSpPr>
          <p:cNvPr id="16" name="Future card 3"/>
          <p:cNvSpPr/>
          <p:nvPr/>
        </p:nvSpPr>
        <p:spPr>
          <a:xfrm>
            <a:off x="457200" y="384048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uture number 3"/>
          <p:cNvSpPr/>
          <p:nvPr/>
        </p:nvSpPr>
        <p:spPr>
          <a:xfrm>
            <a:off x="640080" y="402336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3</a:t>
            </a:r>
          </a:p>
        </p:txBody>
      </p:sp>
      <p:sp>
        <p:nvSpPr>
          <p:cNvPr id="18" name="Future title 3"/>
          <p:cNvSpPr txBox="1"/>
          <p:nvPr/>
        </p:nvSpPr>
        <p:spPr>
          <a:xfrm>
            <a:off x="1143000" y="402336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Frozen embeddings + LR</a:t>
            </a:r>
          </a:p>
        </p:txBody>
      </p:sp>
      <p:sp>
        <p:nvSpPr>
          <p:cNvPr id="19" name="Future text 3"/>
          <p:cNvSpPr txBox="1"/>
          <p:nvPr/>
        </p:nvSpPr>
        <p:spPr>
          <a:xfrm>
            <a:off x="685800" y="452628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The same language model, not trained, turns each note into 768 numbers. A simple classifier learns from them. These numbers also feed the fusion model.</a:t>
            </a:r>
          </a:p>
        </p:txBody>
      </p:sp>
      <p:sp>
        <p:nvSpPr>
          <p:cNvPr id="20" name="Future card 4"/>
          <p:cNvSpPr/>
          <p:nvPr/>
        </p:nvSpPr>
        <p:spPr>
          <a:xfrm>
            <a:off x="5029200" y="384048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uture number 4"/>
          <p:cNvSpPr/>
          <p:nvPr/>
        </p:nvSpPr>
        <p:spPr>
          <a:xfrm>
            <a:off x="5212080" y="402336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4</a:t>
            </a:r>
          </a:p>
        </p:txBody>
      </p:sp>
      <p:sp>
        <p:nvSpPr>
          <p:cNvPr id="22" name="Future title 4"/>
          <p:cNvSpPr txBox="1"/>
          <p:nvPr/>
        </p:nvSpPr>
        <p:spPr>
          <a:xfrm>
            <a:off x="5715000" y="402336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Weighted blend</a:t>
            </a:r>
          </a:p>
        </p:txBody>
      </p:sp>
      <p:sp>
        <p:nvSpPr>
          <p:cNvPr id="23" name="Future text 4"/>
          <p:cNvSpPr txBox="1"/>
          <p:nvPr/>
        </p:nvSpPr>
        <p:spPr>
          <a:xfrm>
            <a:off x="5257800" y="452628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The three answers are mixed: TF-IDF 0.65, fine-tuned 0.25, embeddings 0.10. The weights were chosen on data the models had not seen.</a:t>
            </a:r>
          </a:p>
        </p:txBody>
      </p:sp>
    </p:spTree>
  </p:cSld>
  <p:clrMapOvr>
    <a:masterClrMapping/>
  </p:clrMapOvr>
  <p:transition>
    <p:pu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US"/>
          </a:p>
        </p:txBody>
      </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Training the text model</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How we chose and trained the transformer</a:t>
            </a:r>
          </a:p>
        </p:txBody>
      </p:sp>
      <p:sp>
        <p:nvSpPr>
          <p:cNvPr id="8" name="Future card 1"/>
          <p:cNvSpPr/>
          <p:nvPr/>
        </p:nvSpPr>
        <p:spPr>
          <a:xfrm>
            <a:off x="457200" y="192024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uture number 1"/>
          <p:cNvSpPr/>
          <p:nvPr/>
        </p:nvSpPr>
        <p:spPr>
          <a:xfrm>
            <a:off x="640080" y="21031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1</a:t>
            </a:r>
          </a:p>
        </p:txBody>
      </p:sp>
      <p:sp>
        <p:nvSpPr>
          <p:cNvPr id="10" name="Future title 1"/>
          <p:cNvSpPr txBox="1"/>
          <p:nvPr/>
        </p:nvSpPr>
        <p:spPr>
          <a:xfrm>
            <a:off x="1143000" y="210312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Three backbones compared</a:t>
            </a:r>
          </a:p>
        </p:txBody>
      </p:sp>
      <p:sp>
        <p:nvSpPr>
          <p:cNvPr id="11" name="Future text 1"/>
          <p:cNvSpPr txBox="1"/>
          <p:nvPr/>
        </p:nvSpPr>
        <p:spPr>
          <a:xfrm>
            <a:off x="685800" y="260604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Bio_ClinicalBERT, BiomedBERT and DistilBERT scored almost the same (about 0.598). We kept DistilBERT: smaller and faster for the app.</a:t>
            </a:r>
          </a:p>
        </p:txBody>
      </p:sp>
      <p:sp>
        <p:nvSpPr>
          <p:cNvPr id="12" name="Future card 2"/>
          <p:cNvSpPr/>
          <p:nvPr/>
        </p:nvSpPr>
        <p:spPr>
          <a:xfrm>
            <a:off x="5029200" y="192024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uture number 2"/>
          <p:cNvSpPr/>
          <p:nvPr/>
        </p:nvSpPr>
        <p:spPr>
          <a:xfrm>
            <a:off x="5212080" y="210312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2</a:t>
            </a:r>
          </a:p>
        </p:txBody>
      </p:sp>
      <p:sp>
        <p:nvSpPr>
          <p:cNvPr id="14" name="Future title 2"/>
          <p:cNvSpPr txBox="1"/>
          <p:nvPr/>
        </p:nvSpPr>
        <p:spPr>
          <a:xfrm>
            <a:off x="5715000" y="210312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Made for 110 findings at once</a:t>
            </a:r>
          </a:p>
        </p:txBody>
      </p:sp>
      <p:sp>
        <p:nvSpPr>
          <p:cNvPr id="15" name="Future text 2"/>
          <p:cNvSpPr txBox="1"/>
          <p:nvPr/>
        </p:nvSpPr>
        <p:spPr>
          <a:xfrm>
            <a:off x="5257800" y="260604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Multi-label output, each finding starts from its real rate, rare findings get more weight, and each finding has its own cut-off.</a:t>
            </a:r>
          </a:p>
        </p:txBody>
      </p:sp>
      <p:sp>
        <p:nvSpPr>
          <p:cNvPr id="16" name="Future card 3"/>
          <p:cNvSpPr/>
          <p:nvPr/>
        </p:nvSpPr>
        <p:spPr>
          <a:xfrm>
            <a:off x="457200" y="384048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uture number 3"/>
          <p:cNvSpPr/>
          <p:nvPr/>
        </p:nvSpPr>
        <p:spPr>
          <a:xfrm>
            <a:off x="640080" y="402336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3</a:t>
            </a:r>
          </a:p>
        </p:txBody>
      </p:sp>
      <p:sp>
        <p:nvSpPr>
          <p:cNvPr id="18" name="Future title 3"/>
          <p:cNvSpPr txBox="1"/>
          <p:nvPr/>
        </p:nvSpPr>
        <p:spPr>
          <a:xfrm>
            <a:off x="1143000" y="402336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Tuned with Optuna</a:t>
            </a:r>
          </a:p>
        </p:txBody>
      </p:sp>
      <p:sp>
        <p:nvSpPr>
          <p:cNvPr id="19" name="Future text 3"/>
          <p:cNvSpPr txBox="1"/>
          <p:nvPr/>
        </p:nvSpPr>
        <p:spPr>
          <a:xfrm>
            <a:off x="685800" y="452628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12 trials with 3-fold cross-validation on the training notes, logged in MLflow. The default settings were already the best.</a:t>
            </a:r>
          </a:p>
        </p:txBody>
      </p:sp>
      <p:sp>
        <p:nvSpPr>
          <p:cNvPr id="20" name="Future card 4"/>
          <p:cNvSpPr/>
          <p:nvPr/>
        </p:nvSpPr>
        <p:spPr>
          <a:xfrm>
            <a:off x="5029200" y="3840480"/>
            <a:ext cx="4389120" cy="1737360"/>
          </a:xfrm>
          <a:prstGeom prst="roundRect">
            <a:avLst>
              <a:gd name="adj" fmla="val 6000"/>
            </a:avLst>
          </a:prstGeom>
          <a:solidFill>
            <a:srgbClr val="EA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uture number 4"/>
          <p:cNvSpPr/>
          <p:nvPr/>
        </p:nvSpPr>
        <p:spPr>
          <a:xfrm>
            <a:off x="5212080" y="4023360"/>
            <a:ext cx="365760" cy="365760"/>
          </a:xfrm>
          <a:prstGeom prst="ellipse">
            <a:avLst/>
          </a:prstGeom>
          <a:solidFill>
            <a:srgbClr val="193EB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400" b="1">
                <a:solidFill>
                  <a:srgbClr val="FFFFFF"/>
                </a:solidFill>
                <a:latin typeface="Arial"/>
              </a:rPr>
              <a:t>4</a:t>
            </a:r>
          </a:p>
        </p:txBody>
      </p:sp>
      <p:sp>
        <p:nvSpPr>
          <p:cNvPr id="22" name="Future title 4"/>
          <p:cNvSpPr txBox="1"/>
          <p:nvPr/>
        </p:nvSpPr>
        <p:spPr>
          <a:xfrm>
            <a:off x="5715000" y="4023360"/>
            <a:ext cx="3566160" cy="365760"/>
          </a:xfrm>
          <a:prstGeom prst="rect">
            <a:avLst/>
          </a:prstGeom>
          <a:noFill/>
        </p:spPr>
        <p:txBody>
          <a:bodyPr wrap="square" lIns="0" rIns="0" tIns="0" bIns="0" anchor="ctr">
            <a:spAutoFit/>
          </a:bodyPr>
          <a:lstStyle/>
          <a:p>
            <a:pPr algn="l">
              <a:spcAft>
                <a:spcPts val="0"/>
              </a:spcAft>
            </a:pPr>
            <a:r>
              <a:rPr sz="1500" b="1" i="0">
                <a:solidFill>
                  <a:srgbClr val="193EB0"/>
                </a:solidFill>
                <a:latin typeface="Arial"/>
              </a:rPr>
              <a:t>No cheating (leakage check)</a:t>
            </a:r>
          </a:p>
        </p:txBody>
      </p:sp>
      <p:sp>
        <p:nvSpPr>
          <p:cNvPr id="23" name="Future text 4"/>
          <p:cNvSpPr txBox="1"/>
          <p:nvPr/>
        </p:nvSpPr>
        <p:spPr>
          <a:xfrm>
            <a:off x="5257800" y="4526280"/>
            <a:ext cx="3931920" cy="1005840"/>
          </a:xfrm>
          <a:prstGeom prst="rect">
            <a:avLst/>
          </a:prstGeom>
          <a:noFill/>
        </p:spPr>
        <p:txBody>
          <a:bodyPr wrap="square" lIns="0" rIns="0" tIns="0" bIns="0" anchor="t">
            <a:spAutoFit/>
          </a:bodyPr>
          <a:lstStyle/>
          <a:p>
            <a:pPr algn="l">
              <a:spcAft>
                <a:spcPts val="0"/>
              </a:spcAft>
            </a:pPr>
            <a:r>
              <a:rPr sz="1400" b="0" i="0">
                <a:solidFill>
                  <a:srgbClr val="1F2937"/>
                </a:solidFill>
                <a:latin typeface="Arial"/>
              </a:rPr>
              <a:t>With the radiologist's report as input the score jumps to 0.880. That is cheating, so the model only reads the reason for the X-ray.</a:t>
            </a:r>
          </a:p>
        </p:txBody>
      </p:sp>
    </p:spTree>
  </p:cSld>
  <p:clrMapOvr>
    <a:masterClrMapping/>
  </p:clrMapOvr>
  <p:transition>
    <p:push/>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US"/>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9052560"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Text model results</a:t>
            </a:r>
          </a:p>
        </p:txBody>
      </p:sp>
      <p:sp>
        <p:nvSpPr>
          <p:cNvPr id="7" name="Headline"/>
          <p:cNvSpPr txBox="1"/>
          <p:nvPr/>
        </p:nvSpPr>
        <p:spPr>
          <a:xfrm>
            <a:off x="457200" y="1371600"/>
            <a:ext cx="8961120" cy="365760"/>
          </a:xfrm>
          <a:prstGeom prst="rect">
            <a:avLst/>
          </a:prstGeom>
          <a:noFill/>
        </p:spPr>
        <p:txBody>
          <a:bodyPr wrap="square" lIns="0" rIns="0" tIns="0" bIns="0" anchor="t">
            <a:spAutoFit/>
          </a:bodyPr>
          <a:lstStyle/>
          <a:p>
            <a:pPr algn="l">
              <a:spcAft>
                <a:spcPts val="600"/>
              </a:spcAft>
            </a:pPr>
            <a:r>
              <a:rPr sz="1800" b="1" i="0">
                <a:solidFill>
                  <a:srgbClr val="193EB0"/>
                </a:solidFill>
                <a:latin typeface="Arial"/>
              </a:rPr>
              <a:t>The blend beats every single model on the test set (687 notes, used once)</a:t>
            </a:r>
          </a:p>
        </p:txBody>
      </p:sp>
      <p:graphicFrame>
        <p:nvGraphicFramePr>
          <p:cNvPr id="8" name="Data challenges table"/>
          <p:cNvGraphicFramePr>
            <a:graphicFrameLocks noGrp="1"/>
          </p:cNvGraphicFramePr>
          <p:nvPr/>
        </p:nvGraphicFramePr>
        <p:xfrm>
          <a:off x="457200" y="1920240"/>
          <a:ext cx="8961120" cy="3657600"/>
        </p:xfrm>
        <a:graphic>
          <a:graphicData uri="http://schemas.openxmlformats.org/drawingml/2006/table">
            <a:tbl>
              <a:tblPr firstRow="1" bandRow="0"/>
              <a:tblGrid>
                <a:gridCol w="3108960"/>
                <a:gridCol w="3474720"/>
                <a:gridCol w="2377440"/>
              </a:tblGrid>
              <a:tr h="365760">
                <a:tc>
                  <a:txBody>
                    <a:bodyPr/>
                    <a:lstStyle/>
                    <a:p>
                      <a:r>
                        <a:rPr sz="1300" b="1">
                          <a:solidFill>
                            <a:srgbClr val="FFFFFF"/>
                          </a:solidFill>
                          <a:latin typeface="Arial"/>
                        </a:rPr>
                        <a:t>Model</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Test macro ROC-AUC</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c>
                  <a:txBody>
                    <a:bodyPr/>
                    <a:lstStyle/>
                    <a:p>
                      <a:r>
                        <a:rPr sz="1300" b="1">
                          <a:solidFill>
                            <a:srgbClr val="FFFFFF"/>
                          </a:solidFill>
                          <a:latin typeface="Arial"/>
                        </a:rPr>
                        <a:t>What it shows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193EB0"/>
                    </a:solidFill>
                  </a:tcPr>
                </a:tc>
              </a:tr>
              <a:tr h="822960">
                <a:tc>
                  <a:txBody>
                    <a:bodyPr/>
                    <a:lstStyle/>
                    <a:p>
                      <a:r>
                        <a:rPr sz="1300">
                          <a:solidFill>
                            <a:srgbClr val="1F2937"/>
                          </a:solidFill>
                          <a:latin typeface="Arial"/>
                        </a:rPr>
                        <a:t>Fine-tuned DistilBERT (5 models)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a:solidFill>
                            <a:srgbClr val="1F2937"/>
                          </a:solidFill>
                          <a:latin typeface="Arial"/>
                        </a:rPr>
                        <a:t>0.627</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b="1">
                          <a:solidFill>
                            <a:srgbClr val="193EB0"/>
                          </a:solidFill>
                          <a:latin typeface="Arial"/>
                        </a:rPr>
                        <a:t>Best single model: it understands meaning</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822960">
                <a:tc>
                  <a:txBody>
                    <a:bodyPr/>
                    <a:lstStyle/>
                    <a:p>
                      <a:r>
                        <a:rPr sz="1300">
                          <a:solidFill>
                            <a:srgbClr val="1F2937"/>
                          </a:solidFill>
                          <a:latin typeface="Arial"/>
                        </a:rPr>
                        <a:t>TF-IDF + logistic regression</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a:solidFill>
                            <a:srgbClr val="1F2937"/>
                          </a:solidFill>
                          <a:latin typeface="Arial"/>
                        </a:rPr>
                        <a:t>0.615</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b="1">
                          <a:solidFill>
                            <a:srgbClr val="193EB0"/>
                          </a:solidFill>
                          <a:latin typeface="Arial"/>
                        </a:rPr>
                        <a:t>Strong on short notes and abbreviations</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r h="822960">
                <a:tc>
                  <a:txBody>
                    <a:bodyPr/>
                    <a:lstStyle/>
                    <a:p>
                      <a:r>
                        <a:rPr sz="1300">
                          <a:solidFill>
                            <a:srgbClr val="1F2937"/>
                          </a:solidFill>
                          <a:latin typeface="Arial"/>
                        </a:rPr>
                        <a:t>Frozen embeddings + LR</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a:solidFill>
                            <a:srgbClr val="1F2937"/>
                          </a:solidFill>
                          <a:latin typeface="Arial"/>
                        </a:rPr>
                        <a:t>0.604</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c>
                  <a:txBody>
                    <a:bodyPr/>
                    <a:lstStyle/>
                    <a:p>
                      <a:r>
                        <a:rPr sz="1300" b="1">
                          <a:solidFill>
                            <a:srgbClr val="193EB0"/>
                          </a:solidFill>
                          <a:latin typeface="Arial"/>
                        </a:rPr>
                        <a:t>Gives the 768 numbers used by fusion</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EAF0FD"/>
                    </a:solidFill>
                  </a:tcPr>
                </a:tc>
              </a:tr>
              <a:tr h="822960">
                <a:tc>
                  <a:txBody>
                    <a:bodyPr/>
                    <a:lstStyle/>
                    <a:p>
                      <a:r>
                        <a:rPr sz="1300">
                          <a:solidFill>
                            <a:srgbClr val="1F2937"/>
                          </a:solidFill>
                          <a:latin typeface="Arial"/>
                        </a:rPr>
                        <a:t>Final blend (used in the app)</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a:solidFill>
                            <a:srgbClr val="1F2937"/>
                          </a:solidFill>
                          <a:latin typeface="Arial"/>
                        </a:rPr>
                        <a:t>0.635 (95% CI 0.610–0.663)</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c>
                  <a:txBody>
                    <a:bodyPr/>
                    <a:lstStyle/>
                    <a:p>
                      <a:r>
                        <a:rPr sz="1300" b="1">
                          <a:solidFill>
                            <a:srgbClr val="193EB0"/>
                          </a:solidFill>
                          <a:latin typeface="Arial"/>
                        </a:rPr>
                        <a:t>Best overall; micro ROC-AUC 0.874</a:t>
                      </a:r>
                    </a:p>
                  </a:txBody>
                  <a:tcPr marL="91440" marR="91440" marT="36576" marB="36576" anchor="ctr">
                    <a:lnL w="9525">
                      <a:solidFill>
                        <a:srgbClr val="C9D5F2"/>
                      </a:solidFill>
                    </a:lnL>
                    <a:lnR w="9525">
                      <a:solidFill>
                        <a:srgbClr val="C9D5F2"/>
                      </a:solidFill>
                    </a:lnR>
                    <a:lnT w="9525">
                      <a:solidFill>
                        <a:srgbClr val="C9D5F2"/>
                      </a:solidFill>
                    </a:lnT>
                    <a:lnB w="9525">
                      <a:solidFill>
                        <a:srgbClr val="C9D5F2"/>
                      </a:solidFill>
                    </a:lnB>
                    <a:solidFill>
                      <a:srgbClr val="FFFFFF"/>
                    </a:solidFill>
                  </a:tcPr>
                </a:tc>
              </a:tr>
            </a:tbl>
          </a:graphicData>
        </a:graphic>
      </p:graphicFrame>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TotalTime>
  <Words>2895</Words>
  <Application>Microsoft Office PowerPoint</Application>
  <PresentationFormat>Custom</PresentationFormat>
  <Paragraphs>337</Paragraphs>
  <Slides>31</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 MT Pro</vt:lpstr>
      <vt:lpstr>Arial</vt:lpstr>
      <vt:lpstr>Calibri</vt:lpstr>
      <vt:lpstr>Arimo Bold</vt:lpstr>
      <vt:lpstr>Arial MT Pro 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1 - DL_SIC.pptx</dc:title>
  <dc:creator>Ahmed Abdelaal</dc:creator>
  <cp:lastModifiedBy>Ahmed Abdelaal</cp:lastModifiedBy>
  <cp:revision>3</cp:revision>
  <dcterms:created xsi:type="dcterms:W3CDTF">2006-08-16T00:00:00Z</dcterms:created>
  <dcterms:modified xsi:type="dcterms:W3CDTF">2026-10-27T23:13:45Z</dcterms:modified>
  <dc:identifier>DAGV_U9t8B4</dc:identifier>
</cp:coreProperties>
</file>